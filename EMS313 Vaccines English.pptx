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68"/>
  </p:normalViewPr>
  <p:slideViewPr>
    <p:cSldViewPr snapToGrid="0">
      <p:cViewPr varScale="1">
        <p:scale>
          <a:sx n="119" d="100"/>
          <a:sy n="119" d="100"/>
        </p:scale>
        <p:origin x="21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Begin with a question relevant to our work: Why does a paramedic need to understand vaccines even when they do not administer them? We often encounter disease before the diagnosis is confirmed. Early recognition and appropriate precautions can protect the patient and the team. We will begin with how immunity develops, apply these principles to individual diseases, and finish with an EMS scenario.</a:t>
            </a:r>
          </a:p>
          <a:p>
            <a:r>
              <a:t>Source lecture: supplied Chapter 6, Vaccines and Vaccine Preventable Diseases. Content reorganized and updated for teaching.</a:t>
            </a:r>
          </a:p>
          <a:p>
            <a:r>
              <a:t>References (accessed 12 October 2026):</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This slide outlines the lecture. Our goal is to understand why we use each vaccine type and how that knowledge informs patient care. For each disease, we will connect a clinical clue with its route of transmission and a method of prevention.</a:t>
            </a:r>
          </a:p>
          <a:p>
            <a:r>
              <a:t>Source lecture: supplied Chapter 6, Vaccines and Vaccine Preventable Diseases. Content reorganized and updated for teaching.</a:t>
            </a:r>
          </a:p>
          <a:p>
            <a:r>
              <a:t>References (accessed 12 October 2026):</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Imagine that the body first encounters a microorganism during a severe illness. It needs time to respond. A vaccine introduces an appropriate antigen in advance, which is why vaccination is a form of primary prevention. Vaccines can contain weakened or inactivated organisms, selected components, or instructions for producing an antigen.</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Compare a student who learns a skill with a student who receives immediate help. Active immunity takes time to develop and creates immune memory. Passive immunity provides ready-made antibodies that act immediately but decline over time. Natural infection can produce immunity, but it can also cause complications. Appropriate vaccination provides a preventive alternative.</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Connect the previous table with what happens inside the body. Antigen recognition triggers an immune response, and memory cells remain afterward. This explains why some vaccines require several doses and why boosters may be necessary. Vaccine type, age, and immune status affect the strength and duration of the response.</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Now imagine that an exposure has already occurred and we cannot wait for active immunity to develop. A clinician may give ready-made antibodies and, in some situations, a vaccine to provide future protection. Examples include certain hepatitis B exposures and wounds that pose a tetanus risk. Depending on the situation, both products may be necessary.</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https://www.cdc.gov/tetanus/hcp/clinical-guidance/index.html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This table summarizes the vaccine types covered in the chapter. We move from a weakened living organism to an inactivated organism, an inactivated toxin, and selected components. The final two rows distinguish a polysaccharide alone from a polysaccharide linked to a protein. Recombinant technology describes how an antigen is manufactured, so a recombinant vaccine may also be a subunit vaccine. Other platforms, such as mRNA, are outside this chapter's detailed focus.</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https://www.cdc.gov/vaccines/glossary/index.html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A live attenuated vaccine can replicate. Its reduced virulence usually allows an eligible recipient to develop immunity without experiencing the natural disease. This is why we screen for pregnancy and severe immunodeficiency. Risks differ between products. The risk of reversion associated with certain oral polio vaccines should not be generalized to every live vaccine.</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https://www.cdc.gov/pinkbook/hcp/table-of-contents/chapter-2-general-best-practice-guidance.html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We now move from a weakened living organism to an inactivated organism. The organism in an inactivated vaccine cannot replicate, but the immune system can recognize its antigens. Adverse effects such as injection-site pain or a temporary fever may still occur. The recommended number of doses depends on the guidance for the specific product.</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For toxoid vaccines, the target is a toxin produced by bacteria. Exposure to an inactivated toxin stimulates antibodies that can neutralize the active toxin. This principle explains tetanus and diphtheria vaccines. It also helps explain why a patient with the disease may require antitoxin treatment.</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Subunit vaccines use selected components that the immune system can recognize. In an acellular pertussis vaccine, the term acellular refers to selected antigens. Recombinant describes the technology used to produce an antigen. Hepatitis B is one example of a recombinant vaccine. Other examples include HPV vaccines and the recombinant shingles vaccine.</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https://www.cdc.gov/shingles/hcp/vaccine-considerations/index.html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Imagine that a polysaccharide from a bacterial capsule does not stimulate an infant's immune system adequately. Linking it to a protein helps recruit T-cell support and produces a stronger response with immune memory. Polysaccharide and conjugate vaccines therefore differ, even when they target the same bacterium.</a:t>
            </a:r>
          </a:p>
          <a:p>
            <a:r>
              <a:t>Source lecture: supplied Chapter 6, Vaccines and Vaccine Preventable Diseases. Content reorganized and updated for teaching.</a:t>
            </a:r>
          </a:p>
          <a:p>
            <a:r>
              <a:t>References (accessed 12 October 2026):</a:t>
            </a:r>
          </a:p>
          <a:p>
            <a:r>
              <a:t>https://www.cdc.gov/pinkbook/hcp/table-of-contents/chapter-1-principles-of-vaccination.html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We now move from vaccine types to their use in practice. We must check whether a vaccine is appropriate for the individual, store it correctly, and document its administration. Immunodeficiency does not rule out every vaccine. Non-live vaccines may be appropriate, although the immune response may be weaker. Follow the guidance for the specific product and the patient's condition.</a:t>
            </a:r>
          </a:p>
          <a:p>
            <a:r>
              <a:t>Source lecture: supplied Chapter 6, Vaccines and Vaccine Preventable Diseases. Content reorganized and updated for teaching.</a:t>
            </a:r>
          </a:p>
          <a:p>
            <a:r>
              <a:t>References (accessed 12 October 2026):</a:t>
            </a:r>
          </a:p>
          <a:p>
            <a:r>
              <a:t>https://www.cdc.gov/pinkbook/hcp/table-of-contents/chapter-2-general-best-practice-guidance.html</a:t>
            </a:r>
          </a:p>
          <a:p>
            <a:r>
              <a:t>https://www.cdc.gov/vaccines/hcp/admin/storage/toolkit/index.html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We will use the same approach for each disease. Recognize the clinical pattern while treating immediate threats to life. Protect the team and contacts, then communicate early with the receiving hospital. A paramedic's role is to recognize a possible infection, take appropriate action, and report occupational exposure. A clinical photograph alone cannot confirm the diagnosis.</a:t>
            </a:r>
          </a:p>
          <a:p>
            <a:r>
              <a:t>Source lecture: supplied Chapter 6, Vaccines and Vaccine Preventable Diseases. Content reorganized and updated for teaching.</a:t>
            </a:r>
          </a:p>
          <a:p>
            <a:r>
              <a:t>References (accessed 12 October 2026):</a:t>
            </a:r>
          </a:p>
          <a:p>
            <a:r>
              <a:t>https://www.cdc.gov/infection-control/hcp/isolation-precautions/appendix-a-type-duration.html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We begin with chickenpox. Notice that the skin lesions are at different stages at the same time. This pattern can support suspicion but cannot establish the diagnosis on its own. Disease may be more severe in adults, pregnant patients, and people with weakened immunity. Assess breathing and the patient's overall condition.</a:t>
            </a:r>
          </a:p>
          <a:p>
            <a:r>
              <a:t>Source lecture: supplied Chapter 6, Vaccines and Vaccine Preventable Diseases. Content reorganized and updated for teaching.</a:t>
            </a:r>
          </a:p>
          <a:p>
            <a:r>
              <a:t>References (accessed 12 October 2026):</a:t>
            </a:r>
          </a:p>
          <a:p>
            <a:r>
              <a:t>https://www.cdc.gov/chickenpox/hcp/clinical-overview/index.html</a:t>
            </a:r>
          </a:p>
          <a:p>
            <a:r>
              <a:t>Image credit and licence:</a:t>
            </a:r>
          </a:p>
          <a:p>
            <a:r>
              <a:t>CDC / Public Health Image Library. Varicella photograph. https://www.cdc.gov/chickenpox/signs-symptoms/photos.html ; https://www.cdc.gov/chickenpox/images/people_varicella2-lg.jpg . Public-domain US government clinical photograph. Displayed proportionally without alteration.</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The skin findings have practical implications: suspected chickenpox requires airborne and contact precautions. Gloves alone are insufficient. Transmission can begin before the rash appears. Patients usually remain infectious until all lesions have crusted. For mild breakthrough cases with lesions that do not crust, guidance uses a period of 24 hours without new lesions. We will now move to a disease in which the airway risk is more obvious.</a:t>
            </a:r>
          </a:p>
          <a:p>
            <a:r>
              <a:t>Source lecture: supplied Chapter 6, Vaccines and Vaccine Preventable Diseases. Content reorganized and updated for teaching.</a:t>
            </a:r>
          </a:p>
          <a:p>
            <a:r>
              <a:t>References (accessed 12 October 2026):</a:t>
            </a:r>
          </a:p>
          <a:p>
            <a:r>
              <a:t>https://www.cdc.gov/chickenpox/hcp/clinical-overview/index.html</a:t>
            </a:r>
          </a:p>
          <a:p>
            <a:r>
              <a:t>https://www.cdc.gov/infection-control/hcp/isolation-precautions/appendix-a-type-duration.html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Look at the membrane in the throat. Diphtheria can obstruct the airway, and its toxin can affect the heart and nerves. Assess the patient early and follow the airway management protocol. Avoid unnecessary manipulation of the membrane. This clinical picture connects with the principle of a vaccine that targets a toxin.</a:t>
            </a:r>
          </a:p>
          <a:p>
            <a:r>
              <a:t>Source lecture: supplied Chapter 6, Vaccines and Vaccine Preventable Diseases. Content reorganized and updated for teaching.</a:t>
            </a:r>
          </a:p>
          <a:p>
            <a:r>
              <a:t>References (accessed 12 October 2026):</a:t>
            </a:r>
          </a:p>
          <a:p>
            <a:r>
              <a:t>https://www.cdc.gov/diphtheria/hcp/clinical-guidance/index.html</a:t>
            </a:r>
          </a:p>
          <a:p>
            <a:r>
              <a:t>Image credit and licence:</a:t>
            </a:r>
          </a:p>
          <a:p>
            <a:r>
              <a:t>Dileepunnikri. Dirty white pseudomembrane classically seen in diphtheria. https://commons.wikimedia.org/wiki/File:Dirty_white_pseudomembrane_classically_seen_in_diphtheria_2013-07-06_11-07.jpg . CC BY-SA 3.0: https://creativecommons.org/licenses/by-sa/3.0/ . Existing Commons image displayed proportionally without further alteration.</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Distinguish treatment of disease from prevention. A patient with strongly suspected respiratory diphtheria may require urgent antibiotics and antitoxin before laboratory confirmation. Vaccination uses an inactivated toxin. D and T refer to diphtheria and tetanus, while aP refers to acellular pertussis. DTaP and Tdap differ in formulation and the age groups for which they are appropriate.</a:t>
            </a:r>
          </a:p>
          <a:p>
            <a:r>
              <a:t>Source lecture: supplied Chapter 6, Vaccines and Vaccine Preventable Diseases. Content reorganized and updated for teaching.</a:t>
            </a:r>
          </a:p>
          <a:p>
            <a:r>
              <a:t>References (accessed 12 October 2026):</a:t>
            </a:r>
          </a:p>
          <a:p>
            <a:r>
              <a:t>https://www.cdc.gov/diphtheria/hcp/clinical-guidance/index.html</a:t>
            </a:r>
          </a:p>
          <a:p>
            <a:r>
              <a:t>https://www.cdc.gov/infection-control/hcp/isolation-precautions/appendix-a-type-duration.html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We now move from respiratory infections to hepatitis. Hepatitis A usually begins when the virus enters through the mouth. Jaundice or dark urine may be present, but symptoms alone do not identify the type of hepatitis. Hepatitis A causes acute infection and does not become chronic, although some patients can develop severe disease.</a:t>
            </a:r>
          </a:p>
          <a:p>
            <a:r>
              <a:t>Source lecture: supplied Chapter 6, Vaccines and Vaccine Preventable Diseases. Content reorganized and updated for teaching.</a:t>
            </a:r>
          </a:p>
          <a:p>
            <a:r>
              <a:t>References (accessed 12 October 2026):</a:t>
            </a:r>
          </a:p>
          <a:p>
            <a:r>
              <a:t>https://www.cdc.gov/hepatitis-a/hcp/clinical-overview/index.html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Hepatitis B has a different route of transmission and a different potential outcome. It matters to paramedics because of occupational blood exposure. Age strongly affects the risk of chronic infection: the risk is very high following infection in infancy and much lower in immunocompetent adults. Most adults recover from acute infection. Chronic hepatitis B requires specialist follow-up and treatment.</a:t>
            </a:r>
          </a:p>
          <a:p>
            <a:r>
              <a:t>Source lecture: supplied Chapter 6, Vaccines and Vaccine Preventable Diseases. Content reorganized and updated for teaching.</a:t>
            </a:r>
          </a:p>
          <a:p>
            <a:r>
              <a:t>References (accessed 12 October 2026):</a:t>
            </a:r>
          </a:p>
          <a:p>
            <a:r>
              <a:t>https://www.cdc.gov/hepatitis-b/hcp/clinical-overview/index.html</a:t>
            </a:r>
          </a:p>
          <a:p>
            <a:r>
              <a:t>https://www.cdc.gov/pinkbook/hcp/table-of-contents/chapter-10-hepatitis-b.html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This table compares hepatitis A and B. Hepatitis A usually spreads through the fecal-oral route, while hepatitis B spreads through blood and certain body fluids. Vaccination can prevent both, but vaccine types and post-exposure management differ. After a needlestick injury, report the exposure immediately. Assessment considers the type of exposure, vaccination history, and documented vaccine response when relevant.</a:t>
            </a:r>
          </a:p>
          <a:p>
            <a:r>
              <a:t>Source lecture: supplied Chapter 6, Vaccines and Vaccine Preventable Diseases. Content reorganized and updated for teaching.</a:t>
            </a:r>
          </a:p>
          <a:p>
            <a:r>
              <a:t>References (accessed 12 October 2026):</a:t>
            </a:r>
          </a:p>
          <a:p>
            <a:r>
              <a:t>https://www.cdc.gov/hepatitis-a/hcp/clinical-overview/index.html</a:t>
            </a:r>
          </a:p>
          <a:p>
            <a:r>
              <a:t>https://www.cdc.gov/hepatitis-b/hcp/clinical-overview/index.html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Influenza is common, but it can cause serious illness. Sudden onset of muscle aches and cough can support suspicion. Older adults and immunocompromised patients may have influenza without fever. Assess oxygenation and the work of breathing. Vaccination is seasonal. Non-live vaccines are available, and a live nasal vaccine is an option for eligible groups under local guidance.</a:t>
            </a:r>
          </a:p>
          <a:p>
            <a:r>
              <a:t>Source lecture: supplied Chapter 6, Vaccines and Vaccine Preventable Diseases. Content reorganized and updated for teaching.</a:t>
            </a:r>
          </a:p>
          <a:p>
            <a:r>
              <a:t>References (accessed 12 October 2026):</a:t>
            </a:r>
          </a:p>
          <a:p>
            <a:r>
              <a:t>https://www.cdc.gov/flu/hcp/clinical-signs/index.html</a:t>
            </a:r>
          </a:p>
          <a:p>
            <a:r>
              <a:t>https://www.cdc.gov/flu/hcp/infection-control/healthcare-settings.html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Imagine a patient with fever, cough, and red eyes who then develops a rash. This pattern should raise suspicion of measles. The photograph supports recognition, but it is not a diagnostic test. Ask about exposure, travel, and vaccination history. Begin appropriate precautions when measles is suspected, before laboratory results are available.</a:t>
            </a:r>
          </a:p>
          <a:p>
            <a:r>
              <a:t>Source lecture: supplied Chapter 6, Vaccines and Vaccine Preventable Diseases. Content reorganized and updated for teaching.</a:t>
            </a:r>
          </a:p>
          <a:p>
            <a:r>
              <a:t>References (accessed 12 October 2026):</a:t>
            </a:r>
          </a:p>
          <a:p>
            <a:r>
              <a:t>https://www.cdc.gov/measles/hcp/clinical-overview/index.html</a:t>
            </a:r>
          </a:p>
          <a:p>
            <a:r>
              <a:t>Image credit and licence:</a:t>
            </a:r>
          </a:p>
          <a:p>
            <a:r>
              <a:t>CDC. Measles clinical image. https://www.cdc.gov/measles/signs-symptoms/photos.html ; https://www.cdc.gov/measles/media/images/2024/05/IMAGE-00010_large.png . Public-domain US government clinical photograph. Original includes privacy masking; displayed proportionally without alteration.</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Early suspicion matters because measles spreads through the air, and the virus can remain after the patient has left. A surgical mask on the patient can help reduce spread if tolerated. Healthcare workers need respiratory protection appropriate for airborne precautions. Vaccination is important, and the required protective equipment must still be used during patient care.</a:t>
            </a:r>
          </a:p>
          <a:p>
            <a:r>
              <a:t>Source lecture: supplied Chapter 6, Vaccines and Vaccine Preventable Diseases. Content reorganized and updated for teaching.</a:t>
            </a:r>
          </a:p>
          <a:p>
            <a:r>
              <a:t>References (accessed 12 October 2026):</a:t>
            </a:r>
          </a:p>
          <a:p>
            <a:r>
              <a:t>https://www.cdc.gov/measles/hcp/clinical-overview/index.html</a:t>
            </a:r>
          </a:p>
          <a:p>
            <a:r>
              <a:t>https://www.cdc.gov/infection-control/hcp/isolation-precautions/appendix-a-type-duration.html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Meningococcal disease can deteriorate rapidly. Fever with altered mental status or signs of shock is concerning even when no rash is present. The patient may have meningitis or a bloodstream infection. Follow the protocol for sepsis assessment, resuscitation, and urgent transport. Do not delay care while waiting for a rash or neck stiffness.</a:t>
            </a:r>
          </a:p>
          <a:p>
            <a:r>
              <a:t>Source lecture: supplied Chapter 6, Vaccines and Vaccine Preventable Diseases. Content reorganized and updated for teaching.</a:t>
            </a:r>
          </a:p>
          <a:p>
            <a:r>
              <a:t>References (accessed 12 October 2026):</a:t>
            </a:r>
          </a:p>
          <a:p>
            <a:r>
              <a:t>https://www.cdc.gov/meningococcal/hcp/clinical-guidance/index.html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Meningococcal disease requires droplet precautions. Team members may have a significant exposure during airway procedures performed without appropriate protection. MenACWY and MenB vaccines cover different meningococcal groups, so one vaccine does not necessarily cover all groups. Some vaccination requirements relate to travel and Hajj. Follow current Saudi guidance.</a:t>
            </a:r>
          </a:p>
          <a:p>
            <a:r>
              <a:t>Source lecture: supplied Chapter 6, Vaccines and Vaccine Preventable Diseases. Content reorganized and updated for teaching.</a:t>
            </a:r>
          </a:p>
          <a:p>
            <a:r>
              <a:t>References (accessed 12 October 2026):</a:t>
            </a:r>
          </a:p>
          <a:p>
            <a:r>
              <a:t>https://www.cdc.gov/meningococcal/hcp/clinical-guidance/index.html</a:t>
            </a:r>
          </a:p>
          <a:p>
            <a:r>
              <a:t>https://www.cdc.gov/infection-control/hcp/isolation-precautions/appendix-a-type-duration.html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For mumps, focus on the face and jaw. Parotid swelling may affect one side or both sides. Ask about pain, fever, and exposure. Complications may involve the testes, the nervous system, or hearing. MMR appears again here because it combines protection against three different diseases in one vaccine.</a:t>
            </a:r>
          </a:p>
          <a:p>
            <a:r>
              <a:t>Source lecture: supplied Chapter 6, Vaccines and Vaccine Preventable Diseases. Content reorganized and updated for teaching.</a:t>
            </a:r>
          </a:p>
          <a:p>
            <a:r>
              <a:t>References (accessed 12 October 2026):</a:t>
            </a:r>
          </a:p>
          <a:p>
            <a:r>
              <a:t>https://www.cdc.gov/mumps/signs-symptoms/index.html</a:t>
            </a:r>
          </a:p>
          <a:p>
            <a:r>
              <a:t>https://www.cdc.gov/infection-control/hcp/isolation-precautions/appendix-a-type-duration.html</a:t>
            </a:r>
          </a:p>
          <a:p>
            <a:r>
              <a:t>Image credit and licence:</a:t>
            </a:r>
          </a:p>
          <a:p>
            <a:r>
              <a:t>CDC / NIP / Barbara Rice. Mumps, PHIL 130. https://commons.wikimedia.org/wiki/File:Mumps_PHIL_130_lores.jpg . Public domain. Existing Commons crop displayed proportionally without further alteration.</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Pertussis does not always begin with the characteristic whoop. Early symptoms may resemble a common cold, followed by bouts of coughing. The key point for paramedics is that an infant may develop apnea without an obvious cough. Assess breathing, oxygenation, feeding, and the overall condition. Treat immediate threats promptly rather than waiting for the classic presentation.</a:t>
            </a:r>
          </a:p>
          <a:p>
            <a:r>
              <a:t>Source lecture: supplied Chapter 6, Vaccines and Vaccine Preventable Diseases. Content reorganized and updated for teaching.</a:t>
            </a:r>
          </a:p>
          <a:p>
            <a:r>
              <a:t>References (accessed 12 October 2026):</a:t>
            </a:r>
          </a:p>
          <a:p>
            <a:r>
              <a:t>https://www.cdc.gov/pertussis/hcp/clinical-signs/index.html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Timing matters in pertussis treatment. Antibiotics are more useful in reducing symptom severity when given early. Cough can persist once the illness has progressed to severe coughing episodes. Prevention includes vaccination appropriate to age and clinical circumstances, along with public health assessment of contacts at risk of serious complications.</a:t>
            </a:r>
          </a:p>
          <a:p>
            <a:r>
              <a:t>Source lecture: supplied Chapter 6, Vaccines and Vaccine Preventable Diseases. Content reorganized and updated for teaching.</a:t>
            </a:r>
          </a:p>
          <a:p>
            <a:r>
              <a:t>References (accessed 12 October 2026):</a:t>
            </a:r>
          </a:p>
          <a:p>
            <a:r>
              <a:t>https://www.cdc.gov/pertussis/hcp/clinical-care/index.html</a:t>
            </a:r>
          </a:p>
          <a:p>
            <a:r>
              <a:t>https://www.cdc.gov/pertussis/hcp/vaccine-recommendations/index.html</a:t>
            </a:r>
          </a:p>
          <a:p>
            <a:r>
              <a:t>https://www.cdc.gov/infection-control/hcp/isolation-precautions/appendix-a-type-duration.html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Most people infected with poliovirus have no obvious symptoms, but some develop neurological disease with flaccid weakness or paralysis. New acute weakness requires assessment for serious causes and immediate evaluation of breathing. The photograph shows oral polio vaccine administration and introduces the comparison between the two vaccine types. Vaccine selection depends on the individual and the applicable guidance.</a:t>
            </a:r>
          </a:p>
          <a:p>
            <a:r>
              <a:t>Source lecture: supplied Chapter 6, Vaccines and Vaccine Preventable Diseases. Content reorganized and updated for teaching.</a:t>
            </a:r>
          </a:p>
          <a:p>
            <a:r>
              <a:t>References (accessed 12 October 2026):</a:t>
            </a:r>
          </a:p>
          <a:p>
            <a:r>
              <a:t>https://www.cdc.gov/polio/about/index.html</a:t>
            </a:r>
          </a:p>
          <a:p>
            <a:r>
              <a:t>https://www.cdc.gov/polio/vaccines/index.html</a:t>
            </a:r>
          </a:p>
          <a:p>
            <a:r>
              <a:t>Image credit and licence:</a:t>
            </a:r>
          </a:p>
          <a:p>
            <a:r>
              <a:t>CDC / Public Health Image Library. Oral polio vaccine administration. https://commons.wikimedia.org/wiki/File:Oral_Polio_Vaccine.jpg . Public domain. Displayed proportionally without alteration.</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The distinction between polio vaccines extends beyond injection versus oral drops. Inactivated polio vaccine provides strong protection against paralysis and cannot replicate. Oral polio vaccine produces intestinal immunity that helps interrupt transmission, but it carries rare risks associated with the vaccine virus. Use depends on national policy and outbreak circumstances. Apply current Saudi recommendations when using the local schedule.</a:t>
            </a:r>
          </a:p>
          <a:p>
            <a:r>
              <a:t>Source lecture: supplied Chapter 6, Vaccines and Vaccine Preventable Diseases. Content reorganized and updated for teaching.</a:t>
            </a:r>
          </a:p>
          <a:p>
            <a:r>
              <a:t>References (accessed 12 October 2026):</a:t>
            </a:r>
          </a:p>
          <a:p>
            <a:r>
              <a:t>https://www.cdc.gov/polio/vaccines/index.html</a:t>
            </a:r>
          </a:p>
          <a:p>
            <a:r>
              <a:t>https://www.cdc.gov/pinkbook/hcp/table-of-contents/chapter-1-principles-of-vaccination.html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Rubella may appear milder than measles, but its importance extends beyond symptom severity in the infected person. Infection can be mild or unnoticed and still pose a serious risk during pregnancy. The next slide moves from the appearance of the rash to the possible effects on the fetus.</a:t>
            </a:r>
          </a:p>
          <a:p>
            <a:r>
              <a:t>Source lecture: supplied Chapter 6, Vaccines and Vaccine Preventable Diseases. Content reorganized and updated for teaching.</a:t>
            </a:r>
          </a:p>
          <a:p>
            <a:r>
              <a:t>References (accessed 12 October 2026):</a:t>
            </a:r>
          </a:p>
          <a:p>
            <a:r>
              <a:t>https://www.cdc.gov/rubella/signs-symptoms/index.html</a:t>
            </a:r>
          </a:p>
          <a:p>
            <a:r>
              <a:t>https://www.cdc.gov/infection-control/hcp/isolation-precautions/appendix-a-type-duration.html</a:t>
            </a:r>
          </a:p>
          <a:p>
            <a:r>
              <a:t>Image credit and licence:</a:t>
            </a:r>
          </a:p>
          <a:p>
            <a:r>
              <a:t>CDC / Public Health Image Library, image 4514. Rubella rash. https://commons.wikimedia.org/wiki/File:Rubella.jpg . Public domain. Displayed proportionally without alteration.</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A mild illness in the mother can have serious consequences for the pregnancy and fetus. Congenital rubella may affect hearing, the eyes, and the heart. Prevention includes confirming immunity before pregnancy. MMR should not be given during pregnancy. Suspected exposure requires early assessment, and patients who need vaccination can receive it after delivery.</a:t>
            </a:r>
          </a:p>
          <a:p>
            <a:r>
              <a:t>Source lecture: supplied Chapter 6, Vaccines and Vaccine Preventable Diseases. Content reorganized and updated for teaching.</a:t>
            </a:r>
          </a:p>
          <a:p>
            <a:r>
              <a:t>References (accessed 12 October 2026):</a:t>
            </a:r>
          </a:p>
          <a:p>
            <a:r>
              <a:t>https://www.cdc.gov/rubella/signs-symptoms/index.html</a:t>
            </a:r>
          </a:p>
          <a:p>
            <a:r>
              <a:t>https://www.cdc.gov/pinkbook/hcp/table-of-contents/chapter-2-general-best-practice-guidance.html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We return to the virus responsible for chickenpox. Shingles results from reactivation of a virus that has remained latent after the initial infection. Pain with a rash on one side of the body supports suspicion. Nerve pain may persist after the lesions disappear. Eye involvement or disseminated disease in an immunocompromised patient can cause serious complications.</a:t>
            </a:r>
          </a:p>
          <a:p>
            <a:r>
              <a:t>Source lecture: supplied Chapter 6, Vaccines and Vaccine Preventable Diseases. Content reorganized and updated for teaching.</a:t>
            </a:r>
          </a:p>
          <a:p>
            <a:r>
              <a:t>References (accessed 12 October 2026):</a:t>
            </a:r>
          </a:p>
          <a:p>
            <a:r>
              <a:t>https://www.cdc.gov/shingles/signs-symptoms/index.html</a:t>
            </a:r>
          </a:p>
          <a:p>
            <a:r>
              <a:t>https://www.moh.gov.sa/en/healthawareness/educationalcontent/diseases/dermatology/pages/shingles-1.aspx</a:t>
            </a:r>
          </a:p>
          <a:p>
            <a:r>
              <a:t>Image credit and licence:</a:t>
            </a:r>
          </a:p>
          <a:p>
            <a:r>
              <a:t>Preston Hunt. Shingles on the chest. https://commons.wikimedia.org/wiki/File:Shingles_on_the_chest.jpg . CC BY 3.0: https://creativecommons.org/licenses/by/3.0/ . Displayed proportionally without alteration.</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The recombinant shingles vaccine is non-live. The Saudi Ministry of Health page identifies the relevant groups. Consult the latest guidance for eligibility details and dose intervals. A susceptible contact exposed to the virus may develop chickenpox. Shingles itself results from reactivation. The required precautions depend on the extent of the lesions and the patient's immune status.</a:t>
            </a:r>
          </a:p>
          <a:p>
            <a:r>
              <a:t>Source lecture: supplied Chapter 6, Vaccines and Vaccine Preventable Diseases. Content reorganized and updated for teaching.</a:t>
            </a:r>
          </a:p>
          <a:p>
            <a:r>
              <a:t>References (accessed 12 October 2026):</a:t>
            </a:r>
          </a:p>
          <a:p>
            <a:r>
              <a:t>https://www.cdc.gov/shingles/hcp/vaccine-considerations/index.html</a:t>
            </a:r>
          </a:p>
          <a:p>
            <a:r>
              <a:t>https://www.moh.gov.sa/en/healthawareness/educationalcontent/diseases/dermatology/pages/shingles-1.aspx</a:t>
            </a:r>
          </a:p>
          <a:p>
            <a:r>
              <a:t>https://www.cdc.gov/infection-control/hcp/isolation-precautions/appendix-a-type-duration.html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We finish the disease section with tetanus. Infection usually begins when environmental spores enter a wound. The toxin interferes with inhibitory nerve signals, producing rigidity and spasms. Focus on the airway, breathing, monitoring, and transport according to protocol. Tetanus does not spread from person to person, but it can be life-threatening for the affected patient.</a:t>
            </a:r>
          </a:p>
          <a:p>
            <a:r>
              <a:t>Source lecture: supplied Chapter 6, Vaccines and Vaccine Preventable Diseases. Content reorganized and updated for teaching.</a:t>
            </a:r>
          </a:p>
          <a:p>
            <a:r>
              <a:t>References (accessed 12 October 2026):</a:t>
            </a:r>
          </a:p>
          <a:p>
            <a:r>
              <a:t>https://www.cdc.gov/tetanus/hcp/clinical-overview/index.html</a:t>
            </a:r>
          </a:p>
          <a:p>
            <a:r>
              <a:t>https://www.cdc.gov/infection-control/hcp/isolation-precautions/appendix-a-type-duration.html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This brings us back to active and passive immunity. After some wounds, a patient may need a tetanus vaccine and may also need tetanus immune globulin, or TIG. The decision depends on the wound, vaccination history, and immune status. TIG is not required for every wound. A small wound can still present a risk. Wound care and a documented assessment are essential parts of prevention.</a:t>
            </a:r>
          </a:p>
          <a:p>
            <a:r>
              <a:t>Source lecture: supplied Chapter 6, Vaccines and Vaccine Preventable Diseases. Content reorganized and updated for teaching.</a:t>
            </a:r>
          </a:p>
          <a:p>
            <a:r>
              <a:t>References (accessed 12 October 2026):</a:t>
            </a:r>
          </a:p>
          <a:p>
            <a:r>
              <a:t>https://www.cdc.gov/tetanus/hcp/clinical-guidance/index.html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Use this table to compare diseases. No single sign can establish a diagnosis. The main distinction is between measles and chickenpox, which require airborne precautions, and the diseases for which droplet precautions are added. Standard precautions always apply. Aerosol-generating procedures may require additional protection under the facility's protocol. Rubella here refers to acquired infection. Congenital cases have different precaution requirements.</a:t>
            </a:r>
          </a:p>
          <a:p>
            <a:r>
              <a:t>Source lecture: supplied Chapter 6, Vaccines and Vaccine Preventable Diseases. Content reorganized and updated for teaching.</a:t>
            </a:r>
          </a:p>
          <a:p>
            <a:r>
              <a:t>References (accessed 12 October 2026):</a:t>
            </a:r>
          </a:p>
          <a:p>
            <a:r>
              <a:t>https://www.cdc.gov/infection-control/hcp/isolation-precautions/appendix-a-type-duration.html</a:t>
            </a:r>
          </a:p>
          <a:p>
            <a:r>
              <a:t>https://www.cdc.gov/flu/hcp/infection-control/healthcare-settings.html</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After understanding the principles, we need a practical source appropriate to Saudi Arabia. Review the person's vaccination record and the latest Ministry of Health guidance. Consider age, pregnancy, medical conditions, occupation, and travel. The goal is to use the correct current schedule. Details and seasonal requirements can change, so an older schedule image is insufficient for a current clinical decision.</a:t>
            </a:r>
          </a:p>
          <a:p>
            <a:r>
              <a:t>Source lecture: supplied Chapter 6, Vaccines and Vaccine Preventable Diseases. Content reorganized and updated for teaching.</a:t>
            </a:r>
          </a:p>
          <a:p>
            <a:r>
              <a:t>References (accessed 12 October 2026):</a:t>
            </a:r>
          </a:p>
          <a:p>
            <a:r>
              <a:t>https://www.moh.gov.sa/en/healthawareness/educationalcontent/vaccination/pages/vaccination1.aspx</a:t>
            </a:r>
          </a:p>
          <a:p>
            <a:r>
              <a:t>https://www.moh.gov.sa/en/healthawareness/educationalcontent/babyhealth/pages/child-vaccinations.aspx</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narrative:</a:t>
            </a:r>
          </a:p>
          <a:p>
            <a:r>
              <a:t>The original teaching source is Chapter 6 of the supplied presentation. Supporting references include CDC and the Saudi Ministry of Health. Each slide's notes include the relevant source links and, where applicable, image credits and licences. The photographs are teaching examples and do not replace clinical assessment or laboratory diagnosis. The original presentation records the online reference review in October 2026.</a:t>
            </a:r>
          </a:p>
          <a:p>
            <a:r>
              <a:t>Source lecture: supplied Chapter 6, Vaccines and Vaccine Preventable Diseases. Content reorganized and updated for teaching.</a:t>
            </a:r>
          </a:p>
          <a:p>
            <a:r>
              <a:t>References (accessed 12 October 2026):</a:t>
            </a:r>
          </a:p>
          <a:p>
            <a:r>
              <a:t>https://www.cdc.gov/pinkbook/hcp/table-of-contents/index.html</a:t>
            </a:r>
          </a:p>
          <a:p>
            <a:r>
              <a:t>https://www.cdc.gov/infection-control/hcp/isolation-precautions/appendix-a-type-duration.html</a:t>
            </a:r>
          </a:p>
          <a:p>
            <a:r>
              <a:t>https://www.moh.gov.sa/en/healthawareness/educationalcontent/vaccination/pages/vaccination1.aspx</a:t>
            </a:r>
          </a:p>
          <a:p>
            <a:r>
              <a:t>https://www.moh.gov.sa/en/healthawareness/educationalcontent/diseases/dermatology/pages/shingles-1.aspx</a:t>
            </a:r>
          </a:p>
          <a:p>
            <a:r>
              <a:t>Clinical application follows current Saudi MOH guidance and local EMS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8024EEF-7DD8-4B04-AA78-4ABE4B00B2C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C075233-1DB3-4090-8512-F15D5472620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D6C4DCF-3A01-422E-8879-847D8389F07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165F825-4700-4726-B690-0B79C44FABF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D3145E7E-5195-443B-A056-7EA1956C3BB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6D10918-B73D-43B7-896E-49B18CB83A4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9D950DF-655E-44BE-AE9C-57047CB9C47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F2D5BC4D-C95E-4DBA-AEF7-92C81C2EBF8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22F2547-9569-4FAF-88F9-5136164219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9DB28A5-A727-4A52-8AC5-7D35B4D1B2F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4.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712660-BF28-4458-AD19-EA0B7CCD2B12}"/>
              </a:ext>
            </a:extLst>
          </p:cNvPr>
          <p:cNvPicPr>
            <a:picLocks noChangeAspect="1"/>
          </p:cNvPicPr>
          <p:nvPr/>
        </p:nvPicPr>
        <p:blipFill>
          <a:blip r:embed="rId3"/>
          <a:stretch/>
        </p:blipFill>
        <p:spPr>
          <a:xfrm>
            <a:off x="571500" y="401830"/>
            <a:ext cx="4953000" cy="1053716"/>
          </a:xfrm>
          <a:prstGeom prst="rect">
            <a:avLst/>
          </a:prstGeom>
        </p:spPr>
      </p:pic>
      <p:sp>
        <p:nvSpPr>
          <p:cNvPr id="2" name="text-0">
            <a:extLst>
              <a:ext uri="{FF2B5EF4-FFF2-40B4-BE49-F238E27FC236}">
                <a16:creationId xmlns:a16="http://schemas.microsoft.com/office/drawing/2014/main" id="{9582094B-1632-4894-836D-B48C19CD15C1}"/>
              </a:ext>
            </a:extLst>
          </p:cNvPr>
          <p:cNvSpPr>
            <a:spLocks noGrp="1"/>
          </p:cNvSpPr>
          <p:nvPr/>
        </p:nvSpPr>
        <p:spPr>
          <a:xfrm>
            <a:off x="571500" y="2143125"/>
            <a:ext cx="10953750" cy="1762125"/>
          </a:xfrm>
          <a:prstGeom prst="rect">
            <a:avLst/>
          </a:prstGeom>
          <a:noFill/>
          <a:ln w="0">
            <a:noFill/>
          </a:ln>
        </p:spPr>
        <p:txBody>
          <a:bodyPr wrap="square" lIns="0" tIns="0" rIns="0" bIns="0" anchor="t">
            <a:noAutofit/>
          </a:bodyPr>
          <a:lstStyle>
            <a:defPPr algn="l">
              <a:defRPr sz="4350" b="1">
                <a:solidFill>
                  <a:srgbClr val="183344"/>
                </a:solidFill>
                <a:latin typeface="DejaVu Sans"/>
                <a:ea typeface="DejaVu Sans"/>
                <a:cs typeface="DejaVu Sans"/>
              </a:defRPr>
            </a:defPPr>
          </a:lstStyle>
          <a:p>
            <a:pPr algn="l">
              <a:defRPr sz="4350" b="1">
                <a:solidFill>
                  <a:srgbClr val="183344"/>
                </a:solidFill>
                <a:latin typeface="DejaVu Sans"/>
                <a:ea typeface="DejaVu Sans"/>
                <a:cs typeface="DejaVu Sans"/>
              </a:defRPr>
            </a:pPr>
            <a:r>
              <a:rPr sz="4350" b="1">
                <a:solidFill>
                  <a:srgbClr val="183344"/>
                </a:solidFill>
                <a:latin typeface="DejaVu Sans"/>
                <a:ea typeface="DejaVu Sans"/>
                <a:cs typeface="DejaVu Sans"/>
              </a:rPr>
              <a:t>Vaccines and Vaccine-</a:t>
            </a:r>
          </a:p>
          <a:p>
            <a:pPr algn="l">
              <a:defRPr sz="4350" b="1">
                <a:solidFill>
                  <a:srgbClr val="183344"/>
                </a:solidFill>
                <a:latin typeface="DejaVu Sans"/>
                <a:ea typeface="DejaVu Sans"/>
                <a:cs typeface="DejaVu Sans"/>
              </a:defRPr>
            </a:pPr>
            <a:r>
              <a:rPr sz="4350" b="1">
                <a:solidFill>
                  <a:srgbClr val="183344"/>
                </a:solidFill>
                <a:latin typeface="DejaVu Sans"/>
                <a:ea typeface="DejaVu Sans"/>
                <a:cs typeface="DejaVu Sans"/>
              </a:rPr>
              <a:t>Preventable Diseases</a:t>
            </a:r>
          </a:p>
        </p:txBody>
      </p:sp>
      <p:sp>
        <p:nvSpPr>
          <p:cNvPr id="3" name="text-1">
            <a:extLst>
              <a:ext uri="{FF2B5EF4-FFF2-40B4-BE49-F238E27FC236}">
                <a16:creationId xmlns:a16="http://schemas.microsoft.com/office/drawing/2014/main" id="{EBA6C998-496E-42A4-9E03-FC533FAD01B7}"/>
              </a:ext>
            </a:extLst>
          </p:cNvPr>
          <p:cNvSpPr>
            <a:spLocks noGrp="1"/>
          </p:cNvSpPr>
          <p:nvPr/>
        </p:nvSpPr>
        <p:spPr>
          <a:xfrm>
            <a:off x="571500" y="4295775"/>
            <a:ext cx="10477500" cy="400050"/>
          </a:xfrm>
          <a:prstGeom prst="rect">
            <a:avLst/>
          </a:prstGeom>
          <a:noFill/>
          <a:ln w="0">
            <a:noFill/>
          </a:ln>
        </p:spPr>
        <p:txBody>
          <a:bodyPr wrap="square" lIns="0" tIns="0" rIns="0" bIns="0" anchor="t">
            <a:noAutofit/>
          </a:bodyPr>
          <a:lstStyle>
            <a:defPPr algn="l">
              <a:defRPr sz="2100" b="1">
                <a:solidFill>
                  <a:srgbClr val="007FAE"/>
                </a:solidFill>
                <a:latin typeface="DejaVu Sans"/>
                <a:ea typeface="DejaVu Sans"/>
                <a:cs typeface="DejaVu Sans"/>
              </a:defRPr>
            </a:defPPr>
          </a:lstStyle>
          <a:p>
            <a:pPr algn="l">
              <a:defRPr sz="2100" b="1">
                <a:solidFill>
                  <a:srgbClr val="007FAE"/>
                </a:solidFill>
                <a:latin typeface="DejaVu Sans"/>
                <a:ea typeface="DejaVu Sans"/>
                <a:cs typeface="DejaVu Sans"/>
              </a:defRPr>
            </a:pPr>
            <a:r>
              <a:rPr sz="2100" b="1">
                <a:solidFill>
                  <a:srgbClr val="007FAE"/>
                </a:solidFill>
                <a:latin typeface="DejaVu Sans"/>
                <a:ea typeface="DejaVu Sans"/>
                <a:cs typeface="DejaVu Sans"/>
              </a:rPr>
              <a:t>EMS 313 / Chapter 6</a:t>
            </a:r>
          </a:p>
        </p:txBody>
      </p:sp>
      <p:sp>
        <p:nvSpPr>
          <p:cNvPr id="4" name="text-2">
            <a:extLst>
              <a:ext uri="{FF2B5EF4-FFF2-40B4-BE49-F238E27FC236}">
                <a16:creationId xmlns:a16="http://schemas.microsoft.com/office/drawing/2014/main" id="{FD36E86F-1ECE-4806-9CC1-A8D8E8B7A19E}"/>
              </a:ext>
            </a:extLst>
          </p:cNvPr>
          <p:cNvSpPr>
            <a:spLocks noGrp="1"/>
          </p:cNvSpPr>
          <p:nvPr/>
        </p:nvSpPr>
        <p:spPr>
          <a:xfrm>
            <a:off x="571500" y="5019675"/>
            <a:ext cx="10477500" cy="1047750"/>
          </a:xfrm>
          <a:prstGeom prst="rect">
            <a:avLst/>
          </a:prstGeom>
          <a:noFill/>
          <a:ln w="0">
            <a:noFill/>
          </a:ln>
        </p:spPr>
        <p:txBody>
          <a:bodyPr wrap="square" lIns="0" tIns="0" rIns="0" bIns="0" anchor="t">
            <a:noAutofit/>
          </a:bodyPr>
          <a:lstStyle>
            <a:defPPr algn="l">
              <a:defRPr sz="1725" b="0">
                <a:solidFill>
                  <a:srgbClr val="566B78"/>
                </a:solidFill>
                <a:latin typeface="DejaVu Sans"/>
                <a:ea typeface="DejaVu Sans"/>
                <a:cs typeface="DejaVu Sans"/>
              </a:defRPr>
            </a:defPPr>
          </a:lstStyle>
          <a:p>
            <a:pPr algn="l">
              <a:defRPr sz="1725" b="0">
                <a:solidFill>
                  <a:srgbClr val="566B78"/>
                </a:solidFill>
                <a:latin typeface="DejaVu Sans"/>
                <a:ea typeface="DejaVu Sans"/>
                <a:cs typeface="DejaVu Sans"/>
              </a:defRPr>
            </a:pPr>
            <a:endParaRPr sz="1725" b="0" dirty="0">
              <a:solidFill>
                <a:srgbClr val="566B78"/>
              </a:solidFill>
              <a:latin typeface="DejaVu Sans"/>
              <a:ea typeface="DejaVu Sans"/>
              <a:cs typeface="DejaVu Sans"/>
            </a:endParaRPr>
          </a:p>
        </p:txBody>
      </p:sp>
      <p:pic>
        <p:nvPicPr>
          <p:cNvPr id="7" name="Picture 6">
            <a:extLst>
              <a:ext uri="{FF2B5EF4-FFF2-40B4-BE49-F238E27FC236}">
                <a16:creationId xmlns:a16="http://schemas.microsoft.com/office/drawing/2014/main" id="{F98A1C07-756D-30FA-7E32-72108D530E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9821" y="1581039"/>
            <a:ext cx="4672179" cy="3114786"/>
          </a:xfrm>
          <a:prstGeom prst="rect">
            <a:avLst/>
          </a:prstGeom>
        </p:spPr>
      </p:pic>
    </p:spTree>
    <p:extLst>
      <p:ext uri="{BB962C8B-B14F-4D97-AF65-F5344CB8AC3E}">
        <p14:creationId xmlns:p14="http://schemas.microsoft.com/office/powerpoint/2010/main" val="742902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F513300-7C29-4F99-B457-8947B6D46540}"/>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5754448F-1B86-45C0-8AD1-E9218618A94D}"/>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D08ACA62-8CC3-4F74-94C9-645773F4BBF6}"/>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Learning objectives</a:t>
            </a:r>
          </a:p>
        </p:txBody>
      </p:sp>
      <p:sp>
        <p:nvSpPr>
          <p:cNvPr id="4" name="text-2">
            <a:extLst>
              <a:ext uri="{FF2B5EF4-FFF2-40B4-BE49-F238E27FC236}">
                <a16:creationId xmlns:a16="http://schemas.microsoft.com/office/drawing/2014/main" id="{E6938A8E-B911-40CA-8480-A7A001DEF90F}"/>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F91CCD46-23A9-4122-B953-D380D9662BDB}"/>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a:t>
            </a:r>
          </a:p>
        </p:txBody>
      </p:sp>
      <p:sp>
        <p:nvSpPr>
          <p:cNvPr id="6" name="text-4">
            <a:extLst>
              <a:ext uri="{FF2B5EF4-FFF2-40B4-BE49-F238E27FC236}">
                <a16:creationId xmlns:a16="http://schemas.microsoft.com/office/drawing/2014/main" id="{C9F0B859-16CD-4408-A7F5-322BD0AB1CE5}"/>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Distinguish active immunity from passive immunity.</a:t>
            </a:r>
          </a:p>
          <a:p>
            <a:pPr marL="381000" indent="-254000" algn="l">
              <a:spcAft>
                <a:spcPts val="1700"/>
              </a:spcAft>
              <a:buChar char="•"/>
              <a:defRPr sz="2175" b="0">
                <a:solidFill>
                  <a:srgbClr val="253642"/>
                </a:solidFill>
                <a:latin typeface="DejaVu Sans"/>
                <a:ea typeface="DejaVu Sans"/>
                <a:cs typeface="DejaVu Sans"/>
              </a:defRPr>
            </a:pPr>
            <a:r>
              <a:t>Explain the main vaccine types using familiar examples.</a:t>
            </a:r>
          </a:p>
          <a:p>
            <a:pPr marL="381000" indent="-254000" algn="l">
              <a:spcAft>
                <a:spcPts val="1700"/>
              </a:spcAft>
              <a:buChar char="•"/>
              <a:defRPr sz="2175" b="0">
                <a:solidFill>
                  <a:srgbClr val="253642"/>
                </a:solidFill>
                <a:latin typeface="DejaVu Sans"/>
                <a:ea typeface="DejaVu Sans"/>
                <a:cs typeface="DejaVu Sans"/>
              </a:defRPr>
            </a:pPr>
            <a:r>
              <a:t>Recognize key features of vaccine-preventable diseases.</a:t>
            </a:r>
          </a:p>
          <a:p>
            <a:pPr marL="381000" indent="-254000" algn="l">
              <a:spcAft>
                <a:spcPts val="1700"/>
              </a:spcAft>
              <a:buChar char="•"/>
              <a:defRPr sz="2175" b="0">
                <a:solidFill>
                  <a:srgbClr val="253642"/>
                </a:solidFill>
                <a:latin typeface="DejaVu Sans"/>
                <a:ea typeface="DejaVu Sans"/>
                <a:cs typeface="DejaVu Sans"/>
              </a:defRPr>
            </a:pPr>
            <a:r>
              <a:t>Choose appropriate precautions and use current vaccine guidance.</a:t>
            </a:r>
          </a:p>
        </p:txBody>
      </p:sp>
    </p:spTree>
    <p:extLst>
      <p:ext uri="{BB962C8B-B14F-4D97-AF65-F5344CB8AC3E}">
        <p14:creationId xmlns:p14="http://schemas.microsoft.com/office/powerpoint/2010/main" val="1905805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287653C-E6F3-4A6D-AFEF-4FF42804E151}"/>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DA444418-8D8A-4463-8F79-6B8F42B0CD3B}"/>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58EC949C-FF1E-44EE-8E31-21CBE69B9C5A}"/>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Why vaccines matter</a:t>
            </a:r>
          </a:p>
        </p:txBody>
      </p:sp>
      <p:sp>
        <p:nvSpPr>
          <p:cNvPr id="4" name="text-2">
            <a:extLst>
              <a:ext uri="{FF2B5EF4-FFF2-40B4-BE49-F238E27FC236}">
                <a16:creationId xmlns:a16="http://schemas.microsoft.com/office/drawing/2014/main" id="{E4787672-ECD3-40C8-AF54-456C4C7101F3}"/>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8450853E-E689-425A-8CDC-0155FFFD46E1}"/>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a:t>
            </a:r>
          </a:p>
        </p:txBody>
      </p:sp>
      <p:sp>
        <p:nvSpPr>
          <p:cNvPr id="6" name="text-4">
            <a:extLst>
              <a:ext uri="{FF2B5EF4-FFF2-40B4-BE49-F238E27FC236}">
                <a16:creationId xmlns:a16="http://schemas.microsoft.com/office/drawing/2014/main" id="{3D132D56-9CE7-44E5-A224-E0193C73AA1C}"/>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rPr dirty="0"/>
              <a:t>Vaccination prepares immune defenses before exposure.</a:t>
            </a:r>
          </a:p>
          <a:p>
            <a:pPr marL="381000" indent="-254000" algn="l">
              <a:spcAft>
                <a:spcPts val="1700"/>
              </a:spcAft>
              <a:buChar char="•"/>
              <a:defRPr sz="2175" b="0">
                <a:solidFill>
                  <a:srgbClr val="253642"/>
                </a:solidFill>
                <a:latin typeface="DejaVu Sans"/>
                <a:ea typeface="DejaVu Sans"/>
                <a:cs typeface="DejaVu Sans"/>
              </a:defRPr>
            </a:pPr>
            <a:r>
              <a:rPr dirty="0"/>
              <a:t>It reduces the risk of disease and serious complications.</a:t>
            </a:r>
          </a:p>
          <a:p>
            <a:pPr marL="381000" indent="-254000" algn="l">
              <a:spcAft>
                <a:spcPts val="1700"/>
              </a:spcAft>
              <a:buChar char="•"/>
              <a:defRPr sz="2175" b="0">
                <a:solidFill>
                  <a:srgbClr val="253642"/>
                </a:solidFill>
                <a:latin typeface="DejaVu Sans"/>
                <a:ea typeface="DejaVu Sans"/>
                <a:cs typeface="DejaVu Sans"/>
              </a:defRPr>
            </a:pPr>
            <a:r>
              <a:rPr dirty="0"/>
              <a:t>An antigen is a substance the immune system can recognize.</a:t>
            </a:r>
          </a:p>
          <a:p>
            <a:pPr marL="381000" indent="-254000" algn="l">
              <a:spcAft>
                <a:spcPts val="1700"/>
              </a:spcAft>
              <a:buChar char="•"/>
              <a:defRPr sz="2175" b="0">
                <a:solidFill>
                  <a:srgbClr val="253642"/>
                </a:solidFill>
                <a:latin typeface="DejaVu Sans"/>
                <a:ea typeface="DejaVu Sans"/>
                <a:cs typeface="DejaVu Sans"/>
              </a:defRPr>
            </a:pPr>
            <a:r>
              <a:rPr dirty="0"/>
              <a:t>Vaccines present antigens—or instructions to make them—without requiring the natural disease.</a:t>
            </a:r>
          </a:p>
        </p:txBody>
      </p:sp>
      <p:sp>
        <p:nvSpPr>
          <p:cNvPr id="7" name="text-5">
            <a:extLst>
              <a:ext uri="{FF2B5EF4-FFF2-40B4-BE49-F238E27FC236}">
                <a16:creationId xmlns:a16="http://schemas.microsoft.com/office/drawing/2014/main" id="{BA45F8F2-2986-45F2-8180-E24BE16E115C}"/>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Primary prevention: act before disease occurs.</a:t>
            </a:r>
          </a:p>
        </p:txBody>
      </p:sp>
    </p:spTree>
    <p:extLst>
      <p:ext uri="{BB962C8B-B14F-4D97-AF65-F5344CB8AC3E}">
        <p14:creationId xmlns:p14="http://schemas.microsoft.com/office/powerpoint/2010/main" val="1837861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D04AD3-ED54-4D78-B55A-FE5F80223896}"/>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4E0B9078-79F6-441C-A70B-6230A7E0BD95}"/>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47079D1C-41BB-4F69-AD62-84F43E8F6595}"/>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Active and passive immunity</a:t>
            </a:r>
          </a:p>
        </p:txBody>
      </p:sp>
      <p:sp>
        <p:nvSpPr>
          <p:cNvPr id="4" name="text-2">
            <a:extLst>
              <a:ext uri="{FF2B5EF4-FFF2-40B4-BE49-F238E27FC236}">
                <a16:creationId xmlns:a16="http://schemas.microsoft.com/office/drawing/2014/main" id="{5C8EB683-C3DC-4A20-99FC-BCC8ACF567D4}"/>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1D155EA0-5807-40FC-9DC6-C60859B5F11E}"/>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4</a:t>
            </a:r>
          </a:p>
        </p:txBody>
      </p:sp>
      <p:graphicFrame>
        <p:nvGraphicFramePr>
          <p:cNvPr id="6" name="Table 5">
            <a:extLst>
              <a:ext uri="{FF2B5EF4-FFF2-40B4-BE49-F238E27FC236}">
                <a16:creationId xmlns:a16="http://schemas.microsoft.com/office/drawing/2014/main" id="{35CC5A4A-42EE-4169-BDEB-16DDD7D2BC2E}"/>
              </a:ext>
            </a:extLst>
          </p:cNvPr>
          <p:cNvGraphicFramePr/>
          <p:nvPr/>
        </p:nvGraphicFramePr>
        <p:xfrm>
          <a:off x="571500" y="1609725"/>
          <a:ext cx="11049000" cy="3762376"/>
        </p:xfrm>
        <a:graphic>
          <a:graphicData uri="http://schemas.openxmlformats.org/drawingml/2006/table">
            <a:tbl>
              <a:tblPr/>
              <a:tblGrid>
                <a:gridCol w="1905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95300">
                <a:tc>
                  <a:txBody>
                    <a:bodyPr/>
                    <a:lstStyle/>
                    <a:p>
                      <a:r>
                        <a:rPr sz="1875" b="1">
                          <a:solidFill>
                            <a:srgbClr val="FFFFFF"/>
                          </a:solidFill>
                          <a:latin typeface="DejaVu Sans"/>
                          <a:ea typeface="DejaVu Sans"/>
                          <a:cs typeface="DejaVu Sans"/>
                        </a:rPr>
                        <a:t>Feature</a:t>
                      </a:r>
                    </a:p>
                  </a:txBody>
                  <a:tcPr anchor="ctr">
                    <a:solidFill>
                      <a:srgbClr val="007FAE"/>
                    </a:solidFill>
                  </a:tcPr>
                </a:tc>
                <a:tc>
                  <a:txBody>
                    <a:bodyPr/>
                    <a:lstStyle/>
                    <a:p>
                      <a:r>
                        <a:rPr sz="1875" b="1">
                          <a:solidFill>
                            <a:srgbClr val="FFFFFF"/>
                          </a:solidFill>
                          <a:latin typeface="DejaVu Sans"/>
                          <a:ea typeface="DejaVu Sans"/>
                          <a:cs typeface="DejaVu Sans"/>
                        </a:rPr>
                        <a:t>Active immunity</a:t>
                      </a:r>
                    </a:p>
                  </a:txBody>
                  <a:tcPr anchor="ctr">
                    <a:solidFill>
                      <a:srgbClr val="007FAE"/>
                    </a:solidFill>
                  </a:tcPr>
                </a:tc>
                <a:tc>
                  <a:txBody>
                    <a:bodyPr/>
                    <a:lstStyle/>
                    <a:p>
                      <a:r>
                        <a:rPr sz="1875" b="1">
                          <a:solidFill>
                            <a:srgbClr val="FFFFFF"/>
                          </a:solidFill>
                          <a:latin typeface="DejaVu Sans"/>
                          <a:ea typeface="DejaVu Sans"/>
                          <a:cs typeface="DejaVu Sans"/>
                        </a:rPr>
                        <a:t>Passive immunity</a:t>
                      </a:r>
                    </a:p>
                  </a:txBody>
                  <a:tcPr anchor="ctr">
                    <a:solidFill>
                      <a:srgbClr val="007FAE"/>
                    </a:solidFill>
                  </a:tcPr>
                </a:tc>
                <a:extLst>
                  <a:ext uri="{0D108BD9-81ED-4DB2-BD59-A6C34878D82A}">
                    <a16:rowId xmlns:a16="http://schemas.microsoft.com/office/drawing/2014/main" val="10000"/>
                  </a:ext>
                </a:extLst>
              </a:tr>
              <a:tr h="816769">
                <a:tc>
                  <a:txBody>
                    <a:bodyPr/>
                    <a:lstStyle/>
                    <a:p>
                      <a:r>
                        <a:rPr sz="1875" b="0">
                          <a:solidFill>
                            <a:srgbClr val="253642"/>
                          </a:solidFill>
                          <a:latin typeface="DejaVu Sans"/>
                          <a:ea typeface="DejaVu Sans"/>
                          <a:cs typeface="DejaVu Sans"/>
                        </a:rPr>
                        <a:t>Source</a:t>
                      </a:r>
                    </a:p>
                  </a:txBody>
                  <a:tcPr anchor="ctr">
                    <a:solidFill>
                      <a:srgbClr val="FFFFFF"/>
                    </a:solidFill>
                  </a:tcPr>
                </a:tc>
                <a:tc>
                  <a:txBody>
                    <a:bodyPr/>
                    <a:lstStyle/>
                    <a:p>
                      <a:r>
                        <a:rPr sz="1875" b="0">
                          <a:solidFill>
                            <a:srgbClr val="253642"/>
                          </a:solidFill>
                          <a:latin typeface="DejaVu Sans"/>
                          <a:ea typeface="DejaVu Sans"/>
                          <a:cs typeface="DejaVu Sans"/>
                        </a:rPr>
                        <a:t>The body makes its own response</a:t>
                      </a:r>
                    </a:p>
                  </a:txBody>
                  <a:tcPr anchor="ctr">
                    <a:solidFill>
                      <a:srgbClr val="FFFFFF"/>
                    </a:solidFill>
                  </a:tcPr>
                </a:tc>
                <a:tc>
                  <a:txBody>
                    <a:bodyPr/>
                    <a:lstStyle/>
                    <a:p>
                      <a:r>
                        <a:rPr sz="1875" b="0">
                          <a:solidFill>
                            <a:srgbClr val="253642"/>
                          </a:solidFill>
                          <a:latin typeface="DejaVu Sans"/>
                          <a:ea typeface="DejaVu Sans"/>
                          <a:cs typeface="DejaVu Sans"/>
                        </a:rPr>
                        <a:t>Ready-made antibodies are received</a:t>
                      </a:r>
                    </a:p>
                  </a:txBody>
                  <a:tcPr anchor="ctr">
                    <a:solidFill>
                      <a:srgbClr val="FFFFFF"/>
                    </a:solidFill>
                  </a:tcPr>
                </a:tc>
                <a:extLst>
                  <a:ext uri="{0D108BD9-81ED-4DB2-BD59-A6C34878D82A}">
                    <a16:rowId xmlns:a16="http://schemas.microsoft.com/office/drawing/2014/main" val="10001"/>
                  </a:ext>
                </a:extLst>
              </a:tr>
              <a:tr h="816769">
                <a:tc>
                  <a:txBody>
                    <a:bodyPr/>
                    <a:lstStyle/>
                    <a:p>
                      <a:r>
                        <a:rPr sz="1875" b="0">
                          <a:solidFill>
                            <a:srgbClr val="253642"/>
                          </a:solidFill>
                          <a:latin typeface="DejaVu Sans"/>
                          <a:ea typeface="DejaVu Sans"/>
                          <a:cs typeface="DejaVu Sans"/>
                        </a:rPr>
                        <a:t>Onset</a:t>
                      </a:r>
                    </a:p>
                  </a:txBody>
                  <a:tcPr anchor="ctr">
                    <a:solidFill>
                      <a:srgbClr val="FFFFFF"/>
                    </a:solidFill>
                  </a:tcPr>
                </a:tc>
                <a:tc>
                  <a:txBody>
                    <a:bodyPr/>
                    <a:lstStyle/>
                    <a:p>
                      <a:r>
                        <a:rPr sz="1875" b="0">
                          <a:solidFill>
                            <a:srgbClr val="253642"/>
                          </a:solidFill>
                          <a:latin typeface="DejaVu Sans"/>
                          <a:ea typeface="DejaVu Sans"/>
                          <a:cs typeface="DejaVu Sans"/>
                        </a:rPr>
                        <a:t>Develops over days to weeks</a:t>
                      </a:r>
                    </a:p>
                  </a:txBody>
                  <a:tcPr anchor="ctr">
                    <a:solidFill>
                      <a:srgbClr val="FFFFFF"/>
                    </a:solidFill>
                  </a:tcPr>
                </a:tc>
                <a:tc>
                  <a:txBody>
                    <a:bodyPr/>
                    <a:lstStyle/>
                    <a:p>
                      <a:r>
                        <a:rPr sz="1875" b="0">
                          <a:solidFill>
                            <a:srgbClr val="253642"/>
                          </a:solidFill>
                          <a:latin typeface="DejaVu Sans"/>
                          <a:ea typeface="DejaVu Sans"/>
                          <a:cs typeface="DejaVu Sans"/>
                        </a:rPr>
                        <a:t>Immediate protection</a:t>
                      </a:r>
                    </a:p>
                  </a:txBody>
                  <a:tcPr anchor="ctr">
                    <a:solidFill>
                      <a:srgbClr val="FFFFFF"/>
                    </a:solidFill>
                  </a:tcPr>
                </a:tc>
                <a:extLst>
                  <a:ext uri="{0D108BD9-81ED-4DB2-BD59-A6C34878D82A}">
                    <a16:rowId xmlns:a16="http://schemas.microsoft.com/office/drawing/2014/main" val="10002"/>
                  </a:ext>
                </a:extLst>
              </a:tr>
              <a:tr h="816769">
                <a:tc>
                  <a:txBody>
                    <a:bodyPr/>
                    <a:lstStyle/>
                    <a:p>
                      <a:r>
                        <a:rPr sz="1875" b="0">
                          <a:solidFill>
                            <a:srgbClr val="253642"/>
                          </a:solidFill>
                          <a:latin typeface="DejaVu Sans"/>
                          <a:ea typeface="DejaVu Sans"/>
                          <a:cs typeface="DejaVu Sans"/>
                        </a:rPr>
                        <a:t>Duration</a:t>
                      </a:r>
                    </a:p>
                  </a:txBody>
                  <a:tcPr anchor="ctr">
                    <a:solidFill>
                      <a:srgbClr val="FFFFFF"/>
                    </a:solidFill>
                  </a:tcPr>
                </a:tc>
                <a:tc>
                  <a:txBody>
                    <a:bodyPr/>
                    <a:lstStyle/>
                    <a:p>
                      <a:r>
                        <a:rPr sz="1875" b="0">
                          <a:solidFill>
                            <a:srgbClr val="253642"/>
                          </a:solidFill>
                          <a:latin typeface="DejaVu Sans"/>
                          <a:ea typeface="DejaVu Sans"/>
                          <a:cs typeface="DejaVu Sans"/>
                        </a:rPr>
                        <a:t>Often long-lasting; memory develops</a:t>
                      </a:r>
                    </a:p>
                  </a:txBody>
                  <a:tcPr anchor="ctr">
                    <a:solidFill>
                      <a:srgbClr val="FFFFFF"/>
                    </a:solidFill>
                  </a:tcPr>
                </a:tc>
                <a:tc>
                  <a:txBody>
                    <a:bodyPr/>
                    <a:lstStyle/>
                    <a:p>
                      <a:r>
                        <a:rPr sz="1875" b="0">
                          <a:solidFill>
                            <a:srgbClr val="253642"/>
                          </a:solidFill>
                          <a:latin typeface="DejaVu Sans"/>
                          <a:ea typeface="DejaVu Sans"/>
                          <a:cs typeface="DejaVu Sans"/>
                        </a:rPr>
                        <a:t>Temporary; usually weeks to months</a:t>
                      </a:r>
                    </a:p>
                  </a:txBody>
                  <a:tcPr anchor="ctr">
                    <a:solidFill>
                      <a:srgbClr val="FFFFFF"/>
                    </a:solidFill>
                  </a:tcPr>
                </a:tc>
                <a:extLst>
                  <a:ext uri="{0D108BD9-81ED-4DB2-BD59-A6C34878D82A}">
                    <a16:rowId xmlns:a16="http://schemas.microsoft.com/office/drawing/2014/main" val="10003"/>
                  </a:ext>
                </a:extLst>
              </a:tr>
              <a:tr h="816769">
                <a:tc>
                  <a:txBody>
                    <a:bodyPr/>
                    <a:lstStyle/>
                    <a:p>
                      <a:r>
                        <a:rPr sz="1875" b="0">
                          <a:solidFill>
                            <a:srgbClr val="253642"/>
                          </a:solidFill>
                          <a:latin typeface="DejaVu Sans"/>
                          <a:ea typeface="DejaVu Sans"/>
                          <a:cs typeface="DejaVu Sans"/>
                        </a:rPr>
                        <a:t>Examples</a:t>
                      </a:r>
                    </a:p>
                  </a:txBody>
                  <a:tcPr anchor="ctr">
                    <a:solidFill>
                      <a:srgbClr val="FFFFFF"/>
                    </a:solidFill>
                  </a:tcPr>
                </a:tc>
                <a:tc>
                  <a:txBody>
                    <a:bodyPr/>
                    <a:lstStyle/>
                    <a:p>
                      <a:r>
                        <a:rPr sz="1875" b="0" dirty="0">
                          <a:solidFill>
                            <a:srgbClr val="253642"/>
                          </a:solidFill>
                          <a:latin typeface="DejaVu Sans"/>
                          <a:ea typeface="DejaVu Sans"/>
                          <a:cs typeface="DejaVu Sans"/>
                        </a:rPr>
                        <a:t>Vaccination or natural infection</a:t>
                      </a:r>
                    </a:p>
                  </a:txBody>
                  <a:tcPr anchor="ctr">
                    <a:solidFill>
                      <a:srgbClr val="FFFFFF"/>
                    </a:solidFill>
                  </a:tcPr>
                </a:tc>
                <a:tc>
                  <a:txBody>
                    <a:bodyPr/>
                    <a:lstStyle/>
                    <a:p>
                      <a:r>
                        <a:rPr sz="1875" b="0" dirty="0">
                          <a:solidFill>
                            <a:srgbClr val="253642"/>
                          </a:solidFill>
                          <a:latin typeface="DejaVu Sans"/>
                          <a:ea typeface="DejaVu Sans"/>
                          <a:cs typeface="DejaVu Sans"/>
                        </a:rPr>
                        <a:t>Maternal antibodies; immune globulin</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text-4">
            <a:extLst>
              <a:ext uri="{FF2B5EF4-FFF2-40B4-BE49-F238E27FC236}">
                <a16:creationId xmlns:a16="http://schemas.microsoft.com/office/drawing/2014/main" id="{6770C3AF-3F45-4755-BDC8-50933B0CDD20}"/>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dirty="0">
                <a:solidFill>
                  <a:srgbClr val="007FAE"/>
                </a:solidFill>
                <a:latin typeface="DejaVu Sans"/>
                <a:ea typeface="DejaVu Sans"/>
                <a:cs typeface="DejaVu Sans"/>
              </a:rPr>
              <a:t>Active = build a response. Passive = receive antibodies.</a:t>
            </a:r>
          </a:p>
        </p:txBody>
      </p:sp>
    </p:spTree>
    <p:extLst>
      <p:ext uri="{BB962C8B-B14F-4D97-AF65-F5344CB8AC3E}">
        <p14:creationId xmlns:p14="http://schemas.microsoft.com/office/powerpoint/2010/main" val="1614021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2C3D36-9AC5-43AA-9AE8-889BA2853C57}"/>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C99986F4-5DB9-4FB6-BC4B-713AF43F0095}"/>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CEA7DFF6-9BD7-4E3B-9D6E-7810516BD6C5}"/>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How active immunity develops</a:t>
            </a:r>
          </a:p>
        </p:txBody>
      </p:sp>
      <p:sp>
        <p:nvSpPr>
          <p:cNvPr id="4" name="text-2">
            <a:extLst>
              <a:ext uri="{FF2B5EF4-FFF2-40B4-BE49-F238E27FC236}">
                <a16:creationId xmlns:a16="http://schemas.microsoft.com/office/drawing/2014/main" id="{D596668B-A774-465E-95DC-7F28FA65245D}"/>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0DB9BBCF-62F5-4DDC-AED5-D0FFDCACF58E}"/>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5</a:t>
            </a:r>
          </a:p>
        </p:txBody>
      </p:sp>
      <p:sp>
        <p:nvSpPr>
          <p:cNvPr id="6" name="text-4">
            <a:extLst>
              <a:ext uri="{FF2B5EF4-FFF2-40B4-BE49-F238E27FC236}">
                <a16:creationId xmlns:a16="http://schemas.microsoft.com/office/drawing/2014/main" id="{427C613A-9FAA-48E9-8D41-4B9925389ADD}"/>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rPr dirty="0"/>
              <a:t>Antigen exposure activates specific B and T lymphocytes.</a:t>
            </a:r>
          </a:p>
          <a:p>
            <a:pPr marL="381000" indent="-254000" algn="l">
              <a:spcAft>
                <a:spcPts val="1700"/>
              </a:spcAft>
              <a:buChar char="•"/>
              <a:defRPr sz="2175" b="0">
                <a:solidFill>
                  <a:srgbClr val="253642"/>
                </a:solidFill>
                <a:latin typeface="DejaVu Sans"/>
                <a:ea typeface="DejaVu Sans"/>
                <a:cs typeface="DejaVu Sans"/>
              </a:defRPr>
            </a:pPr>
            <a:r>
              <a:rPr dirty="0"/>
              <a:t>B cells can produce antibodies against that antigen.</a:t>
            </a:r>
          </a:p>
          <a:p>
            <a:pPr marL="381000" indent="-254000" algn="l">
              <a:spcAft>
                <a:spcPts val="1700"/>
              </a:spcAft>
              <a:buChar char="•"/>
              <a:defRPr sz="2175" b="0">
                <a:solidFill>
                  <a:srgbClr val="253642"/>
                </a:solidFill>
                <a:latin typeface="DejaVu Sans"/>
                <a:ea typeface="DejaVu Sans"/>
                <a:cs typeface="DejaVu Sans"/>
              </a:defRPr>
            </a:pPr>
            <a:r>
              <a:rPr dirty="0"/>
              <a:t>Memory cells support a faster response to later exposure.</a:t>
            </a:r>
          </a:p>
          <a:p>
            <a:pPr marL="381000" indent="-254000" algn="l">
              <a:spcAft>
                <a:spcPts val="1700"/>
              </a:spcAft>
              <a:buChar char="•"/>
              <a:defRPr sz="2175" b="0">
                <a:solidFill>
                  <a:srgbClr val="253642"/>
                </a:solidFill>
                <a:latin typeface="DejaVu Sans"/>
                <a:ea typeface="DejaVu Sans"/>
                <a:cs typeface="DejaVu Sans"/>
              </a:defRPr>
            </a:pPr>
            <a:r>
              <a:rPr dirty="0"/>
              <a:t>A primary series builds protection; booster doses may reinforce it.</a:t>
            </a:r>
          </a:p>
        </p:txBody>
      </p:sp>
      <p:sp>
        <p:nvSpPr>
          <p:cNvPr id="7" name="text-5">
            <a:extLst>
              <a:ext uri="{FF2B5EF4-FFF2-40B4-BE49-F238E27FC236}">
                <a16:creationId xmlns:a16="http://schemas.microsoft.com/office/drawing/2014/main" id="{F3DFD3AC-5F80-4C00-99EF-43D72AA36C16}"/>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Protection is not immediate after the first dose.</a:t>
            </a:r>
          </a:p>
        </p:txBody>
      </p:sp>
    </p:spTree>
    <p:extLst>
      <p:ext uri="{BB962C8B-B14F-4D97-AF65-F5344CB8AC3E}">
        <p14:creationId xmlns:p14="http://schemas.microsoft.com/office/powerpoint/2010/main" val="1337602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A03EAE6-532A-496F-9F59-3CE297396F34}"/>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376D3A08-3D2A-43BF-9D30-7DF019B84B31}"/>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92DCF1AF-6461-4481-BD64-89B920BAE7DA}"/>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When passive immunity is useful</a:t>
            </a:r>
          </a:p>
        </p:txBody>
      </p:sp>
      <p:sp>
        <p:nvSpPr>
          <p:cNvPr id="4" name="text-2">
            <a:extLst>
              <a:ext uri="{FF2B5EF4-FFF2-40B4-BE49-F238E27FC236}">
                <a16:creationId xmlns:a16="http://schemas.microsoft.com/office/drawing/2014/main" id="{A3DFC515-6225-4F04-B3C2-81D46DCA3801}"/>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endParaRPr sz="1125" b="0" dirty="0">
              <a:solidFill>
                <a:srgbClr val="566B78"/>
              </a:solidFill>
              <a:latin typeface="DejaVu Sans"/>
              <a:ea typeface="DejaVu Sans"/>
              <a:cs typeface="DejaVu Sans"/>
            </a:endParaRPr>
          </a:p>
        </p:txBody>
      </p:sp>
      <p:sp>
        <p:nvSpPr>
          <p:cNvPr id="5" name="text-3">
            <a:extLst>
              <a:ext uri="{FF2B5EF4-FFF2-40B4-BE49-F238E27FC236}">
                <a16:creationId xmlns:a16="http://schemas.microsoft.com/office/drawing/2014/main" id="{D8AEE19B-9C5B-45DD-A721-C059B3EF6F69}"/>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6</a:t>
            </a:r>
          </a:p>
        </p:txBody>
      </p:sp>
      <p:sp>
        <p:nvSpPr>
          <p:cNvPr id="6" name="text-4">
            <a:extLst>
              <a:ext uri="{FF2B5EF4-FFF2-40B4-BE49-F238E27FC236}">
                <a16:creationId xmlns:a16="http://schemas.microsoft.com/office/drawing/2014/main" id="{6B95590D-8518-40C4-BF8D-214A30496D42}"/>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rPr dirty="0"/>
              <a:t>Maternal antibodies cross the placenta and protect the newborn temporarily.</a:t>
            </a:r>
          </a:p>
          <a:p>
            <a:pPr marL="381000" indent="-254000" algn="l">
              <a:spcAft>
                <a:spcPts val="1700"/>
              </a:spcAft>
              <a:buChar char="•"/>
              <a:defRPr sz="2175" b="0">
                <a:solidFill>
                  <a:srgbClr val="253642"/>
                </a:solidFill>
                <a:latin typeface="DejaVu Sans"/>
                <a:ea typeface="DejaVu Sans"/>
                <a:cs typeface="DejaVu Sans"/>
              </a:defRPr>
            </a:pPr>
            <a:r>
              <a:rPr dirty="0"/>
              <a:t>Immune globulin can provide rapid protection after selected exposures.</a:t>
            </a:r>
          </a:p>
          <a:p>
            <a:pPr marL="381000" indent="-254000" algn="l">
              <a:spcAft>
                <a:spcPts val="1700"/>
              </a:spcAft>
              <a:buChar char="•"/>
              <a:defRPr sz="2175" b="0">
                <a:solidFill>
                  <a:srgbClr val="253642"/>
                </a:solidFill>
                <a:latin typeface="DejaVu Sans"/>
                <a:ea typeface="DejaVu Sans"/>
                <a:cs typeface="DejaVu Sans"/>
              </a:defRPr>
            </a:pPr>
            <a:r>
              <a:rPr dirty="0"/>
              <a:t>Examples include hepatitis B immune globulin (HBIG) and tetanus immune globulin (TIG).</a:t>
            </a:r>
          </a:p>
        </p:txBody>
      </p:sp>
    </p:spTree>
    <p:extLst>
      <p:ext uri="{BB962C8B-B14F-4D97-AF65-F5344CB8AC3E}">
        <p14:creationId xmlns:p14="http://schemas.microsoft.com/office/powerpoint/2010/main" val="1974893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788EAC9-21CE-4B24-808C-4CEC653B1F42}"/>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3EF3DB4A-0C2B-490F-86F3-7E8F5104FD9D}"/>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EE50D1B8-B785-4D47-BF8C-446647A5A749}"/>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Main vaccine types</a:t>
            </a:r>
          </a:p>
        </p:txBody>
      </p:sp>
      <p:sp>
        <p:nvSpPr>
          <p:cNvPr id="4" name="text-2">
            <a:extLst>
              <a:ext uri="{FF2B5EF4-FFF2-40B4-BE49-F238E27FC236}">
                <a16:creationId xmlns:a16="http://schemas.microsoft.com/office/drawing/2014/main" id="{DED672A9-2E07-4E7F-91DC-30375F81BCE9}"/>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B0860D20-A6B6-4ECC-A83D-45698EE87612}"/>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7</a:t>
            </a:r>
          </a:p>
        </p:txBody>
      </p:sp>
      <p:graphicFrame>
        <p:nvGraphicFramePr>
          <p:cNvPr id="6" name="Table 5">
            <a:extLst>
              <a:ext uri="{FF2B5EF4-FFF2-40B4-BE49-F238E27FC236}">
                <a16:creationId xmlns:a16="http://schemas.microsoft.com/office/drawing/2014/main" id="{0831055D-723D-492D-9937-D57498595D65}"/>
              </a:ext>
            </a:extLst>
          </p:cNvPr>
          <p:cNvGraphicFramePr/>
          <p:nvPr>
            <p:extLst>
              <p:ext uri="{D42A27DB-BD31-4B8C-83A1-F6EECF244321}">
                <p14:modId xmlns:p14="http://schemas.microsoft.com/office/powerpoint/2010/main" val="2942822629"/>
              </p:ext>
            </p:extLst>
          </p:nvPr>
        </p:nvGraphicFramePr>
        <p:xfrm>
          <a:off x="581361" y="1605915"/>
          <a:ext cx="10277139" cy="4112895"/>
        </p:xfrm>
        <a:graphic>
          <a:graphicData uri="http://schemas.openxmlformats.org/drawingml/2006/table">
            <a:tbl>
              <a:tblPr/>
              <a:tblGrid>
                <a:gridCol w="2466639">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495300">
                <a:tc>
                  <a:txBody>
                    <a:bodyPr/>
                    <a:lstStyle/>
                    <a:p>
                      <a:r>
                        <a:rPr sz="1725" b="1">
                          <a:solidFill>
                            <a:srgbClr val="FFFFFF"/>
                          </a:solidFill>
                          <a:latin typeface="DejaVu Sans"/>
                          <a:ea typeface="DejaVu Sans"/>
                          <a:cs typeface="DejaVu Sans"/>
                        </a:rPr>
                        <a:t>Type</a:t>
                      </a:r>
                    </a:p>
                  </a:txBody>
                  <a:tcPr anchor="ctr">
                    <a:solidFill>
                      <a:srgbClr val="007FAE"/>
                    </a:solidFill>
                  </a:tcPr>
                </a:tc>
                <a:tc>
                  <a:txBody>
                    <a:bodyPr/>
                    <a:lstStyle/>
                    <a:p>
                      <a:r>
                        <a:rPr sz="1725" b="1">
                          <a:solidFill>
                            <a:srgbClr val="FFFFFF"/>
                          </a:solidFill>
                          <a:latin typeface="DejaVu Sans"/>
                          <a:ea typeface="DejaVu Sans"/>
                          <a:cs typeface="DejaVu Sans"/>
                        </a:rPr>
                        <a:t>What is used?</a:t>
                      </a:r>
                    </a:p>
                  </a:txBody>
                  <a:tcPr anchor="ctr">
                    <a:solidFill>
                      <a:srgbClr val="007FAE"/>
                    </a:solidFill>
                  </a:tcPr>
                </a:tc>
                <a:tc>
                  <a:txBody>
                    <a:bodyPr/>
                    <a:lstStyle/>
                    <a:p>
                      <a:r>
                        <a:rPr sz="1725" b="1">
                          <a:solidFill>
                            <a:srgbClr val="FFFFFF"/>
                          </a:solidFill>
                          <a:latin typeface="DejaVu Sans"/>
                          <a:ea typeface="DejaVu Sans"/>
                          <a:cs typeface="DejaVu Sans"/>
                        </a:rPr>
                        <a:t>Examples</a:t>
                      </a:r>
                    </a:p>
                  </a:txBody>
                  <a:tcPr anchor="ctr">
                    <a:solidFill>
                      <a:srgbClr val="007FAE"/>
                    </a:solidFill>
                  </a:tcPr>
                </a:tc>
                <a:extLst>
                  <a:ext uri="{0D108BD9-81ED-4DB2-BD59-A6C34878D82A}">
                    <a16:rowId xmlns:a16="http://schemas.microsoft.com/office/drawing/2014/main" val="10000"/>
                  </a:ext>
                </a:extLst>
              </a:tr>
              <a:tr h="600075">
                <a:tc>
                  <a:txBody>
                    <a:bodyPr/>
                    <a:lstStyle/>
                    <a:p>
                      <a:r>
                        <a:rPr sz="1725" b="0">
                          <a:solidFill>
                            <a:srgbClr val="253642"/>
                          </a:solidFill>
                          <a:latin typeface="DejaVu Sans"/>
                          <a:ea typeface="DejaVu Sans"/>
                          <a:cs typeface="DejaVu Sans"/>
                        </a:rPr>
                        <a:t>Live attenuated</a:t>
                      </a:r>
                    </a:p>
                  </a:txBody>
                  <a:tcPr anchor="ctr">
                    <a:solidFill>
                      <a:srgbClr val="FFFFFF"/>
                    </a:solidFill>
                  </a:tcPr>
                </a:tc>
                <a:tc>
                  <a:txBody>
                    <a:bodyPr/>
                    <a:lstStyle/>
                    <a:p>
                      <a:r>
                        <a:rPr sz="1725" b="0">
                          <a:solidFill>
                            <a:srgbClr val="253642"/>
                          </a:solidFill>
                          <a:latin typeface="DejaVu Sans"/>
                          <a:ea typeface="DejaVu Sans"/>
                          <a:cs typeface="DejaVu Sans"/>
                        </a:rPr>
                        <a:t>A weakened, living organism</a:t>
                      </a:r>
                    </a:p>
                  </a:txBody>
                  <a:tcPr anchor="ctr">
                    <a:solidFill>
                      <a:srgbClr val="FFFFFF"/>
                    </a:solidFill>
                  </a:tcPr>
                </a:tc>
                <a:tc>
                  <a:txBody>
                    <a:bodyPr/>
                    <a:lstStyle/>
                    <a:p>
                      <a:r>
                        <a:rPr sz="1725" b="0" dirty="0">
                          <a:solidFill>
                            <a:srgbClr val="253642"/>
                          </a:solidFill>
                          <a:latin typeface="DejaVu Sans"/>
                          <a:ea typeface="DejaVu Sans"/>
                          <a:cs typeface="DejaVu Sans"/>
                        </a:rPr>
                        <a:t>MMR; varicella</a:t>
                      </a:r>
                    </a:p>
                  </a:txBody>
                  <a:tcPr anchor="ctr">
                    <a:solidFill>
                      <a:srgbClr val="FFFFFF"/>
                    </a:solidFill>
                  </a:tcPr>
                </a:tc>
                <a:extLst>
                  <a:ext uri="{0D108BD9-81ED-4DB2-BD59-A6C34878D82A}">
                    <a16:rowId xmlns:a16="http://schemas.microsoft.com/office/drawing/2014/main" val="10001"/>
                  </a:ext>
                </a:extLst>
              </a:tr>
              <a:tr h="600075">
                <a:tc>
                  <a:txBody>
                    <a:bodyPr/>
                    <a:lstStyle/>
                    <a:p>
                      <a:r>
                        <a:rPr sz="1725" b="0" dirty="0">
                          <a:solidFill>
                            <a:srgbClr val="253642"/>
                          </a:solidFill>
                          <a:latin typeface="DejaVu Sans"/>
                          <a:ea typeface="DejaVu Sans"/>
                          <a:cs typeface="DejaVu Sans"/>
                        </a:rPr>
                        <a:t>Inactivated</a:t>
                      </a:r>
                    </a:p>
                  </a:txBody>
                  <a:tcPr anchor="ctr">
                    <a:solidFill>
                      <a:srgbClr val="FFFFFF"/>
                    </a:solidFill>
                  </a:tcPr>
                </a:tc>
                <a:tc>
                  <a:txBody>
                    <a:bodyPr/>
                    <a:lstStyle/>
                    <a:p>
                      <a:r>
                        <a:rPr sz="1725" b="0" dirty="0">
                          <a:solidFill>
                            <a:srgbClr val="253642"/>
                          </a:solidFill>
                          <a:latin typeface="DejaVu Sans"/>
                          <a:ea typeface="DejaVu Sans"/>
                          <a:cs typeface="DejaVu Sans"/>
                        </a:rPr>
                        <a:t>An organism that cannot replicate</a:t>
                      </a:r>
                    </a:p>
                  </a:txBody>
                  <a:tcPr anchor="ctr">
                    <a:solidFill>
                      <a:srgbClr val="FFFFFF"/>
                    </a:solidFill>
                  </a:tcPr>
                </a:tc>
                <a:tc>
                  <a:txBody>
                    <a:bodyPr/>
                    <a:lstStyle/>
                    <a:p>
                      <a:r>
                        <a:rPr sz="1725" b="0" dirty="0">
                          <a:solidFill>
                            <a:srgbClr val="253642"/>
                          </a:solidFill>
                          <a:latin typeface="DejaVu Sans"/>
                          <a:ea typeface="DejaVu Sans"/>
                          <a:cs typeface="DejaVu Sans"/>
                        </a:rPr>
                        <a:t>IPV; hepatitis A</a:t>
                      </a:r>
                    </a:p>
                  </a:txBody>
                  <a:tcPr anchor="ctr">
                    <a:solidFill>
                      <a:srgbClr val="FFFFFF"/>
                    </a:solidFill>
                  </a:tcPr>
                </a:tc>
                <a:extLst>
                  <a:ext uri="{0D108BD9-81ED-4DB2-BD59-A6C34878D82A}">
                    <a16:rowId xmlns:a16="http://schemas.microsoft.com/office/drawing/2014/main" val="10002"/>
                  </a:ext>
                </a:extLst>
              </a:tr>
              <a:tr h="600075">
                <a:tc>
                  <a:txBody>
                    <a:bodyPr/>
                    <a:lstStyle/>
                    <a:p>
                      <a:r>
                        <a:rPr sz="1725" b="0">
                          <a:solidFill>
                            <a:srgbClr val="253642"/>
                          </a:solidFill>
                          <a:latin typeface="DejaVu Sans"/>
                          <a:ea typeface="DejaVu Sans"/>
                          <a:cs typeface="DejaVu Sans"/>
                        </a:rPr>
                        <a:t>Toxoid</a:t>
                      </a:r>
                    </a:p>
                  </a:txBody>
                  <a:tcPr anchor="ctr">
                    <a:solidFill>
                      <a:srgbClr val="FFFFFF"/>
                    </a:solidFill>
                  </a:tcPr>
                </a:tc>
                <a:tc>
                  <a:txBody>
                    <a:bodyPr/>
                    <a:lstStyle/>
                    <a:p>
                      <a:r>
                        <a:rPr sz="1725" b="0">
                          <a:solidFill>
                            <a:srgbClr val="253642"/>
                          </a:solidFill>
                          <a:latin typeface="DejaVu Sans"/>
                          <a:ea typeface="DejaVu Sans"/>
                          <a:cs typeface="DejaVu Sans"/>
                        </a:rPr>
                        <a:t>An inactivated bacterial toxin</a:t>
                      </a:r>
                    </a:p>
                  </a:txBody>
                  <a:tcPr anchor="ctr">
                    <a:solidFill>
                      <a:srgbClr val="FFFFFF"/>
                    </a:solidFill>
                  </a:tcPr>
                </a:tc>
                <a:tc>
                  <a:txBody>
                    <a:bodyPr/>
                    <a:lstStyle/>
                    <a:p>
                      <a:r>
                        <a:rPr sz="1725" b="0" dirty="0">
                          <a:solidFill>
                            <a:srgbClr val="253642"/>
                          </a:solidFill>
                          <a:latin typeface="DejaVu Sans"/>
                          <a:ea typeface="DejaVu Sans"/>
                          <a:cs typeface="DejaVu Sans"/>
                        </a:rPr>
                        <a:t>Tetanus; diphtheria</a:t>
                      </a:r>
                    </a:p>
                  </a:txBody>
                  <a:tcPr anchor="ctr">
                    <a:solidFill>
                      <a:srgbClr val="FFFFFF"/>
                    </a:solidFill>
                  </a:tcPr>
                </a:tc>
                <a:extLst>
                  <a:ext uri="{0D108BD9-81ED-4DB2-BD59-A6C34878D82A}">
                    <a16:rowId xmlns:a16="http://schemas.microsoft.com/office/drawing/2014/main" val="10003"/>
                  </a:ext>
                </a:extLst>
              </a:tr>
              <a:tr h="600075">
                <a:tc>
                  <a:txBody>
                    <a:bodyPr/>
                    <a:lstStyle/>
                    <a:p>
                      <a:r>
                        <a:rPr sz="1725" b="0">
                          <a:solidFill>
                            <a:srgbClr val="253642"/>
                          </a:solidFill>
                          <a:latin typeface="DejaVu Sans"/>
                          <a:ea typeface="DejaVu Sans"/>
                          <a:cs typeface="DejaVu Sans"/>
                        </a:rPr>
                        <a:t>Protein subunit / recombinant</a:t>
                      </a:r>
                    </a:p>
                  </a:txBody>
                  <a:tcPr anchor="ctr">
                    <a:solidFill>
                      <a:srgbClr val="FFFFFF"/>
                    </a:solidFill>
                  </a:tcPr>
                </a:tc>
                <a:tc>
                  <a:txBody>
                    <a:bodyPr/>
                    <a:lstStyle/>
                    <a:p>
                      <a:r>
                        <a:rPr sz="1725" b="0">
                          <a:solidFill>
                            <a:srgbClr val="253642"/>
                          </a:solidFill>
                          <a:latin typeface="DejaVu Sans"/>
                          <a:ea typeface="DejaVu Sans"/>
                          <a:cs typeface="DejaVu Sans"/>
                        </a:rPr>
                        <a:t>Selected antigens</a:t>
                      </a:r>
                    </a:p>
                  </a:txBody>
                  <a:tcPr anchor="ctr">
                    <a:solidFill>
                      <a:srgbClr val="FFFFFF"/>
                    </a:solidFill>
                  </a:tcPr>
                </a:tc>
                <a:tc>
                  <a:txBody>
                    <a:bodyPr/>
                    <a:lstStyle/>
                    <a:p>
                      <a:r>
                        <a:rPr sz="1725" b="0" dirty="0">
                          <a:solidFill>
                            <a:srgbClr val="253642"/>
                          </a:solidFill>
                          <a:latin typeface="DejaVu Sans"/>
                          <a:ea typeface="DejaVu Sans"/>
                          <a:cs typeface="DejaVu Sans"/>
                        </a:rPr>
                        <a:t>Hepatitis B;</a:t>
                      </a:r>
                    </a:p>
                    <a:p>
                      <a:r>
                        <a:rPr sz="1725" b="0" dirty="0">
                          <a:solidFill>
                            <a:srgbClr val="253642"/>
                          </a:solidFill>
                          <a:latin typeface="DejaVu Sans"/>
                          <a:ea typeface="DejaVu Sans"/>
                          <a:cs typeface="DejaVu Sans"/>
                        </a:rPr>
                        <a:t>acellular pertussis</a:t>
                      </a:r>
                    </a:p>
                  </a:txBody>
                  <a:tcPr anchor="ctr">
                    <a:solidFill>
                      <a:srgbClr val="FFFFFF"/>
                    </a:solidFill>
                  </a:tcPr>
                </a:tc>
                <a:extLst>
                  <a:ext uri="{0D108BD9-81ED-4DB2-BD59-A6C34878D82A}">
                    <a16:rowId xmlns:a16="http://schemas.microsoft.com/office/drawing/2014/main" val="10004"/>
                  </a:ext>
                </a:extLst>
              </a:tr>
              <a:tr h="600075">
                <a:tc>
                  <a:txBody>
                    <a:bodyPr/>
                    <a:lstStyle/>
                    <a:p>
                      <a:r>
                        <a:rPr sz="1725" b="0" dirty="0">
                          <a:solidFill>
                            <a:srgbClr val="253642"/>
                          </a:solidFill>
                          <a:latin typeface="DejaVu Sans"/>
                          <a:ea typeface="DejaVu Sans"/>
                          <a:cs typeface="DejaVu Sans"/>
                        </a:rPr>
                        <a:t>Polysaccharide</a:t>
                      </a:r>
                    </a:p>
                  </a:txBody>
                  <a:tcPr anchor="ctr">
                    <a:solidFill>
                      <a:srgbClr val="FFFFFF"/>
                    </a:solidFill>
                  </a:tcPr>
                </a:tc>
                <a:tc>
                  <a:txBody>
                    <a:bodyPr/>
                    <a:lstStyle/>
                    <a:p>
                      <a:r>
                        <a:rPr sz="1725" b="0" dirty="0">
                          <a:solidFill>
                            <a:srgbClr val="253642"/>
                          </a:solidFill>
                          <a:latin typeface="DejaVu Sans"/>
                          <a:ea typeface="DejaVu Sans"/>
                          <a:cs typeface="DejaVu Sans"/>
                        </a:rPr>
                        <a:t>Capsule sugars alone</a:t>
                      </a:r>
                    </a:p>
                  </a:txBody>
                  <a:tcPr anchor="ctr">
                    <a:solidFill>
                      <a:srgbClr val="FFFFFF"/>
                    </a:solidFill>
                  </a:tcPr>
                </a:tc>
                <a:tc>
                  <a:txBody>
                    <a:bodyPr/>
                    <a:lstStyle/>
                    <a:p>
                      <a:r>
                        <a:rPr sz="1725" b="0" dirty="0">
                          <a:solidFill>
                            <a:srgbClr val="253642"/>
                          </a:solidFill>
                          <a:latin typeface="DejaVu Sans"/>
                          <a:ea typeface="DejaVu Sans"/>
                          <a:cs typeface="DejaVu Sans"/>
                        </a:rPr>
                        <a:t>PPSV23</a:t>
                      </a:r>
                    </a:p>
                  </a:txBody>
                  <a:tcPr anchor="ctr">
                    <a:solidFill>
                      <a:srgbClr val="FFFFFF"/>
                    </a:solidFill>
                  </a:tcPr>
                </a:tc>
                <a:extLst>
                  <a:ext uri="{0D108BD9-81ED-4DB2-BD59-A6C34878D82A}">
                    <a16:rowId xmlns:a16="http://schemas.microsoft.com/office/drawing/2014/main" val="10005"/>
                  </a:ext>
                </a:extLst>
              </a:tr>
              <a:tr h="600075">
                <a:tc>
                  <a:txBody>
                    <a:bodyPr/>
                    <a:lstStyle/>
                    <a:p>
                      <a:r>
                        <a:rPr sz="1725" b="0" dirty="0">
                          <a:solidFill>
                            <a:srgbClr val="253642"/>
                          </a:solidFill>
                          <a:latin typeface="DejaVu Sans"/>
                          <a:ea typeface="DejaVu Sans"/>
                          <a:cs typeface="DejaVu Sans"/>
                        </a:rPr>
                        <a:t>Conjugate</a:t>
                      </a:r>
                    </a:p>
                  </a:txBody>
                  <a:tcPr anchor="ctr">
                    <a:solidFill>
                      <a:srgbClr val="FFFFFF"/>
                    </a:solidFill>
                  </a:tcPr>
                </a:tc>
                <a:tc>
                  <a:txBody>
                    <a:bodyPr/>
                    <a:lstStyle/>
                    <a:p>
                      <a:r>
                        <a:rPr sz="1725" b="0" dirty="0">
                          <a:solidFill>
                            <a:srgbClr val="253642"/>
                          </a:solidFill>
                          <a:latin typeface="DejaVu Sans"/>
                          <a:ea typeface="DejaVu Sans"/>
                          <a:cs typeface="DejaVu Sans"/>
                        </a:rPr>
                        <a:t>Capsule sugars linked to protein</a:t>
                      </a:r>
                    </a:p>
                  </a:txBody>
                  <a:tcPr anchor="ctr">
                    <a:solidFill>
                      <a:srgbClr val="FFFFFF"/>
                    </a:solidFill>
                  </a:tcPr>
                </a:tc>
                <a:tc>
                  <a:txBody>
                    <a:bodyPr/>
                    <a:lstStyle/>
                    <a:p>
                      <a:r>
                        <a:rPr sz="1725" b="0" dirty="0">
                          <a:solidFill>
                            <a:srgbClr val="253642"/>
                          </a:solidFill>
                          <a:latin typeface="DejaVu Sans"/>
                          <a:ea typeface="DejaVu Sans"/>
                          <a:cs typeface="DejaVu Sans"/>
                        </a:rPr>
                        <a:t>Hib; PCV; </a:t>
                      </a:r>
                      <a:r>
                        <a:rPr sz="1725" b="0" dirty="0" err="1">
                          <a:solidFill>
                            <a:srgbClr val="253642"/>
                          </a:solidFill>
                          <a:latin typeface="DejaVu Sans"/>
                          <a:ea typeface="DejaVu Sans"/>
                          <a:cs typeface="DejaVu Sans"/>
                        </a:rPr>
                        <a:t>MenACWY</a:t>
                      </a:r>
                      <a:endParaRPr sz="1725" b="0" dirty="0">
                        <a:solidFill>
                          <a:srgbClr val="253642"/>
                        </a:solidFill>
                        <a:latin typeface="DejaVu Sans"/>
                        <a:ea typeface="DejaVu Sans"/>
                        <a:cs typeface="DejaVu Sans"/>
                      </a:endParaRPr>
                    </a:p>
                  </a:txBody>
                  <a:tcPr anchor="ctr">
                    <a:solidFill>
                      <a:srgbClr val="FFFFFF"/>
                    </a:solidFill>
                  </a:tcPr>
                </a:tc>
                <a:extLst>
                  <a:ext uri="{0D108BD9-81ED-4DB2-BD59-A6C34878D82A}">
                    <a16:rowId xmlns:a16="http://schemas.microsoft.com/office/drawing/2014/main" val="10006"/>
                  </a:ext>
                </a:extLst>
              </a:tr>
            </a:tbl>
          </a:graphicData>
        </a:graphic>
      </p:graphicFrame>
      <p:sp>
        <p:nvSpPr>
          <p:cNvPr id="7" name="text-4">
            <a:extLst>
              <a:ext uri="{FF2B5EF4-FFF2-40B4-BE49-F238E27FC236}">
                <a16:creationId xmlns:a16="http://schemas.microsoft.com/office/drawing/2014/main" id="{94D6BF06-95F9-4206-9693-53BED3969004}"/>
              </a:ext>
            </a:extLst>
          </p:cNvPr>
          <p:cNvSpPr>
            <a:spLocks noGrp="1"/>
          </p:cNvSpPr>
          <p:nvPr/>
        </p:nvSpPr>
        <p:spPr>
          <a:xfrm>
            <a:off x="571500" y="5838825"/>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These categories can overlap: recombinant describes how an antigen is made.</a:t>
            </a:r>
          </a:p>
        </p:txBody>
      </p:sp>
    </p:spTree>
    <p:extLst>
      <p:ext uri="{BB962C8B-B14F-4D97-AF65-F5344CB8AC3E}">
        <p14:creationId xmlns:p14="http://schemas.microsoft.com/office/powerpoint/2010/main" val="10220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DF26B3B-0610-489D-B01F-5E9AAE271C74}"/>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3D75E4C5-6FAC-4613-A4D3-EDB4AB9BB9A5}"/>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7653D037-E192-40E5-AB90-30A02BEAFE97}"/>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Live attenuated vaccines</a:t>
            </a:r>
          </a:p>
        </p:txBody>
      </p:sp>
      <p:sp>
        <p:nvSpPr>
          <p:cNvPr id="4" name="text-2">
            <a:extLst>
              <a:ext uri="{FF2B5EF4-FFF2-40B4-BE49-F238E27FC236}">
                <a16:creationId xmlns:a16="http://schemas.microsoft.com/office/drawing/2014/main" id="{BB784586-F3F1-41D9-BAEC-60897C7ED7E6}"/>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5CAC400D-0EA7-4F64-8B98-07983D53E228}"/>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8</a:t>
            </a:r>
          </a:p>
        </p:txBody>
      </p:sp>
      <p:sp>
        <p:nvSpPr>
          <p:cNvPr id="6" name="text-4">
            <a:extLst>
              <a:ext uri="{FF2B5EF4-FFF2-40B4-BE49-F238E27FC236}">
                <a16:creationId xmlns:a16="http://schemas.microsoft.com/office/drawing/2014/main" id="{220903C3-A734-4B3E-9B18-ECE688C16098}"/>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Contain a weakened form of the organism.</a:t>
            </a:r>
          </a:p>
          <a:p>
            <a:pPr marL="381000" indent="-254000" algn="l">
              <a:spcAft>
                <a:spcPts val="1700"/>
              </a:spcAft>
              <a:buChar char="•"/>
              <a:defRPr sz="2175" b="0">
                <a:solidFill>
                  <a:srgbClr val="253642"/>
                </a:solidFill>
                <a:latin typeface="DejaVu Sans"/>
                <a:ea typeface="DejaVu Sans"/>
                <a:cs typeface="DejaVu Sans"/>
              </a:defRPr>
            </a:pPr>
            <a:r>
              <a:t>The vaccine organism replicates to stimulate immunity.</a:t>
            </a:r>
          </a:p>
          <a:p>
            <a:pPr marL="381000" indent="-254000" algn="l">
              <a:spcAft>
                <a:spcPts val="1700"/>
              </a:spcAft>
              <a:buChar char="•"/>
              <a:defRPr sz="2175" b="0">
                <a:solidFill>
                  <a:srgbClr val="253642"/>
                </a:solidFill>
                <a:latin typeface="DejaVu Sans"/>
                <a:ea typeface="DejaVu Sans"/>
                <a:cs typeface="DejaVu Sans"/>
              </a:defRPr>
            </a:pPr>
            <a:r>
              <a:t>Examples include MMR and varicella vaccines.</a:t>
            </a:r>
          </a:p>
          <a:p>
            <a:pPr marL="381000" indent="-254000" algn="l">
              <a:spcAft>
                <a:spcPts val="1700"/>
              </a:spcAft>
              <a:buChar char="•"/>
              <a:defRPr sz="2175" b="0">
                <a:solidFill>
                  <a:srgbClr val="253642"/>
                </a:solidFill>
                <a:latin typeface="DejaVu Sans"/>
                <a:ea typeface="DejaVu Sans"/>
                <a:cs typeface="DejaVu Sans"/>
              </a:defRPr>
            </a:pPr>
            <a:r>
              <a:t>Generally avoided during pregnancy and in severe immunosuppression.</a:t>
            </a:r>
          </a:p>
        </p:txBody>
      </p:sp>
      <p:sp>
        <p:nvSpPr>
          <p:cNvPr id="7" name="text-5">
            <a:extLst>
              <a:ext uri="{FF2B5EF4-FFF2-40B4-BE49-F238E27FC236}">
                <a16:creationId xmlns:a16="http://schemas.microsoft.com/office/drawing/2014/main" id="{207771F5-3531-478B-B5F0-719ADBCB1BE7}"/>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Live attenuated does not mean unable to replicate.</a:t>
            </a:r>
          </a:p>
        </p:txBody>
      </p:sp>
    </p:spTree>
    <p:extLst>
      <p:ext uri="{BB962C8B-B14F-4D97-AF65-F5344CB8AC3E}">
        <p14:creationId xmlns:p14="http://schemas.microsoft.com/office/powerpoint/2010/main" val="751198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C3BA98A-C415-4252-8195-ED63DB73F73B}"/>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CFA8A876-E47B-4483-85F8-19B3C201E981}"/>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35B035AA-7D5A-4210-8E04-73103D0D56A7}"/>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Inactivated vaccines</a:t>
            </a:r>
          </a:p>
        </p:txBody>
      </p:sp>
      <p:sp>
        <p:nvSpPr>
          <p:cNvPr id="4" name="text-2">
            <a:extLst>
              <a:ext uri="{FF2B5EF4-FFF2-40B4-BE49-F238E27FC236}">
                <a16:creationId xmlns:a16="http://schemas.microsoft.com/office/drawing/2014/main" id="{709B4E37-BF8D-4216-8C58-CF70FD1EDD3F}"/>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F8293861-DE35-49AB-AA8A-28AC83972938}"/>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9</a:t>
            </a:r>
          </a:p>
        </p:txBody>
      </p:sp>
      <p:sp>
        <p:nvSpPr>
          <p:cNvPr id="6" name="text-4">
            <a:extLst>
              <a:ext uri="{FF2B5EF4-FFF2-40B4-BE49-F238E27FC236}">
                <a16:creationId xmlns:a16="http://schemas.microsoft.com/office/drawing/2014/main" id="{62EC9FF2-588C-477E-ACD6-B83E0B0A0374}"/>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Contain organisms that have been killed or inactivated.</a:t>
            </a:r>
          </a:p>
          <a:p>
            <a:pPr marL="381000" indent="-254000" algn="l">
              <a:spcAft>
                <a:spcPts val="1700"/>
              </a:spcAft>
              <a:buChar char="•"/>
              <a:defRPr sz="2175" b="0">
                <a:solidFill>
                  <a:srgbClr val="253642"/>
                </a:solidFill>
                <a:latin typeface="DejaVu Sans"/>
                <a:ea typeface="DejaVu Sans"/>
                <a:cs typeface="DejaVu Sans"/>
              </a:defRPr>
            </a:pPr>
            <a:r>
              <a:t>They cannot replicate or cause infection from vaccine organisms.</a:t>
            </a:r>
          </a:p>
          <a:p>
            <a:pPr marL="381000" indent="-254000" algn="l">
              <a:spcAft>
                <a:spcPts val="1700"/>
              </a:spcAft>
              <a:buChar char="•"/>
              <a:defRPr sz="2175" b="0">
                <a:solidFill>
                  <a:srgbClr val="253642"/>
                </a:solidFill>
                <a:latin typeface="DejaVu Sans"/>
                <a:ea typeface="DejaVu Sans"/>
                <a:cs typeface="DejaVu Sans"/>
              </a:defRPr>
            </a:pPr>
            <a:r>
              <a:t>Several doses may be needed to build and maintain protection.</a:t>
            </a:r>
          </a:p>
          <a:p>
            <a:pPr marL="381000" indent="-254000" algn="l">
              <a:spcAft>
                <a:spcPts val="1700"/>
              </a:spcAft>
              <a:buChar char="•"/>
              <a:defRPr sz="2175" b="0">
                <a:solidFill>
                  <a:srgbClr val="253642"/>
                </a:solidFill>
                <a:latin typeface="DejaVu Sans"/>
                <a:ea typeface="DejaVu Sans"/>
                <a:cs typeface="DejaVu Sans"/>
              </a:defRPr>
            </a:pPr>
            <a:r>
              <a:t>Examples: inactivated polio vaccine (IPV) and hepatitis A vaccine.</a:t>
            </a:r>
          </a:p>
        </p:txBody>
      </p:sp>
      <p:sp>
        <p:nvSpPr>
          <p:cNvPr id="7" name="text-5">
            <a:extLst>
              <a:ext uri="{FF2B5EF4-FFF2-40B4-BE49-F238E27FC236}">
                <a16:creationId xmlns:a16="http://schemas.microsoft.com/office/drawing/2014/main" id="{35FB8126-5943-4B1B-9204-2F73211C1FB1}"/>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A non-live vaccine can still cause expected local or systemic reactions.</a:t>
            </a:r>
          </a:p>
        </p:txBody>
      </p:sp>
    </p:spTree>
    <p:extLst>
      <p:ext uri="{BB962C8B-B14F-4D97-AF65-F5344CB8AC3E}">
        <p14:creationId xmlns:p14="http://schemas.microsoft.com/office/powerpoint/2010/main" val="1790388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C44F42E-F399-41B1-B5DF-A243982D958E}"/>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5B4C271C-2341-494C-A003-B19C0FD1C273}"/>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B77010CF-55DF-48E7-B83F-35B902263A00}"/>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Toxoid vaccines</a:t>
            </a:r>
          </a:p>
        </p:txBody>
      </p:sp>
      <p:sp>
        <p:nvSpPr>
          <p:cNvPr id="4" name="text-2">
            <a:extLst>
              <a:ext uri="{FF2B5EF4-FFF2-40B4-BE49-F238E27FC236}">
                <a16:creationId xmlns:a16="http://schemas.microsoft.com/office/drawing/2014/main" id="{32271CC4-3F63-47C3-AC4E-C6B687DE11D6}"/>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FB5556DC-5FD9-4824-99DE-09808C1F7D16}"/>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10</a:t>
            </a:r>
          </a:p>
        </p:txBody>
      </p:sp>
      <p:sp>
        <p:nvSpPr>
          <p:cNvPr id="6" name="text-4">
            <a:extLst>
              <a:ext uri="{FF2B5EF4-FFF2-40B4-BE49-F238E27FC236}">
                <a16:creationId xmlns:a16="http://schemas.microsoft.com/office/drawing/2014/main" id="{80255258-CBBE-4D18-929E-1A5EB738D109}"/>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Some bacteria cause disease mainly through a toxin.</a:t>
            </a:r>
          </a:p>
          <a:p>
            <a:pPr marL="381000" indent="-254000" algn="l">
              <a:spcAft>
                <a:spcPts val="1700"/>
              </a:spcAft>
              <a:buChar char="•"/>
              <a:defRPr sz="2175" b="0">
                <a:solidFill>
                  <a:srgbClr val="253642"/>
                </a:solidFill>
                <a:latin typeface="DejaVu Sans"/>
                <a:ea typeface="DejaVu Sans"/>
                <a:cs typeface="DejaVu Sans"/>
              </a:defRPr>
            </a:pPr>
            <a:r>
              <a:t>A toxoid is a toxin treated to remove its harmful activity.</a:t>
            </a:r>
          </a:p>
          <a:p>
            <a:pPr marL="381000" indent="-254000" algn="l">
              <a:spcAft>
                <a:spcPts val="1700"/>
              </a:spcAft>
              <a:buChar char="•"/>
              <a:defRPr sz="2175" b="0">
                <a:solidFill>
                  <a:srgbClr val="253642"/>
                </a:solidFill>
                <a:latin typeface="DejaVu Sans"/>
                <a:ea typeface="DejaVu Sans"/>
                <a:cs typeface="DejaVu Sans"/>
              </a:defRPr>
            </a:pPr>
            <a:r>
              <a:t>Vaccination produces antibodies that neutralize the toxin.</a:t>
            </a:r>
          </a:p>
          <a:p>
            <a:pPr marL="381000" indent="-254000" algn="l">
              <a:spcAft>
                <a:spcPts val="1700"/>
              </a:spcAft>
              <a:buChar char="•"/>
              <a:defRPr sz="2175" b="0">
                <a:solidFill>
                  <a:srgbClr val="253642"/>
                </a:solidFill>
                <a:latin typeface="DejaVu Sans"/>
                <a:ea typeface="DejaVu Sans"/>
                <a:cs typeface="DejaVu Sans"/>
              </a:defRPr>
            </a:pPr>
            <a:r>
              <a:t>Examples: tetanus and diphtheria vaccines.</a:t>
            </a:r>
          </a:p>
        </p:txBody>
      </p:sp>
      <p:sp>
        <p:nvSpPr>
          <p:cNvPr id="7" name="text-5">
            <a:extLst>
              <a:ext uri="{FF2B5EF4-FFF2-40B4-BE49-F238E27FC236}">
                <a16:creationId xmlns:a16="http://schemas.microsoft.com/office/drawing/2014/main" id="{EA15B5B6-BC9B-44B8-B0A1-073A6F2186FD}"/>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The immune target is the toxin.</a:t>
            </a:r>
          </a:p>
        </p:txBody>
      </p:sp>
    </p:spTree>
    <p:extLst>
      <p:ext uri="{BB962C8B-B14F-4D97-AF65-F5344CB8AC3E}">
        <p14:creationId xmlns:p14="http://schemas.microsoft.com/office/powerpoint/2010/main" val="1985140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E865EAB-7E00-476E-8622-53CBE25F8A76}"/>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ABB08BF9-ED20-48AB-87CE-894E83D30A4A}"/>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75A841A5-1667-4134-B95F-3ABA00AE6D26}"/>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Subunit and recombinant vaccines</a:t>
            </a:r>
          </a:p>
        </p:txBody>
      </p:sp>
      <p:sp>
        <p:nvSpPr>
          <p:cNvPr id="4" name="text-2">
            <a:extLst>
              <a:ext uri="{FF2B5EF4-FFF2-40B4-BE49-F238E27FC236}">
                <a16:creationId xmlns:a16="http://schemas.microsoft.com/office/drawing/2014/main" id="{DC9DD0FE-E2DD-4201-9CB6-F525553A3C99}"/>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EC8351C2-C032-4ECA-9489-D6A162CB306E}"/>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11</a:t>
            </a:r>
          </a:p>
        </p:txBody>
      </p:sp>
      <p:sp>
        <p:nvSpPr>
          <p:cNvPr id="6" name="text-4">
            <a:extLst>
              <a:ext uri="{FF2B5EF4-FFF2-40B4-BE49-F238E27FC236}">
                <a16:creationId xmlns:a16="http://schemas.microsoft.com/office/drawing/2014/main" id="{24A38107-57C3-4A17-8D97-02F784A80A49}"/>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Subunit vaccines contain selected parts of a pathogen.</a:t>
            </a:r>
          </a:p>
          <a:p>
            <a:pPr marL="381000" indent="-254000" algn="l">
              <a:spcAft>
                <a:spcPts val="1700"/>
              </a:spcAft>
              <a:buChar char="•"/>
              <a:defRPr sz="2175" b="0">
                <a:solidFill>
                  <a:srgbClr val="253642"/>
                </a:solidFill>
                <a:latin typeface="DejaVu Sans"/>
                <a:ea typeface="DejaVu Sans"/>
                <a:cs typeface="DejaVu Sans"/>
              </a:defRPr>
            </a:pPr>
            <a:r>
              <a:t>Acellular pertussis vaccine uses purified bacterial antigens.</a:t>
            </a:r>
          </a:p>
          <a:p>
            <a:pPr marL="381000" indent="-254000" algn="l">
              <a:spcAft>
                <a:spcPts val="1700"/>
              </a:spcAft>
              <a:buChar char="•"/>
              <a:defRPr sz="2175" b="0">
                <a:solidFill>
                  <a:srgbClr val="253642"/>
                </a:solidFill>
                <a:latin typeface="DejaVu Sans"/>
                <a:ea typeface="DejaVu Sans"/>
                <a:cs typeface="DejaVu Sans"/>
              </a:defRPr>
            </a:pPr>
            <a:r>
              <a:t>Recombinant technology produces an antigen in engineered cells.</a:t>
            </a:r>
          </a:p>
          <a:p>
            <a:pPr marL="381000" indent="-254000" algn="l">
              <a:spcAft>
                <a:spcPts val="1700"/>
              </a:spcAft>
              <a:buChar char="•"/>
              <a:defRPr sz="2175" b="0">
                <a:solidFill>
                  <a:srgbClr val="253642"/>
                </a:solidFill>
                <a:latin typeface="DejaVu Sans"/>
                <a:ea typeface="DejaVu Sans"/>
                <a:cs typeface="DejaVu Sans"/>
              </a:defRPr>
            </a:pPr>
            <a:r>
              <a:t>Examples include hepatitis B, HPV, and recombinant zoster vaccines.</a:t>
            </a:r>
          </a:p>
        </p:txBody>
      </p:sp>
      <p:sp>
        <p:nvSpPr>
          <p:cNvPr id="7" name="text-5">
            <a:extLst>
              <a:ext uri="{FF2B5EF4-FFF2-40B4-BE49-F238E27FC236}">
                <a16:creationId xmlns:a16="http://schemas.microsoft.com/office/drawing/2014/main" id="{401F67A9-180C-4807-B53B-482D8805B955}"/>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Hepatitis B is one example of recombinant vaccination—not the only one.</a:t>
            </a:r>
          </a:p>
        </p:txBody>
      </p:sp>
    </p:spTree>
    <p:extLst>
      <p:ext uri="{BB962C8B-B14F-4D97-AF65-F5344CB8AC3E}">
        <p14:creationId xmlns:p14="http://schemas.microsoft.com/office/powerpoint/2010/main" val="1844835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EBC062F-2796-4F6F-9098-71E6148EB710}"/>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715C384D-BD76-4F53-BA0A-C390D4D44AE8}"/>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A21B692C-FBE5-482F-AA15-BE11741DAD98}"/>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Polysaccharide and conjugate vaccines</a:t>
            </a:r>
          </a:p>
        </p:txBody>
      </p:sp>
      <p:sp>
        <p:nvSpPr>
          <p:cNvPr id="4" name="text-2">
            <a:extLst>
              <a:ext uri="{FF2B5EF4-FFF2-40B4-BE49-F238E27FC236}">
                <a16:creationId xmlns:a16="http://schemas.microsoft.com/office/drawing/2014/main" id="{9AA8C552-FBE5-4B34-9266-79D9C6098547}"/>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29F9D832-14C0-4492-9FF5-1B5526E00251}"/>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12</a:t>
            </a:r>
          </a:p>
        </p:txBody>
      </p:sp>
      <p:graphicFrame>
        <p:nvGraphicFramePr>
          <p:cNvPr id="6" name="Table 5">
            <a:extLst>
              <a:ext uri="{FF2B5EF4-FFF2-40B4-BE49-F238E27FC236}">
                <a16:creationId xmlns:a16="http://schemas.microsoft.com/office/drawing/2014/main" id="{EF3CB559-1786-4E74-A871-5CAA7A26A600}"/>
              </a:ext>
            </a:extLst>
          </p:cNvPr>
          <p:cNvGraphicFramePr/>
          <p:nvPr/>
        </p:nvGraphicFramePr>
        <p:xfrm>
          <a:off x="571500" y="1609725"/>
          <a:ext cx="11049000" cy="3762376"/>
        </p:xfrm>
        <a:graphic>
          <a:graphicData uri="http://schemas.openxmlformats.org/drawingml/2006/table">
            <a:tbl>
              <a:tblPr/>
              <a:tblGrid>
                <a:gridCol w="2333625">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tblGrid>
              <a:tr h="495300">
                <a:tc>
                  <a:txBody>
                    <a:bodyPr/>
                    <a:lstStyle/>
                    <a:p>
                      <a:r>
                        <a:rPr sz="1875" b="1">
                          <a:solidFill>
                            <a:srgbClr val="FFFFFF"/>
                          </a:solidFill>
                          <a:latin typeface="DejaVu Sans"/>
                          <a:ea typeface="DejaVu Sans"/>
                          <a:cs typeface="DejaVu Sans"/>
                        </a:rPr>
                        <a:t>Feature</a:t>
                      </a:r>
                    </a:p>
                  </a:txBody>
                  <a:tcPr anchor="ctr">
                    <a:solidFill>
                      <a:srgbClr val="007FAE"/>
                    </a:solidFill>
                  </a:tcPr>
                </a:tc>
                <a:tc>
                  <a:txBody>
                    <a:bodyPr/>
                    <a:lstStyle/>
                    <a:p>
                      <a:r>
                        <a:rPr sz="1875" b="1">
                          <a:solidFill>
                            <a:srgbClr val="FFFFFF"/>
                          </a:solidFill>
                          <a:latin typeface="DejaVu Sans"/>
                          <a:ea typeface="DejaVu Sans"/>
                          <a:cs typeface="DejaVu Sans"/>
                        </a:rPr>
                        <a:t>Plain polysaccharide</a:t>
                      </a:r>
                    </a:p>
                  </a:txBody>
                  <a:tcPr anchor="ctr">
                    <a:solidFill>
                      <a:srgbClr val="007FAE"/>
                    </a:solidFill>
                  </a:tcPr>
                </a:tc>
                <a:tc>
                  <a:txBody>
                    <a:bodyPr/>
                    <a:lstStyle/>
                    <a:p>
                      <a:r>
                        <a:rPr sz="1875" b="1">
                          <a:solidFill>
                            <a:srgbClr val="FFFFFF"/>
                          </a:solidFill>
                          <a:latin typeface="DejaVu Sans"/>
                          <a:ea typeface="DejaVu Sans"/>
                          <a:cs typeface="DejaVu Sans"/>
                        </a:rPr>
                        <a:t>Conjugate</a:t>
                      </a:r>
                    </a:p>
                  </a:txBody>
                  <a:tcPr anchor="ctr">
                    <a:solidFill>
                      <a:srgbClr val="007FAE"/>
                    </a:solidFill>
                  </a:tcPr>
                </a:tc>
                <a:extLst>
                  <a:ext uri="{0D108BD9-81ED-4DB2-BD59-A6C34878D82A}">
                    <a16:rowId xmlns:a16="http://schemas.microsoft.com/office/drawing/2014/main" val="10000"/>
                  </a:ext>
                </a:extLst>
              </a:tr>
              <a:tr h="816769">
                <a:tc>
                  <a:txBody>
                    <a:bodyPr/>
                    <a:lstStyle/>
                    <a:p>
                      <a:r>
                        <a:rPr sz="1875" b="0">
                          <a:solidFill>
                            <a:srgbClr val="253642"/>
                          </a:solidFill>
                          <a:latin typeface="DejaVu Sans"/>
                          <a:ea typeface="DejaVu Sans"/>
                          <a:cs typeface="DejaVu Sans"/>
                        </a:rPr>
                        <a:t>Antigen</a:t>
                      </a:r>
                    </a:p>
                  </a:txBody>
                  <a:tcPr anchor="ctr">
                    <a:solidFill>
                      <a:srgbClr val="FFFFFF"/>
                    </a:solidFill>
                  </a:tcPr>
                </a:tc>
                <a:tc>
                  <a:txBody>
                    <a:bodyPr/>
                    <a:lstStyle/>
                    <a:p>
                      <a:r>
                        <a:rPr sz="1875" b="0">
                          <a:solidFill>
                            <a:srgbClr val="253642"/>
                          </a:solidFill>
                          <a:latin typeface="DejaVu Sans"/>
                          <a:ea typeface="DejaVu Sans"/>
                          <a:cs typeface="DejaVu Sans"/>
                        </a:rPr>
                        <a:t>Capsule sugar alone</a:t>
                      </a:r>
                    </a:p>
                  </a:txBody>
                  <a:tcPr anchor="ctr">
                    <a:solidFill>
                      <a:srgbClr val="FFFFFF"/>
                    </a:solidFill>
                  </a:tcPr>
                </a:tc>
                <a:tc>
                  <a:txBody>
                    <a:bodyPr/>
                    <a:lstStyle/>
                    <a:p>
                      <a:r>
                        <a:rPr sz="1875" b="0">
                          <a:solidFill>
                            <a:srgbClr val="253642"/>
                          </a:solidFill>
                          <a:latin typeface="DejaVu Sans"/>
                          <a:ea typeface="DejaVu Sans"/>
                          <a:cs typeface="DejaVu Sans"/>
                        </a:rPr>
                        <a:t>Capsule sugar linked to a protein</a:t>
                      </a:r>
                    </a:p>
                  </a:txBody>
                  <a:tcPr anchor="ctr">
                    <a:solidFill>
                      <a:srgbClr val="FFFFFF"/>
                    </a:solidFill>
                  </a:tcPr>
                </a:tc>
                <a:extLst>
                  <a:ext uri="{0D108BD9-81ED-4DB2-BD59-A6C34878D82A}">
                    <a16:rowId xmlns:a16="http://schemas.microsoft.com/office/drawing/2014/main" val="10001"/>
                  </a:ext>
                </a:extLst>
              </a:tr>
              <a:tr h="816769">
                <a:tc>
                  <a:txBody>
                    <a:bodyPr/>
                    <a:lstStyle/>
                    <a:p>
                      <a:r>
                        <a:rPr sz="1875" b="0">
                          <a:solidFill>
                            <a:srgbClr val="253642"/>
                          </a:solidFill>
                          <a:latin typeface="DejaVu Sans"/>
                          <a:ea typeface="DejaVu Sans"/>
                          <a:cs typeface="DejaVu Sans"/>
                        </a:rPr>
                        <a:t>Immune response</a:t>
                      </a:r>
                    </a:p>
                  </a:txBody>
                  <a:tcPr anchor="ctr">
                    <a:solidFill>
                      <a:srgbClr val="FFFFFF"/>
                    </a:solidFill>
                  </a:tcPr>
                </a:tc>
                <a:tc>
                  <a:txBody>
                    <a:bodyPr/>
                    <a:lstStyle/>
                    <a:p>
                      <a:r>
                        <a:rPr sz="1875" b="0">
                          <a:solidFill>
                            <a:srgbClr val="253642"/>
                          </a:solidFill>
                          <a:latin typeface="DejaVu Sans"/>
                          <a:ea typeface="DejaVu Sans"/>
                          <a:cs typeface="DejaVu Sans"/>
                        </a:rPr>
                        <a:t>Mainly T-cell independent</a:t>
                      </a:r>
                    </a:p>
                  </a:txBody>
                  <a:tcPr anchor="ctr">
                    <a:solidFill>
                      <a:srgbClr val="FFFFFF"/>
                    </a:solidFill>
                  </a:tcPr>
                </a:tc>
                <a:tc>
                  <a:txBody>
                    <a:bodyPr/>
                    <a:lstStyle/>
                    <a:p>
                      <a:r>
                        <a:rPr sz="1875" b="0">
                          <a:solidFill>
                            <a:srgbClr val="253642"/>
                          </a:solidFill>
                          <a:latin typeface="DejaVu Sans"/>
                          <a:ea typeface="DejaVu Sans"/>
                          <a:cs typeface="DejaVu Sans"/>
                        </a:rPr>
                        <a:t>Recruits T-cell help</a:t>
                      </a:r>
                    </a:p>
                  </a:txBody>
                  <a:tcPr anchor="ctr">
                    <a:solidFill>
                      <a:srgbClr val="FFFFFF"/>
                    </a:solidFill>
                  </a:tcPr>
                </a:tc>
                <a:extLst>
                  <a:ext uri="{0D108BD9-81ED-4DB2-BD59-A6C34878D82A}">
                    <a16:rowId xmlns:a16="http://schemas.microsoft.com/office/drawing/2014/main" val="10002"/>
                  </a:ext>
                </a:extLst>
              </a:tr>
              <a:tr h="816769">
                <a:tc>
                  <a:txBody>
                    <a:bodyPr/>
                    <a:lstStyle/>
                    <a:p>
                      <a:r>
                        <a:rPr sz="1875" b="0">
                          <a:solidFill>
                            <a:srgbClr val="253642"/>
                          </a:solidFill>
                          <a:latin typeface="DejaVu Sans"/>
                          <a:ea typeface="DejaVu Sans"/>
                          <a:cs typeface="DejaVu Sans"/>
                        </a:rPr>
                        <a:t>Young children</a:t>
                      </a:r>
                    </a:p>
                  </a:txBody>
                  <a:tcPr anchor="ctr">
                    <a:solidFill>
                      <a:srgbClr val="FFFFFF"/>
                    </a:solidFill>
                  </a:tcPr>
                </a:tc>
                <a:tc>
                  <a:txBody>
                    <a:bodyPr/>
                    <a:lstStyle/>
                    <a:p>
                      <a:r>
                        <a:rPr sz="1875" b="0">
                          <a:solidFill>
                            <a:srgbClr val="253642"/>
                          </a:solidFill>
                          <a:latin typeface="DejaVu Sans"/>
                          <a:ea typeface="DejaVu Sans"/>
                          <a:cs typeface="DejaVu Sans"/>
                        </a:rPr>
                        <a:t>Weak response below age 2 years</a:t>
                      </a:r>
                    </a:p>
                  </a:txBody>
                  <a:tcPr anchor="ctr">
                    <a:solidFill>
                      <a:srgbClr val="FFFFFF"/>
                    </a:solidFill>
                  </a:tcPr>
                </a:tc>
                <a:tc>
                  <a:txBody>
                    <a:bodyPr/>
                    <a:lstStyle/>
                    <a:p>
                      <a:r>
                        <a:rPr sz="1875" b="0">
                          <a:solidFill>
                            <a:srgbClr val="253642"/>
                          </a:solidFill>
                          <a:latin typeface="DejaVu Sans"/>
                          <a:ea typeface="DejaVu Sans"/>
                          <a:cs typeface="DejaVu Sans"/>
                        </a:rPr>
                        <a:t>Effective responses in infancy</a:t>
                      </a:r>
                    </a:p>
                  </a:txBody>
                  <a:tcPr anchor="ctr">
                    <a:solidFill>
                      <a:srgbClr val="FFFFFF"/>
                    </a:solidFill>
                  </a:tcPr>
                </a:tc>
                <a:extLst>
                  <a:ext uri="{0D108BD9-81ED-4DB2-BD59-A6C34878D82A}">
                    <a16:rowId xmlns:a16="http://schemas.microsoft.com/office/drawing/2014/main" val="10003"/>
                  </a:ext>
                </a:extLst>
              </a:tr>
              <a:tr h="816769">
                <a:tc>
                  <a:txBody>
                    <a:bodyPr/>
                    <a:lstStyle/>
                    <a:p>
                      <a:r>
                        <a:rPr sz="1875" b="0">
                          <a:solidFill>
                            <a:srgbClr val="253642"/>
                          </a:solidFill>
                          <a:latin typeface="DejaVu Sans"/>
                          <a:ea typeface="DejaVu Sans"/>
                          <a:cs typeface="DejaVu Sans"/>
                        </a:rPr>
                        <a:t>Examples</a:t>
                      </a:r>
                    </a:p>
                  </a:txBody>
                  <a:tcPr anchor="ctr">
                    <a:solidFill>
                      <a:srgbClr val="FFFFFF"/>
                    </a:solidFill>
                  </a:tcPr>
                </a:tc>
                <a:tc>
                  <a:txBody>
                    <a:bodyPr/>
                    <a:lstStyle/>
                    <a:p>
                      <a:r>
                        <a:rPr sz="1875" b="0">
                          <a:solidFill>
                            <a:srgbClr val="253642"/>
                          </a:solidFill>
                          <a:latin typeface="DejaVu Sans"/>
                          <a:ea typeface="DejaVu Sans"/>
                          <a:cs typeface="DejaVu Sans"/>
                        </a:rPr>
                        <a:t>PPSV23; Vi typhoid vaccine</a:t>
                      </a:r>
                    </a:p>
                  </a:txBody>
                  <a:tcPr anchor="ctr">
                    <a:solidFill>
                      <a:srgbClr val="FFFFFF"/>
                    </a:solidFill>
                  </a:tcPr>
                </a:tc>
                <a:tc>
                  <a:txBody>
                    <a:bodyPr/>
                    <a:lstStyle/>
                    <a:p>
                      <a:r>
                        <a:rPr sz="1875" b="0">
                          <a:solidFill>
                            <a:srgbClr val="253642"/>
                          </a:solidFill>
                          <a:latin typeface="DejaVu Sans"/>
                          <a:ea typeface="DejaVu Sans"/>
                          <a:cs typeface="DejaVu Sans"/>
                        </a:rPr>
                        <a:t>Hib; PCV; MenACWY</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text-4">
            <a:extLst>
              <a:ext uri="{FF2B5EF4-FFF2-40B4-BE49-F238E27FC236}">
                <a16:creationId xmlns:a16="http://schemas.microsoft.com/office/drawing/2014/main" id="{1EE93036-6BD2-42F7-8002-D4A6BAE56587}"/>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Conjugation improves the response and immune memory.</a:t>
            </a:r>
          </a:p>
        </p:txBody>
      </p:sp>
    </p:spTree>
    <p:extLst>
      <p:ext uri="{BB962C8B-B14F-4D97-AF65-F5344CB8AC3E}">
        <p14:creationId xmlns:p14="http://schemas.microsoft.com/office/powerpoint/2010/main" val="792148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7925AAC-9250-42A6-A83A-5DFEA8DB7CD2}"/>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D1AB1EF8-B869-4123-A295-27881C0463F2}"/>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01 / PRINCIPLES OF IMMUNITY</a:t>
            </a:r>
          </a:p>
        </p:txBody>
      </p:sp>
      <p:sp>
        <p:nvSpPr>
          <p:cNvPr id="3" name="text-1">
            <a:extLst>
              <a:ext uri="{FF2B5EF4-FFF2-40B4-BE49-F238E27FC236}">
                <a16:creationId xmlns:a16="http://schemas.microsoft.com/office/drawing/2014/main" id="{132D0551-3711-4979-B0B3-BD5D65BAD0DD}"/>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Safe vaccination practice</a:t>
            </a:r>
          </a:p>
        </p:txBody>
      </p:sp>
      <p:sp>
        <p:nvSpPr>
          <p:cNvPr id="4" name="text-2">
            <a:extLst>
              <a:ext uri="{FF2B5EF4-FFF2-40B4-BE49-F238E27FC236}">
                <a16:creationId xmlns:a16="http://schemas.microsoft.com/office/drawing/2014/main" id="{2089D3C9-E9AF-4095-B30B-C036A525F4B0}"/>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00962310-1D0E-4CC3-B99B-A611AF418780}"/>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13</a:t>
            </a:r>
          </a:p>
        </p:txBody>
      </p:sp>
      <p:sp>
        <p:nvSpPr>
          <p:cNvPr id="6" name="text-4">
            <a:extLst>
              <a:ext uri="{FF2B5EF4-FFF2-40B4-BE49-F238E27FC236}">
                <a16:creationId xmlns:a16="http://schemas.microsoft.com/office/drawing/2014/main" id="{A10149B7-5B4B-4A65-8265-56A57C2A88F4}"/>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Check the record, age, health status, and vaccine-specific precautions.</a:t>
            </a:r>
          </a:p>
          <a:p>
            <a:pPr marL="381000" indent="-254000" algn="l">
              <a:spcAft>
                <a:spcPts val="1700"/>
              </a:spcAft>
              <a:buChar char="•"/>
              <a:defRPr sz="2175" b="0">
                <a:solidFill>
                  <a:srgbClr val="253642"/>
                </a:solidFill>
                <a:latin typeface="DejaVu Sans"/>
                <a:ea typeface="DejaVu Sans"/>
                <a:cs typeface="DejaVu Sans"/>
              </a:defRPr>
            </a:pPr>
            <a:r>
              <a:t>A severe allergic reaction to a previous dose or component requires assessment.</a:t>
            </a:r>
          </a:p>
          <a:p>
            <a:pPr marL="381000" indent="-254000" algn="l">
              <a:spcAft>
                <a:spcPts val="1700"/>
              </a:spcAft>
              <a:buChar char="•"/>
              <a:defRPr sz="2175" b="0">
                <a:solidFill>
                  <a:srgbClr val="253642"/>
                </a:solidFill>
                <a:latin typeface="DejaVu Sans"/>
                <a:ea typeface="DejaVu Sans"/>
                <a:cs typeface="DejaVu Sans"/>
              </a:defRPr>
            </a:pPr>
            <a:r>
              <a:t>Use the correct product, dose, route, and schedule.</a:t>
            </a:r>
          </a:p>
          <a:p>
            <a:pPr marL="381000" indent="-254000" algn="l">
              <a:spcAft>
                <a:spcPts val="1700"/>
              </a:spcAft>
              <a:buChar char="•"/>
              <a:defRPr sz="2175" b="0">
                <a:solidFill>
                  <a:srgbClr val="253642"/>
                </a:solidFill>
                <a:latin typeface="DejaVu Sans"/>
                <a:ea typeface="DejaVu Sans"/>
                <a:cs typeface="DejaVu Sans"/>
              </a:defRPr>
            </a:pPr>
            <a:r>
              <a:t>Maintain the required cold chain and document each dose.</a:t>
            </a:r>
          </a:p>
        </p:txBody>
      </p:sp>
      <p:sp>
        <p:nvSpPr>
          <p:cNvPr id="7" name="text-5">
            <a:extLst>
              <a:ext uri="{FF2B5EF4-FFF2-40B4-BE49-F238E27FC236}">
                <a16:creationId xmlns:a16="http://schemas.microsoft.com/office/drawing/2014/main" id="{64BE88C4-4E4A-4BB4-96AF-F67C90198B6E}"/>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Eligibility and storage requirements depend on the specific vaccine.</a:t>
            </a:r>
          </a:p>
        </p:txBody>
      </p:sp>
    </p:spTree>
    <p:extLst>
      <p:ext uri="{BB962C8B-B14F-4D97-AF65-F5344CB8AC3E}">
        <p14:creationId xmlns:p14="http://schemas.microsoft.com/office/powerpoint/2010/main" val="41406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24F093D-2AAB-4F5C-A924-3F85871203DF}"/>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B3BFAB04-E6F2-419E-B57A-B43ABF1BDABA}"/>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15C46B89-C03F-436A-9248-A3027F95C8F5}"/>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An EMS approach to suspected infection</a:t>
            </a:r>
          </a:p>
        </p:txBody>
      </p:sp>
      <p:sp>
        <p:nvSpPr>
          <p:cNvPr id="4" name="text-2">
            <a:extLst>
              <a:ext uri="{FF2B5EF4-FFF2-40B4-BE49-F238E27FC236}">
                <a16:creationId xmlns:a16="http://schemas.microsoft.com/office/drawing/2014/main" id="{34B8120F-BC59-42AF-B6F0-CD35D2FA6318}"/>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DE2A165A-34FF-41CC-B3EA-CD8A2633AE8D}"/>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14</a:t>
            </a:r>
          </a:p>
        </p:txBody>
      </p:sp>
      <p:sp>
        <p:nvSpPr>
          <p:cNvPr id="6" name="text-4">
            <a:extLst>
              <a:ext uri="{FF2B5EF4-FFF2-40B4-BE49-F238E27FC236}">
                <a16:creationId xmlns:a16="http://schemas.microsoft.com/office/drawing/2014/main" id="{06C31D5B-84DA-41FC-B297-E89D8BDD1BAA}"/>
              </a:ext>
            </a:extLst>
          </p:cNvPr>
          <p:cNvSpPr>
            <a:spLocks noGrp="1"/>
          </p:cNvSpPr>
          <p:nvPr/>
        </p:nvSpPr>
        <p:spPr>
          <a:xfrm>
            <a:off x="571500" y="1695450"/>
            <a:ext cx="10858500" cy="361950"/>
          </a:xfrm>
          <a:prstGeom prst="rect">
            <a:avLst/>
          </a:prstGeom>
          <a:noFill/>
          <a:ln w="0">
            <a:noFill/>
          </a:ln>
        </p:spPr>
        <p:txBody>
          <a:bodyPr wrap="square" lIns="0" tIns="0" rIns="0" bIns="0" anchor="t">
            <a:noAutofit/>
          </a:bodyPr>
          <a:lstStyle>
            <a:defPPr algn="l">
              <a:defRPr sz="2175" b="1">
                <a:solidFill>
                  <a:srgbClr val="007FAE"/>
                </a:solidFill>
                <a:latin typeface="DejaVu Sans"/>
                <a:ea typeface="DejaVu Sans"/>
                <a:cs typeface="DejaVu Sans"/>
              </a:defRPr>
            </a:defPPr>
          </a:lstStyle>
          <a:p>
            <a:pPr algn="l">
              <a:defRPr sz="2175" b="1">
                <a:solidFill>
                  <a:srgbClr val="007FAE"/>
                </a:solidFill>
                <a:latin typeface="DejaVu Sans"/>
                <a:ea typeface="DejaVu Sans"/>
                <a:cs typeface="DejaVu Sans"/>
              </a:defRPr>
            </a:pPr>
            <a:r>
              <a:rPr sz="2175" b="1">
                <a:solidFill>
                  <a:srgbClr val="007FAE"/>
                </a:solidFill>
                <a:latin typeface="DejaVu Sans"/>
                <a:ea typeface="DejaVu Sans"/>
                <a:cs typeface="DejaVu Sans"/>
              </a:rPr>
              <a:t>1. Recognize and assess</a:t>
            </a:r>
          </a:p>
        </p:txBody>
      </p:sp>
      <p:sp>
        <p:nvSpPr>
          <p:cNvPr id="7" name="text-5">
            <a:extLst>
              <a:ext uri="{FF2B5EF4-FFF2-40B4-BE49-F238E27FC236}">
                <a16:creationId xmlns:a16="http://schemas.microsoft.com/office/drawing/2014/main" id="{419EC5E1-CAD7-4912-B13F-F942B6A28A81}"/>
              </a:ext>
            </a:extLst>
          </p:cNvPr>
          <p:cNvSpPr>
            <a:spLocks noGrp="1"/>
          </p:cNvSpPr>
          <p:nvPr/>
        </p:nvSpPr>
        <p:spPr>
          <a:xfrm>
            <a:off x="571500" y="2105025"/>
            <a:ext cx="10858500" cy="742950"/>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algn="l">
              <a:defRPr sz="2100" b="0">
                <a:solidFill>
                  <a:srgbClr val="253642"/>
                </a:solidFill>
                <a:latin typeface="DejaVu Sans"/>
                <a:ea typeface="DejaVu Sans"/>
                <a:cs typeface="DejaVu Sans"/>
              </a:defRPr>
            </a:pPr>
            <a:r>
              <a:rPr sz="2100" b="0">
                <a:solidFill>
                  <a:srgbClr val="253642"/>
                </a:solidFill>
                <a:latin typeface="DejaVu Sans"/>
                <a:ea typeface="DejaVu Sans"/>
                <a:cs typeface="DejaVu Sans"/>
              </a:rPr>
              <a:t>Use the history, symptoms, and ABCDE assessment.</a:t>
            </a:r>
          </a:p>
        </p:txBody>
      </p:sp>
      <p:sp>
        <p:nvSpPr>
          <p:cNvPr id="8" name="text-6">
            <a:extLst>
              <a:ext uri="{FF2B5EF4-FFF2-40B4-BE49-F238E27FC236}">
                <a16:creationId xmlns:a16="http://schemas.microsoft.com/office/drawing/2014/main" id="{D2F39DC0-7739-4F77-8642-CBB434CA0A8C}"/>
              </a:ext>
            </a:extLst>
          </p:cNvPr>
          <p:cNvSpPr>
            <a:spLocks noGrp="1"/>
          </p:cNvSpPr>
          <p:nvPr/>
        </p:nvSpPr>
        <p:spPr>
          <a:xfrm>
            <a:off x="571500" y="2962275"/>
            <a:ext cx="10858500" cy="361950"/>
          </a:xfrm>
          <a:prstGeom prst="rect">
            <a:avLst/>
          </a:prstGeom>
          <a:noFill/>
          <a:ln w="0">
            <a:noFill/>
          </a:ln>
        </p:spPr>
        <p:txBody>
          <a:bodyPr wrap="square" lIns="0" tIns="0" rIns="0" bIns="0" anchor="t">
            <a:noAutofit/>
          </a:bodyPr>
          <a:lstStyle>
            <a:defPPr algn="l">
              <a:defRPr sz="2175" b="1">
                <a:solidFill>
                  <a:srgbClr val="007FAE"/>
                </a:solidFill>
                <a:latin typeface="DejaVu Sans"/>
                <a:ea typeface="DejaVu Sans"/>
                <a:cs typeface="DejaVu Sans"/>
              </a:defRPr>
            </a:defPPr>
          </a:lstStyle>
          <a:p>
            <a:pPr algn="l">
              <a:defRPr sz="2175" b="1">
                <a:solidFill>
                  <a:srgbClr val="007FAE"/>
                </a:solidFill>
                <a:latin typeface="DejaVu Sans"/>
                <a:ea typeface="DejaVu Sans"/>
                <a:cs typeface="DejaVu Sans"/>
              </a:defRPr>
            </a:pPr>
            <a:r>
              <a:rPr sz="2175" b="1">
                <a:solidFill>
                  <a:srgbClr val="007FAE"/>
                </a:solidFill>
                <a:latin typeface="DejaVu Sans"/>
                <a:ea typeface="DejaVu Sans"/>
                <a:cs typeface="DejaVu Sans"/>
              </a:rPr>
              <a:t>2. Protect</a:t>
            </a:r>
          </a:p>
        </p:txBody>
      </p:sp>
      <p:sp>
        <p:nvSpPr>
          <p:cNvPr id="9" name="text-7">
            <a:extLst>
              <a:ext uri="{FF2B5EF4-FFF2-40B4-BE49-F238E27FC236}">
                <a16:creationId xmlns:a16="http://schemas.microsoft.com/office/drawing/2014/main" id="{FC92BBB3-675B-4B23-8514-63312E1147A6}"/>
              </a:ext>
            </a:extLst>
          </p:cNvPr>
          <p:cNvSpPr>
            <a:spLocks noGrp="1"/>
          </p:cNvSpPr>
          <p:nvPr/>
        </p:nvSpPr>
        <p:spPr>
          <a:xfrm>
            <a:off x="571500" y="3371850"/>
            <a:ext cx="10858500" cy="742950"/>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algn="l">
              <a:defRPr sz="2100" b="0">
                <a:solidFill>
                  <a:srgbClr val="253642"/>
                </a:solidFill>
                <a:latin typeface="DejaVu Sans"/>
                <a:ea typeface="DejaVu Sans"/>
                <a:cs typeface="DejaVu Sans"/>
              </a:defRPr>
            </a:pPr>
            <a:r>
              <a:rPr sz="2100" b="0">
                <a:solidFill>
                  <a:srgbClr val="253642"/>
                </a:solidFill>
                <a:latin typeface="DejaVu Sans"/>
                <a:ea typeface="DejaVu Sans"/>
                <a:cs typeface="DejaVu Sans"/>
              </a:rPr>
              <a:t>Apply Standard Precautions and add route-specific precautions.</a:t>
            </a:r>
          </a:p>
        </p:txBody>
      </p:sp>
      <p:sp>
        <p:nvSpPr>
          <p:cNvPr id="10" name="text-8">
            <a:extLst>
              <a:ext uri="{FF2B5EF4-FFF2-40B4-BE49-F238E27FC236}">
                <a16:creationId xmlns:a16="http://schemas.microsoft.com/office/drawing/2014/main" id="{90273AF4-D3B5-4D39-8FA0-EA40F473091A}"/>
              </a:ext>
            </a:extLst>
          </p:cNvPr>
          <p:cNvSpPr>
            <a:spLocks noGrp="1"/>
          </p:cNvSpPr>
          <p:nvPr/>
        </p:nvSpPr>
        <p:spPr>
          <a:xfrm>
            <a:off x="571500" y="4229100"/>
            <a:ext cx="10858500" cy="361950"/>
          </a:xfrm>
          <a:prstGeom prst="rect">
            <a:avLst/>
          </a:prstGeom>
          <a:noFill/>
          <a:ln w="0">
            <a:noFill/>
          </a:ln>
        </p:spPr>
        <p:txBody>
          <a:bodyPr wrap="square" lIns="0" tIns="0" rIns="0" bIns="0" anchor="t">
            <a:noAutofit/>
          </a:bodyPr>
          <a:lstStyle>
            <a:defPPr algn="l">
              <a:defRPr sz="2175" b="1">
                <a:solidFill>
                  <a:srgbClr val="007FAE"/>
                </a:solidFill>
                <a:latin typeface="DejaVu Sans"/>
                <a:ea typeface="DejaVu Sans"/>
                <a:cs typeface="DejaVu Sans"/>
              </a:defRPr>
            </a:defPPr>
          </a:lstStyle>
          <a:p>
            <a:pPr algn="l">
              <a:defRPr sz="2175" b="1">
                <a:solidFill>
                  <a:srgbClr val="007FAE"/>
                </a:solidFill>
                <a:latin typeface="DejaVu Sans"/>
                <a:ea typeface="DejaVu Sans"/>
                <a:cs typeface="DejaVu Sans"/>
              </a:defRPr>
            </a:pPr>
            <a:r>
              <a:rPr sz="2175" b="1">
                <a:solidFill>
                  <a:srgbClr val="007FAE"/>
                </a:solidFill>
                <a:latin typeface="DejaVu Sans"/>
                <a:ea typeface="DejaVu Sans"/>
                <a:cs typeface="DejaVu Sans"/>
              </a:rPr>
              <a:t>3. Stabilize and communicate</a:t>
            </a:r>
          </a:p>
        </p:txBody>
      </p:sp>
      <p:sp>
        <p:nvSpPr>
          <p:cNvPr id="11" name="text-9">
            <a:extLst>
              <a:ext uri="{FF2B5EF4-FFF2-40B4-BE49-F238E27FC236}">
                <a16:creationId xmlns:a16="http://schemas.microsoft.com/office/drawing/2014/main" id="{909B4392-1716-4B58-90C4-52789E0E1952}"/>
              </a:ext>
            </a:extLst>
          </p:cNvPr>
          <p:cNvSpPr>
            <a:spLocks noGrp="1"/>
          </p:cNvSpPr>
          <p:nvPr/>
        </p:nvSpPr>
        <p:spPr>
          <a:xfrm>
            <a:off x="571500" y="4638675"/>
            <a:ext cx="10858500" cy="742950"/>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algn="l">
              <a:defRPr sz="2100" b="0">
                <a:solidFill>
                  <a:srgbClr val="253642"/>
                </a:solidFill>
                <a:latin typeface="DejaVu Sans"/>
                <a:ea typeface="DejaVu Sans"/>
                <a:cs typeface="DejaVu Sans"/>
              </a:defRPr>
            </a:pPr>
            <a:r>
              <a:rPr sz="2100" b="0">
                <a:solidFill>
                  <a:srgbClr val="253642"/>
                </a:solidFill>
                <a:latin typeface="DejaVu Sans"/>
                <a:ea typeface="DejaVu Sans"/>
                <a:cs typeface="DejaVu Sans"/>
              </a:rPr>
              <a:t>Treat immediate threats, pre-alert the hospital, and report exposures.</a:t>
            </a:r>
          </a:p>
        </p:txBody>
      </p:sp>
      <p:sp>
        <p:nvSpPr>
          <p:cNvPr id="12" name="text-10">
            <a:extLst>
              <a:ext uri="{FF2B5EF4-FFF2-40B4-BE49-F238E27FC236}">
                <a16:creationId xmlns:a16="http://schemas.microsoft.com/office/drawing/2014/main" id="{97568BFB-F967-490B-9571-FA1DFAEA85A6}"/>
              </a:ext>
            </a:extLst>
          </p:cNvPr>
          <p:cNvSpPr>
            <a:spLocks noGrp="1"/>
          </p:cNvSpPr>
          <p:nvPr/>
        </p:nvSpPr>
        <p:spPr>
          <a:xfrm>
            <a:off x="571500" y="58102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Use local EMS protocols and occupational-health pathways.</a:t>
            </a:r>
          </a:p>
        </p:txBody>
      </p:sp>
    </p:spTree>
    <p:extLst>
      <p:ext uri="{BB962C8B-B14F-4D97-AF65-F5344CB8AC3E}">
        <p14:creationId xmlns:p14="http://schemas.microsoft.com/office/powerpoint/2010/main" val="141637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3502DD9-941A-4520-8DF1-5E3C6FC78870}"/>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ACCC86FE-A805-45F6-B0D7-5260A8ACF7EA}"/>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DB4B7FDA-C1F2-4048-AB2F-EAFD95F1C794}"/>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Varicella: recognize the pattern</a:t>
            </a:r>
          </a:p>
        </p:txBody>
      </p:sp>
      <p:sp>
        <p:nvSpPr>
          <p:cNvPr id="4" name="text-2">
            <a:extLst>
              <a:ext uri="{FF2B5EF4-FFF2-40B4-BE49-F238E27FC236}">
                <a16:creationId xmlns:a16="http://schemas.microsoft.com/office/drawing/2014/main" id="{58CDAD87-B998-4CF7-BB7E-FF4B369D9398}"/>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E7B3EB32-FBB5-4DD0-86F3-4F3E31420BB9}"/>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15</a:t>
            </a:r>
          </a:p>
        </p:txBody>
      </p:sp>
      <p:sp>
        <p:nvSpPr>
          <p:cNvPr id="6" name="text-4">
            <a:extLst>
              <a:ext uri="{FF2B5EF4-FFF2-40B4-BE49-F238E27FC236}">
                <a16:creationId xmlns:a16="http://schemas.microsoft.com/office/drawing/2014/main" id="{7C64164E-415B-48CE-8C1E-28F2F976692A}"/>
              </a:ext>
            </a:extLst>
          </p:cNvPr>
          <p:cNvSpPr>
            <a:spLocks noGrp="1"/>
          </p:cNvSpPr>
          <p:nvPr/>
        </p:nvSpPr>
        <p:spPr>
          <a:xfrm>
            <a:off x="571500" y="1685925"/>
            <a:ext cx="6191250" cy="3800475"/>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marL="381000" indent="-254000" algn="l">
              <a:spcAft>
                <a:spcPts val="1300"/>
              </a:spcAft>
              <a:buChar char="•"/>
              <a:defRPr sz="2100" b="0">
                <a:solidFill>
                  <a:srgbClr val="253642"/>
                </a:solidFill>
                <a:latin typeface="DejaVu Sans"/>
                <a:ea typeface="DejaVu Sans"/>
                <a:cs typeface="DejaVu Sans"/>
              </a:defRPr>
            </a:pPr>
            <a:r>
              <a:t>Chickenpox is the primary infection with varicella-zoster virus (VZV).</a:t>
            </a:r>
          </a:p>
          <a:p>
            <a:pPr marL="381000" indent="-254000" algn="l">
              <a:spcAft>
                <a:spcPts val="1300"/>
              </a:spcAft>
              <a:buChar char="•"/>
              <a:defRPr sz="2100" b="0">
                <a:solidFill>
                  <a:srgbClr val="253642"/>
                </a:solidFill>
                <a:latin typeface="DejaVu Sans"/>
                <a:ea typeface="DejaVu Sans"/>
                <a:cs typeface="DejaVu Sans"/>
              </a:defRPr>
            </a:pPr>
            <a:r>
              <a:t>An itchy rash develops in crops: spots, blisters, and crusts may coexist.</a:t>
            </a:r>
          </a:p>
          <a:p>
            <a:pPr marL="381000" indent="-254000" algn="l">
              <a:spcAft>
                <a:spcPts val="1300"/>
              </a:spcAft>
              <a:buChar char="•"/>
              <a:defRPr sz="2100" b="0">
                <a:solidFill>
                  <a:srgbClr val="253642"/>
                </a:solidFill>
                <a:latin typeface="DejaVu Sans"/>
                <a:ea typeface="DejaVu Sans"/>
                <a:cs typeface="DejaVu Sans"/>
              </a:defRPr>
            </a:pPr>
            <a:r>
              <a:t>Complications include skin infection, pneumonia, and encephalitis.</a:t>
            </a:r>
          </a:p>
        </p:txBody>
      </p:sp>
      <p:pic>
        <p:nvPicPr>
          <p:cNvPr id="7" name="Picture 6">
            <a:extLst>
              <a:ext uri="{FF2B5EF4-FFF2-40B4-BE49-F238E27FC236}">
                <a16:creationId xmlns:a16="http://schemas.microsoft.com/office/drawing/2014/main" id="{0D6FD332-9700-4F54-B1E4-4B4F1A68DBB3}"/>
              </a:ext>
            </a:extLst>
          </p:cNvPr>
          <p:cNvPicPr>
            <a:picLocks noChangeAspect="1"/>
          </p:cNvPicPr>
          <p:nvPr/>
        </p:nvPicPr>
        <p:blipFill>
          <a:blip r:embed="rId4"/>
          <a:stretch/>
        </p:blipFill>
        <p:spPr>
          <a:xfrm>
            <a:off x="8213231" y="1666875"/>
            <a:ext cx="2337788" cy="3476625"/>
          </a:xfrm>
          <a:prstGeom prst="rect">
            <a:avLst/>
          </a:prstGeom>
        </p:spPr>
      </p:pic>
      <p:sp>
        <p:nvSpPr>
          <p:cNvPr id="8" name="text-5">
            <a:extLst>
              <a:ext uri="{FF2B5EF4-FFF2-40B4-BE49-F238E27FC236}">
                <a16:creationId xmlns:a16="http://schemas.microsoft.com/office/drawing/2014/main" id="{67DE5423-2BC6-4B9B-AB98-2069A476E2F7}"/>
              </a:ext>
            </a:extLst>
          </p:cNvPr>
          <p:cNvSpPr>
            <a:spLocks noGrp="1"/>
          </p:cNvSpPr>
          <p:nvPr/>
        </p:nvSpPr>
        <p:spPr>
          <a:xfrm>
            <a:off x="7143750" y="5305425"/>
            <a:ext cx="4476750" cy="552450"/>
          </a:xfrm>
          <a:prstGeom prst="rect">
            <a:avLst/>
          </a:prstGeom>
          <a:noFill/>
          <a:ln w="0">
            <a:noFill/>
          </a:ln>
        </p:spPr>
        <p:txBody>
          <a:bodyPr wrap="square" lIns="0" tIns="0" rIns="0" bIns="0" anchor="t">
            <a:noAutofit/>
          </a:bodyPr>
          <a:lstStyle>
            <a:defPPr algn="l">
              <a:defRPr sz="1500" b="0">
                <a:solidFill>
                  <a:srgbClr val="566B78"/>
                </a:solidFill>
                <a:latin typeface="DejaVu Sans"/>
                <a:ea typeface="DejaVu Sans"/>
                <a:cs typeface="DejaVu Sans"/>
              </a:defRPr>
            </a:defPPr>
          </a:lstStyle>
          <a:p>
            <a:pPr algn="l">
              <a:defRPr sz="1500" b="0">
                <a:solidFill>
                  <a:srgbClr val="566B78"/>
                </a:solidFill>
                <a:latin typeface="DejaVu Sans"/>
                <a:ea typeface="DejaVu Sans"/>
                <a:cs typeface="DejaVu Sans"/>
              </a:defRPr>
            </a:pPr>
            <a:r>
              <a:rPr sz="1500" b="0">
                <a:solidFill>
                  <a:srgbClr val="566B78"/>
                </a:solidFill>
                <a:latin typeface="DejaVu Sans"/>
                <a:ea typeface="DejaVu Sans"/>
                <a:cs typeface="DejaVu Sans"/>
              </a:rPr>
              <a:t>Notice lesions at different stages on the same patient.</a:t>
            </a:r>
          </a:p>
        </p:txBody>
      </p:sp>
      <p:sp>
        <p:nvSpPr>
          <p:cNvPr id="9" name="text-6">
            <a:extLst>
              <a:ext uri="{FF2B5EF4-FFF2-40B4-BE49-F238E27FC236}">
                <a16:creationId xmlns:a16="http://schemas.microsoft.com/office/drawing/2014/main" id="{B99B9EC6-A2F4-4A52-A41C-B45A4CF4D942}"/>
              </a:ext>
            </a:extLst>
          </p:cNvPr>
          <p:cNvSpPr>
            <a:spLocks noGrp="1"/>
          </p:cNvSpPr>
          <p:nvPr/>
        </p:nvSpPr>
        <p:spPr>
          <a:xfrm>
            <a:off x="7143750" y="6000750"/>
            <a:ext cx="4476750" cy="209550"/>
          </a:xfrm>
          <a:prstGeom prst="rect">
            <a:avLst/>
          </a:prstGeom>
          <a:noFill/>
          <a:ln w="0">
            <a:noFill/>
          </a:ln>
        </p:spPr>
        <p:txBody>
          <a:bodyPr wrap="square" lIns="0" tIns="0" rIns="0" bIns="0" anchor="t">
            <a:noAutofit/>
          </a:bodyPr>
          <a:lstStyle>
            <a:defPPr algn="l">
              <a:defRPr sz="975" b="0">
                <a:solidFill>
                  <a:srgbClr val="566B78"/>
                </a:solidFill>
                <a:latin typeface="DejaVu Sans"/>
                <a:ea typeface="DejaVu Sans"/>
                <a:cs typeface="DejaVu Sans"/>
              </a:defRPr>
            </a:defPPr>
          </a:lstStyle>
          <a:p>
            <a:pPr algn="l">
              <a:defRPr sz="975" b="0">
                <a:solidFill>
                  <a:srgbClr val="566B78"/>
                </a:solidFill>
                <a:latin typeface="DejaVu Sans"/>
                <a:ea typeface="DejaVu Sans"/>
                <a:cs typeface="DejaVu Sans"/>
              </a:defRPr>
            </a:pPr>
            <a:r>
              <a:rPr sz="975" b="0">
                <a:solidFill>
                  <a:srgbClr val="566B78"/>
                </a:solidFill>
                <a:latin typeface="DejaVu Sans"/>
                <a:ea typeface="DejaVu Sans"/>
                <a:cs typeface="DejaVu Sans"/>
              </a:rPr>
              <a:t>Photo: CDC / Public Health Image Library</a:t>
            </a:r>
          </a:p>
        </p:txBody>
      </p:sp>
      <p:sp>
        <p:nvSpPr>
          <p:cNvPr id="10" name="text-7">
            <a:extLst>
              <a:ext uri="{FF2B5EF4-FFF2-40B4-BE49-F238E27FC236}">
                <a16:creationId xmlns:a16="http://schemas.microsoft.com/office/drawing/2014/main" id="{EA43348D-7DEB-4889-B72A-FC6860C29EFF}"/>
              </a:ext>
            </a:extLst>
          </p:cNvPr>
          <p:cNvSpPr>
            <a:spLocks noGrp="1"/>
          </p:cNvSpPr>
          <p:nvPr/>
        </p:nvSpPr>
        <p:spPr>
          <a:xfrm>
            <a:off x="571500" y="5600700"/>
            <a:ext cx="6191250" cy="72390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Severe illness is more likely in adults, pregnancy, and immunosuppression.</a:t>
            </a:r>
          </a:p>
        </p:txBody>
      </p:sp>
    </p:spTree>
    <p:extLst>
      <p:ext uri="{BB962C8B-B14F-4D97-AF65-F5344CB8AC3E}">
        <p14:creationId xmlns:p14="http://schemas.microsoft.com/office/powerpoint/2010/main" val="726818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E1A78-FE1F-488F-AEC0-1A35263EC384}"/>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0F84EC78-D9D0-4E44-BE7F-80C8B8C22665}"/>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6772B6CA-BF75-47EA-9A86-66E66C8CA62A}"/>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Varicella: spread and prevention</a:t>
            </a:r>
          </a:p>
        </p:txBody>
      </p:sp>
      <p:sp>
        <p:nvSpPr>
          <p:cNvPr id="4" name="text-2">
            <a:extLst>
              <a:ext uri="{FF2B5EF4-FFF2-40B4-BE49-F238E27FC236}">
                <a16:creationId xmlns:a16="http://schemas.microsoft.com/office/drawing/2014/main" id="{2DB56253-BF6D-4C59-936D-98C653C7150F}"/>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9BFDF1BF-20CE-4197-866E-83381456EFB8}"/>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16</a:t>
            </a:r>
          </a:p>
        </p:txBody>
      </p:sp>
      <p:sp>
        <p:nvSpPr>
          <p:cNvPr id="6" name="text-4">
            <a:extLst>
              <a:ext uri="{FF2B5EF4-FFF2-40B4-BE49-F238E27FC236}">
                <a16:creationId xmlns:a16="http://schemas.microsoft.com/office/drawing/2014/main" id="{A42689AA-DA01-45B2-98B8-321CC448076A}"/>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VZV spreads through airborne particles and contact with blister fluid.</a:t>
            </a:r>
          </a:p>
          <a:p>
            <a:pPr marL="381000" indent="-254000" algn="l">
              <a:spcAft>
                <a:spcPts val="1700"/>
              </a:spcAft>
              <a:buChar char="•"/>
              <a:defRPr sz="2175" b="0">
                <a:solidFill>
                  <a:srgbClr val="253642"/>
                </a:solidFill>
                <a:latin typeface="DejaVu Sans"/>
                <a:ea typeface="DejaVu Sans"/>
                <a:cs typeface="DejaVu Sans"/>
              </a:defRPr>
            </a:pPr>
            <a:r>
              <a:t>Use Airborne and Contact Precautions in addition to Standard Precautions.</a:t>
            </a:r>
          </a:p>
          <a:p>
            <a:pPr marL="381000" indent="-254000" algn="l">
              <a:spcAft>
                <a:spcPts val="1700"/>
              </a:spcAft>
              <a:buChar char="•"/>
              <a:defRPr sz="2175" b="0">
                <a:solidFill>
                  <a:srgbClr val="253642"/>
                </a:solidFill>
                <a:latin typeface="DejaVu Sans"/>
                <a:ea typeface="DejaVu Sans"/>
                <a:cs typeface="DejaVu Sans"/>
              </a:defRPr>
            </a:pPr>
            <a:r>
              <a:t>Patients are usually contagious before the rash until all lesions crust.</a:t>
            </a:r>
          </a:p>
          <a:p>
            <a:pPr marL="381000" indent="-254000" algn="l">
              <a:spcAft>
                <a:spcPts val="1700"/>
              </a:spcAft>
              <a:buChar char="•"/>
              <a:defRPr sz="2175" b="0">
                <a:solidFill>
                  <a:srgbClr val="253642"/>
                </a:solidFill>
                <a:latin typeface="DejaVu Sans"/>
                <a:ea typeface="DejaVu Sans"/>
                <a:cs typeface="DejaVu Sans"/>
              </a:defRPr>
            </a:pPr>
            <a:r>
              <a:t>The varicella vaccine is live attenuated and prevents primary infection.</a:t>
            </a:r>
          </a:p>
        </p:txBody>
      </p:sp>
      <p:sp>
        <p:nvSpPr>
          <p:cNvPr id="7" name="text-5">
            <a:extLst>
              <a:ext uri="{FF2B5EF4-FFF2-40B4-BE49-F238E27FC236}">
                <a16:creationId xmlns:a16="http://schemas.microsoft.com/office/drawing/2014/main" id="{BC85E49D-2793-4CE1-A1CD-F2E16CACC6E1}"/>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Cover lesions, limit exposure, and pre-alert the receiving facility.</a:t>
            </a:r>
          </a:p>
        </p:txBody>
      </p:sp>
    </p:spTree>
    <p:extLst>
      <p:ext uri="{BB962C8B-B14F-4D97-AF65-F5344CB8AC3E}">
        <p14:creationId xmlns:p14="http://schemas.microsoft.com/office/powerpoint/2010/main" val="1467649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DB6F351-3B0D-49ED-A2B8-265299ECD0DB}"/>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809E12B2-1419-4C7D-8131-3E8F5B07A607}"/>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39654DC4-4951-46B5-9C95-AFB01BF0C2D8}"/>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dirty="0">
                <a:solidFill>
                  <a:srgbClr val="183344"/>
                </a:solidFill>
                <a:latin typeface="DejaVu Sans"/>
                <a:ea typeface="DejaVu Sans"/>
                <a:cs typeface="DejaVu Sans"/>
              </a:rPr>
              <a:t>Diphtheria: an airway emergency</a:t>
            </a:r>
          </a:p>
        </p:txBody>
      </p:sp>
      <p:sp>
        <p:nvSpPr>
          <p:cNvPr id="4" name="text-2">
            <a:extLst>
              <a:ext uri="{FF2B5EF4-FFF2-40B4-BE49-F238E27FC236}">
                <a16:creationId xmlns:a16="http://schemas.microsoft.com/office/drawing/2014/main" id="{DD875BC2-5AAD-4415-B62B-54DDCF882805}"/>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29D97895-3ECD-455E-9E46-56BEE0DC1ECF}"/>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17</a:t>
            </a:r>
          </a:p>
        </p:txBody>
      </p:sp>
      <p:sp>
        <p:nvSpPr>
          <p:cNvPr id="6" name="text-4">
            <a:extLst>
              <a:ext uri="{FF2B5EF4-FFF2-40B4-BE49-F238E27FC236}">
                <a16:creationId xmlns:a16="http://schemas.microsoft.com/office/drawing/2014/main" id="{07047003-2E41-4395-AA2C-5207EF40D03D}"/>
              </a:ext>
            </a:extLst>
          </p:cNvPr>
          <p:cNvSpPr>
            <a:spLocks noGrp="1"/>
          </p:cNvSpPr>
          <p:nvPr/>
        </p:nvSpPr>
        <p:spPr>
          <a:xfrm>
            <a:off x="571500" y="1685925"/>
            <a:ext cx="6191250" cy="3800475"/>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marL="381000" indent="-254000" algn="l">
              <a:spcAft>
                <a:spcPts val="1300"/>
              </a:spcAft>
              <a:buChar char="•"/>
              <a:defRPr sz="2100" b="0">
                <a:solidFill>
                  <a:srgbClr val="253642"/>
                </a:solidFill>
                <a:latin typeface="DejaVu Sans"/>
                <a:ea typeface="DejaVu Sans"/>
                <a:cs typeface="DejaVu Sans"/>
              </a:defRPr>
            </a:pPr>
            <a:r>
              <a:rPr dirty="0"/>
              <a:t>Toxigenic Corynebacterium diphtheriae can cause severe throat infection.</a:t>
            </a:r>
          </a:p>
          <a:p>
            <a:pPr marL="381000" indent="-254000" algn="l">
              <a:spcAft>
                <a:spcPts val="1300"/>
              </a:spcAft>
              <a:buChar char="•"/>
              <a:defRPr sz="2100" b="0">
                <a:solidFill>
                  <a:srgbClr val="253642"/>
                </a:solidFill>
                <a:latin typeface="DejaVu Sans"/>
                <a:ea typeface="DejaVu Sans"/>
                <a:cs typeface="DejaVu Sans"/>
              </a:defRPr>
            </a:pPr>
            <a:r>
              <a:rPr dirty="0"/>
              <a:t>A thick grey-white </a:t>
            </a:r>
            <a:r>
              <a:rPr dirty="0" err="1"/>
              <a:t>pseudomembrane</a:t>
            </a:r>
            <a:r>
              <a:rPr dirty="0"/>
              <a:t> may obstruct the airway.</a:t>
            </a:r>
          </a:p>
          <a:p>
            <a:pPr marL="381000" indent="-254000" algn="l">
              <a:spcAft>
                <a:spcPts val="1300"/>
              </a:spcAft>
              <a:buChar char="•"/>
              <a:defRPr sz="2100" b="0">
                <a:solidFill>
                  <a:srgbClr val="253642"/>
                </a:solidFill>
                <a:latin typeface="DejaVu Sans"/>
                <a:ea typeface="DejaVu Sans"/>
                <a:cs typeface="DejaVu Sans"/>
              </a:defRPr>
            </a:pPr>
            <a:r>
              <a:rPr dirty="0"/>
              <a:t>Toxin can also damage the heart and peripheral nerves.</a:t>
            </a:r>
          </a:p>
        </p:txBody>
      </p:sp>
      <p:pic>
        <p:nvPicPr>
          <p:cNvPr id="7" name="Picture 6">
            <a:extLst>
              <a:ext uri="{FF2B5EF4-FFF2-40B4-BE49-F238E27FC236}">
                <a16:creationId xmlns:a16="http://schemas.microsoft.com/office/drawing/2014/main" id="{55AB3AFB-1E09-4F1F-9E12-AB1712FE15D8}"/>
              </a:ext>
            </a:extLst>
          </p:cNvPr>
          <p:cNvPicPr>
            <a:picLocks noChangeAspect="1"/>
          </p:cNvPicPr>
          <p:nvPr/>
        </p:nvPicPr>
        <p:blipFill>
          <a:blip r:embed="rId4"/>
          <a:stretch/>
        </p:blipFill>
        <p:spPr>
          <a:xfrm>
            <a:off x="8163069" y="1666875"/>
            <a:ext cx="2438113" cy="3476625"/>
          </a:xfrm>
          <a:prstGeom prst="rect">
            <a:avLst/>
          </a:prstGeom>
        </p:spPr>
      </p:pic>
      <p:sp>
        <p:nvSpPr>
          <p:cNvPr id="8" name="text-5">
            <a:extLst>
              <a:ext uri="{FF2B5EF4-FFF2-40B4-BE49-F238E27FC236}">
                <a16:creationId xmlns:a16="http://schemas.microsoft.com/office/drawing/2014/main" id="{90FDFA37-6276-4107-841B-6084A10F0C75}"/>
              </a:ext>
            </a:extLst>
          </p:cNvPr>
          <p:cNvSpPr>
            <a:spLocks noGrp="1"/>
          </p:cNvSpPr>
          <p:nvPr/>
        </p:nvSpPr>
        <p:spPr>
          <a:xfrm>
            <a:off x="7143750" y="5305425"/>
            <a:ext cx="4476750" cy="552450"/>
          </a:xfrm>
          <a:prstGeom prst="rect">
            <a:avLst/>
          </a:prstGeom>
          <a:noFill/>
          <a:ln w="0">
            <a:noFill/>
          </a:ln>
        </p:spPr>
        <p:txBody>
          <a:bodyPr wrap="square" lIns="0" tIns="0" rIns="0" bIns="0" anchor="t">
            <a:noAutofit/>
          </a:bodyPr>
          <a:lstStyle>
            <a:defPPr algn="l">
              <a:defRPr sz="1500" b="0">
                <a:solidFill>
                  <a:srgbClr val="566B78"/>
                </a:solidFill>
                <a:latin typeface="DejaVu Sans"/>
                <a:ea typeface="DejaVu Sans"/>
                <a:cs typeface="DejaVu Sans"/>
              </a:defRPr>
            </a:defPPr>
          </a:lstStyle>
          <a:p>
            <a:pPr algn="l">
              <a:defRPr sz="1500" b="0">
                <a:solidFill>
                  <a:srgbClr val="566B78"/>
                </a:solidFill>
                <a:latin typeface="DejaVu Sans"/>
                <a:ea typeface="DejaVu Sans"/>
                <a:cs typeface="DejaVu Sans"/>
              </a:defRPr>
            </a:pPr>
            <a:r>
              <a:rPr sz="1500" b="0">
                <a:solidFill>
                  <a:srgbClr val="566B78"/>
                </a:solidFill>
                <a:latin typeface="DejaVu Sans"/>
                <a:ea typeface="DejaVu Sans"/>
                <a:cs typeface="DejaVu Sans"/>
              </a:rPr>
              <a:t>The adherent pseudomembrane is an important warning sign.</a:t>
            </a:r>
          </a:p>
        </p:txBody>
      </p:sp>
      <p:sp>
        <p:nvSpPr>
          <p:cNvPr id="9" name="text-6">
            <a:extLst>
              <a:ext uri="{FF2B5EF4-FFF2-40B4-BE49-F238E27FC236}">
                <a16:creationId xmlns:a16="http://schemas.microsoft.com/office/drawing/2014/main" id="{E025971F-A198-407C-8F8C-246629C42649}"/>
              </a:ext>
            </a:extLst>
          </p:cNvPr>
          <p:cNvSpPr>
            <a:spLocks noGrp="1"/>
          </p:cNvSpPr>
          <p:nvPr/>
        </p:nvSpPr>
        <p:spPr>
          <a:xfrm>
            <a:off x="7143750" y="6000750"/>
            <a:ext cx="4476750" cy="209550"/>
          </a:xfrm>
          <a:prstGeom prst="rect">
            <a:avLst/>
          </a:prstGeom>
          <a:noFill/>
          <a:ln w="0">
            <a:noFill/>
          </a:ln>
        </p:spPr>
        <p:txBody>
          <a:bodyPr wrap="square" lIns="0" tIns="0" rIns="0" bIns="0" anchor="t">
            <a:noAutofit/>
          </a:bodyPr>
          <a:lstStyle>
            <a:defPPr algn="l">
              <a:defRPr sz="975" b="0">
                <a:solidFill>
                  <a:srgbClr val="566B78"/>
                </a:solidFill>
                <a:latin typeface="DejaVu Sans"/>
                <a:ea typeface="DejaVu Sans"/>
                <a:cs typeface="DejaVu Sans"/>
              </a:defRPr>
            </a:defPPr>
          </a:lstStyle>
          <a:p>
            <a:pPr algn="l">
              <a:defRPr sz="975" b="0">
                <a:solidFill>
                  <a:srgbClr val="566B78"/>
                </a:solidFill>
                <a:latin typeface="DejaVu Sans"/>
                <a:ea typeface="DejaVu Sans"/>
                <a:cs typeface="DejaVu Sans"/>
              </a:defRPr>
            </a:pPr>
            <a:r>
              <a:rPr sz="975" b="0">
                <a:solidFill>
                  <a:srgbClr val="566B78"/>
                </a:solidFill>
                <a:latin typeface="DejaVu Sans"/>
                <a:ea typeface="DejaVu Sans"/>
                <a:cs typeface="DejaVu Sans"/>
              </a:rPr>
              <a:t>Photo: Dileepunnikri / Wikimedia / CC BY-SA 3.0</a:t>
            </a:r>
          </a:p>
        </p:txBody>
      </p:sp>
      <p:sp>
        <p:nvSpPr>
          <p:cNvPr id="10" name="text-7">
            <a:extLst>
              <a:ext uri="{FF2B5EF4-FFF2-40B4-BE49-F238E27FC236}">
                <a16:creationId xmlns:a16="http://schemas.microsoft.com/office/drawing/2014/main" id="{256BFAE0-F5B1-4A8A-969B-E634B1013799}"/>
              </a:ext>
            </a:extLst>
          </p:cNvPr>
          <p:cNvSpPr>
            <a:spLocks noGrp="1"/>
          </p:cNvSpPr>
          <p:nvPr/>
        </p:nvSpPr>
        <p:spPr>
          <a:xfrm>
            <a:off x="571500" y="5600700"/>
            <a:ext cx="6191250" cy="72390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Assess airway and breathing promptly; avoid unnecessary throat manipulation.</a:t>
            </a:r>
          </a:p>
        </p:txBody>
      </p:sp>
    </p:spTree>
    <p:extLst>
      <p:ext uri="{BB962C8B-B14F-4D97-AF65-F5344CB8AC3E}">
        <p14:creationId xmlns:p14="http://schemas.microsoft.com/office/powerpoint/2010/main" val="544571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CFD7B9B-B147-403E-BEB3-021EDFD70760}"/>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5AA98F1C-B9BA-48E2-915D-08D7070458DD}"/>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7D7FCC8E-0291-4FA9-A3FD-DF5AD9F212A3}"/>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Diphtheria: treatment and prevention</a:t>
            </a:r>
          </a:p>
        </p:txBody>
      </p:sp>
      <p:sp>
        <p:nvSpPr>
          <p:cNvPr id="4" name="text-2">
            <a:extLst>
              <a:ext uri="{FF2B5EF4-FFF2-40B4-BE49-F238E27FC236}">
                <a16:creationId xmlns:a16="http://schemas.microsoft.com/office/drawing/2014/main" id="{8FDBA8F1-8325-460E-AAF0-70CDBA9B531D}"/>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6DC1B721-EECF-4416-999C-DA1926126A8B}"/>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18</a:t>
            </a:r>
          </a:p>
        </p:txBody>
      </p:sp>
      <p:sp>
        <p:nvSpPr>
          <p:cNvPr id="6" name="text-4">
            <a:extLst>
              <a:ext uri="{FF2B5EF4-FFF2-40B4-BE49-F238E27FC236}">
                <a16:creationId xmlns:a16="http://schemas.microsoft.com/office/drawing/2014/main" id="{43A0069A-0515-4B97-B80D-DCFA7ECFA7A6}"/>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Respiratory spread occurs through droplets and secretions.</a:t>
            </a:r>
          </a:p>
          <a:p>
            <a:pPr marL="381000" indent="-254000" algn="l">
              <a:spcAft>
                <a:spcPts val="1700"/>
              </a:spcAft>
              <a:buChar char="•"/>
              <a:defRPr sz="2175" b="0">
                <a:solidFill>
                  <a:srgbClr val="253642"/>
                </a:solidFill>
                <a:latin typeface="DejaVu Sans"/>
                <a:ea typeface="DejaVu Sans"/>
                <a:cs typeface="DejaVu Sans"/>
              </a:defRPr>
            </a:pPr>
            <a:r>
              <a:t>Suspected respiratory disease requires urgent antibiotics and diphtheria antitoxin.</a:t>
            </a:r>
          </a:p>
          <a:p>
            <a:pPr marL="381000" indent="-254000" algn="l">
              <a:spcAft>
                <a:spcPts val="1700"/>
              </a:spcAft>
              <a:buChar char="•"/>
              <a:defRPr sz="2175" b="0">
                <a:solidFill>
                  <a:srgbClr val="253642"/>
                </a:solidFill>
                <a:latin typeface="DejaVu Sans"/>
                <a:ea typeface="DejaVu Sans"/>
                <a:cs typeface="DejaVu Sans"/>
              </a:defRPr>
            </a:pPr>
            <a:r>
              <a:t>Diphtheria toxoid is included in combination vaccines.</a:t>
            </a:r>
          </a:p>
          <a:p>
            <a:pPr marL="381000" indent="-254000" algn="l">
              <a:spcAft>
                <a:spcPts val="1700"/>
              </a:spcAft>
              <a:buChar char="•"/>
              <a:defRPr sz="2175" b="0">
                <a:solidFill>
                  <a:srgbClr val="253642"/>
                </a:solidFill>
                <a:latin typeface="DejaVu Sans"/>
                <a:ea typeface="DejaVu Sans"/>
                <a:cs typeface="DejaVu Sans"/>
              </a:defRPr>
            </a:pPr>
            <a:r>
              <a:t>DTaP is used in young children; Tdap and Td are used for older age groups as indicated.</a:t>
            </a:r>
          </a:p>
        </p:txBody>
      </p:sp>
      <p:sp>
        <p:nvSpPr>
          <p:cNvPr id="7" name="text-5">
            <a:extLst>
              <a:ext uri="{FF2B5EF4-FFF2-40B4-BE49-F238E27FC236}">
                <a16:creationId xmlns:a16="http://schemas.microsoft.com/office/drawing/2014/main" id="{058F2057-8029-4F85-8F74-0F3363468D80}"/>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Respiratory disease: Droplet Precautions. Cutaneous disease: Contact Precautions.</a:t>
            </a:r>
          </a:p>
        </p:txBody>
      </p:sp>
    </p:spTree>
    <p:extLst>
      <p:ext uri="{BB962C8B-B14F-4D97-AF65-F5344CB8AC3E}">
        <p14:creationId xmlns:p14="http://schemas.microsoft.com/office/powerpoint/2010/main" val="1296617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9E0C-DE55-4292-8910-9A0DDCB89C69}"/>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4A88A09C-F70E-4FD5-A4CD-3895B7F2C03D}"/>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A412AAEC-5564-471E-8C61-4D2CF321F42A}"/>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Hepatitis A: an acute liver infection</a:t>
            </a:r>
          </a:p>
        </p:txBody>
      </p:sp>
      <p:sp>
        <p:nvSpPr>
          <p:cNvPr id="4" name="text-2">
            <a:extLst>
              <a:ext uri="{FF2B5EF4-FFF2-40B4-BE49-F238E27FC236}">
                <a16:creationId xmlns:a16="http://schemas.microsoft.com/office/drawing/2014/main" id="{E1FFB81A-B77F-4C2E-8342-8F514607B845}"/>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A831EAB3-7358-479E-A4FC-452080B1D8B8}"/>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19</a:t>
            </a:r>
          </a:p>
        </p:txBody>
      </p:sp>
      <p:sp>
        <p:nvSpPr>
          <p:cNvPr id="6" name="text-4">
            <a:extLst>
              <a:ext uri="{FF2B5EF4-FFF2-40B4-BE49-F238E27FC236}">
                <a16:creationId xmlns:a16="http://schemas.microsoft.com/office/drawing/2014/main" id="{EBF6A015-2007-47CF-8B58-35B7FB93D134}"/>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Hepatitis A virus spreads mainly by the fecal–oral route.</a:t>
            </a:r>
          </a:p>
          <a:p>
            <a:pPr marL="381000" indent="-254000" algn="l">
              <a:spcAft>
                <a:spcPts val="1700"/>
              </a:spcAft>
              <a:buChar char="•"/>
              <a:defRPr sz="2175" b="0">
                <a:solidFill>
                  <a:srgbClr val="253642"/>
                </a:solidFill>
                <a:latin typeface="DejaVu Sans"/>
                <a:ea typeface="DejaVu Sans"/>
                <a:cs typeface="DejaVu Sans"/>
              </a:defRPr>
            </a:pPr>
            <a:r>
              <a:t>Exposure can occur through contaminated food, water, or close contact.</a:t>
            </a:r>
          </a:p>
          <a:p>
            <a:pPr marL="381000" indent="-254000" algn="l">
              <a:spcAft>
                <a:spcPts val="1700"/>
              </a:spcAft>
              <a:buChar char="•"/>
              <a:defRPr sz="2175" b="0">
                <a:solidFill>
                  <a:srgbClr val="253642"/>
                </a:solidFill>
                <a:latin typeface="DejaVu Sans"/>
                <a:ea typeface="DejaVu Sans"/>
                <a:cs typeface="DejaVu Sans"/>
              </a:defRPr>
            </a:pPr>
            <a:r>
              <a:t>Symptoms may include fatigue, nausea, abdominal discomfort, dark urine, and jaundice.</a:t>
            </a:r>
          </a:p>
          <a:p>
            <a:pPr marL="381000" indent="-254000" algn="l">
              <a:spcAft>
                <a:spcPts val="1700"/>
              </a:spcAft>
              <a:buChar char="•"/>
              <a:defRPr sz="2175" b="0">
                <a:solidFill>
                  <a:srgbClr val="253642"/>
                </a:solidFill>
                <a:latin typeface="DejaVu Sans"/>
                <a:ea typeface="DejaVu Sans"/>
                <a:cs typeface="DejaVu Sans"/>
              </a:defRPr>
            </a:pPr>
            <a:r>
              <a:t>It does not cause chronic infection; treatment is mainly supportive.</a:t>
            </a:r>
          </a:p>
        </p:txBody>
      </p:sp>
      <p:sp>
        <p:nvSpPr>
          <p:cNvPr id="7" name="text-5">
            <a:extLst>
              <a:ext uri="{FF2B5EF4-FFF2-40B4-BE49-F238E27FC236}">
                <a16:creationId xmlns:a16="http://schemas.microsoft.com/office/drawing/2014/main" id="{92F913FA-6EFB-476F-BF3E-2D3A070BA04D}"/>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Prevention combines vaccination, hand hygiene, and safe food and water.</a:t>
            </a:r>
          </a:p>
        </p:txBody>
      </p:sp>
    </p:spTree>
    <p:extLst>
      <p:ext uri="{BB962C8B-B14F-4D97-AF65-F5344CB8AC3E}">
        <p14:creationId xmlns:p14="http://schemas.microsoft.com/office/powerpoint/2010/main" val="693419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37C5C4C-3D44-4859-A2EE-9022DFA6FE6C}"/>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1BB6D0E5-C21D-4600-9382-014CB55E1150}"/>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7CC4F426-9504-4FAE-831B-17545198EE69}"/>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Hepatitis B: blood and body-fluid exposure</a:t>
            </a:r>
          </a:p>
        </p:txBody>
      </p:sp>
      <p:sp>
        <p:nvSpPr>
          <p:cNvPr id="4" name="text-2">
            <a:extLst>
              <a:ext uri="{FF2B5EF4-FFF2-40B4-BE49-F238E27FC236}">
                <a16:creationId xmlns:a16="http://schemas.microsoft.com/office/drawing/2014/main" id="{C97F83AA-F244-462B-8EF2-26B3EB7D48B8}"/>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25DC79EE-33F4-4888-9AAC-4213800F1B4D}"/>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20</a:t>
            </a:r>
          </a:p>
        </p:txBody>
      </p:sp>
      <p:sp>
        <p:nvSpPr>
          <p:cNvPr id="6" name="text-4">
            <a:extLst>
              <a:ext uri="{FF2B5EF4-FFF2-40B4-BE49-F238E27FC236}">
                <a16:creationId xmlns:a16="http://schemas.microsoft.com/office/drawing/2014/main" id="{4441BF60-1E80-427E-9C6E-C1974F472CD0}"/>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HBV spreads through infected blood and certain body fluids, including during birth.</a:t>
            </a:r>
          </a:p>
          <a:p>
            <a:pPr marL="381000" indent="-254000" algn="l">
              <a:spcAft>
                <a:spcPts val="1700"/>
              </a:spcAft>
              <a:buChar char="•"/>
              <a:defRPr sz="2175" b="0">
                <a:solidFill>
                  <a:srgbClr val="253642"/>
                </a:solidFill>
                <a:latin typeface="DejaVu Sans"/>
                <a:ea typeface="DejaVu Sans"/>
                <a:cs typeface="DejaVu Sans"/>
              </a:defRPr>
            </a:pPr>
            <a:r>
              <a:t>Acute infection may be silent or cause fatigue, nausea, and jaundice.</a:t>
            </a:r>
          </a:p>
          <a:p>
            <a:pPr marL="381000" indent="-254000" algn="l">
              <a:spcAft>
                <a:spcPts val="1700"/>
              </a:spcAft>
              <a:buChar char="•"/>
              <a:defRPr sz="2175" b="0">
                <a:solidFill>
                  <a:srgbClr val="253642"/>
                </a:solidFill>
                <a:latin typeface="DejaVu Sans"/>
                <a:ea typeface="DejaVu Sans"/>
                <a:cs typeface="DejaVu Sans"/>
              </a:defRPr>
            </a:pPr>
            <a:r>
              <a:t>Chronic infection can lead to cirrhosis and liver cancer.</a:t>
            </a:r>
          </a:p>
          <a:p>
            <a:pPr marL="381000" indent="-254000" algn="l">
              <a:spcAft>
                <a:spcPts val="1700"/>
              </a:spcAft>
              <a:buChar char="•"/>
              <a:defRPr sz="2175" b="0">
                <a:solidFill>
                  <a:srgbClr val="253642"/>
                </a:solidFill>
                <a:latin typeface="DejaVu Sans"/>
                <a:ea typeface="DejaVu Sans"/>
                <a:cs typeface="DejaVu Sans"/>
              </a:defRPr>
            </a:pPr>
            <a:r>
              <a:t>Chronicity is age-related: about 90% after infant infection versus about 5% after adult infection.</a:t>
            </a:r>
          </a:p>
        </p:txBody>
      </p:sp>
      <p:sp>
        <p:nvSpPr>
          <p:cNvPr id="7" name="text-5">
            <a:extLst>
              <a:ext uri="{FF2B5EF4-FFF2-40B4-BE49-F238E27FC236}">
                <a16:creationId xmlns:a16="http://schemas.microsoft.com/office/drawing/2014/main" id="{9FDCA821-60A0-4D6F-8674-3E0383E9C347}"/>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Most immunocompetent adults recover from acute HBV infection.</a:t>
            </a:r>
          </a:p>
        </p:txBody>
      </p:sp>
    </p:spTree>
    <p:extLst>
      <p:ext uri="{BB962C8B-B14F-4D97-AF65-F5344CB8AC3E}">
        <p14:creationId xmlns:p14="http://schemas.microsoft.com/office/powerpoint/2010/main" val="1346770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84AA7C6-C4F1-4EF1-97FF-30284B30F45D}"/>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57760130-F503-40FB-997E-F9664D4EA033}"/>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818865BA-B9D4-448E-B225-9134140FEA8E}"/>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Hepatitis A and B: compare prevention</a:t>
            </a:r>
          </a:p>
        </p:txBody>
      </p:sp>
      <p:sp>
        <p:nvSpPr>
          <p:cNvPr id="4" name="text-2">
            <a:extLst>
              <a:ext uri="{FF2B5EF4-FFF2-40B4-BE49-F238E27FC236}">
                <a16:creationId xmlns:a16="http://schemas.microsoft.com/office/drawing/2014/main" id="{26B35D32-E01A-42A0-B4D7-42ACBEFD46AF}"/>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569989AE-55DB-4B61-BFB7-55B216FD3C14}"/>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21</a:t>
            </a:r>
          </a:p>
        </p:txBody>
      </p:sp>
      <p:graphicFrame>
        <p:nvGraphicFramePr>
          <p:cNvPr id="6" name="Table 5">
            <a:extLst>
              <a:ext uri="{FF2B5EF4-FFF2-40B4-BE49-F238E27FC236}">
                <a16:creationId xmlns:a16="http://schemas.microsoft.com/office/drawing/2014/main" id="{6EC6B0EC-8EC4-4056-B36F-DF4DF6353003}"/>
              </a:ext>
            </a:extLst>
          </p:cNvPr>
          <p:cNvGraphicFramePr/>
          <p:nvPr/>
        </p:nvGraphicFramePr>
        <p:xfrm>
          <a:off x="571500" y="1609725"/>
          <a:ext cx="11049000" cy="3762376"/>
        </p:xfrm>
        <a:graphic>
          <a:graphicData uri="http://schemas.openxmlformats.org/drawingml/2006/table">
            <a:tbl>
              <a:tblPr/>
              <a:tblGrid>
                <a:gridCol w="2286000">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4524375">
                  <a:extLst>
                    <a:ext uri="{9D8B030D-6E8A-4147-A177-3AD203B41FA5}">
                      <a16:colId xmlns:a16="http://schemas.microsoft.com/office/drawing/2014/main" val="20002"/>
                    </a:ext>
                  </a:extLst>
                </a:gridCol>
              </a:tblGrid>
              <a:tr h="495300">
                <a:tc>
                  <a:txBody>
                    <a:bodyPr/>
                    <a:lstStyle/>
                    <a:p>
                      <a:r>
                        <a:rPr sz="1875" b="1">
                          <a:solidFill>
                            <a:srgbClr val="FFFFFF"/>
                          </a:solidFill>
                          <a:latin typeface="DejaVu Sans"/>
                          <a:ea typeface="DejaVu Sans"/>
                          <a:cs typeface="DejaVu Sans"/>
                        </a:rPr>
                        <a:t>Feature</a:t>
                      </a:r>
                    </a:p>
                  </a:txBody>
                  <a:tcPr anchor="ctr">
                    <a:solidFill>
                      <a:srgbClr val="007FAE"/>
                    </a:solidFill>
                  </a:tcPr>
                </a:tc>
                <a:tc>
                  <a:txBody>
                    <a:bodyPr/>
                    <a:lstStyle/>
                    <a:p>
                      <a:r>
                        <a:rPr sz="1875" b="1">
                          <a:solidFill>
                            <a:srgbClr val="FFFFFF"/>
                          </a:solidFill>
                          <a:latin typeface="DejaVu Sans"/>
                          <a:ea typeface="DejaVu Sans"/>
                          <a:cs typeface="DejaVu Sans"/>
                        </a:rPr>
                        <a:t>Hepatitis A</a:t>
                      </a:r>
                    </a:p>
                  </a:txBody>
                  <a:tcPr anchor="ctr">
                    <a:solidFill>
                      <a:srgbClr val="007FAE"/>
                    </a:solidFill>
                  </a:tcPr>
                </a:tc>
                <a:tc>
                  <a:txBody>
                    <a:bodyPr/>
                    <a:lstStyle/>
                    <a:p>
                      <a:r>
                        <a:rPr sz="1875" b="1">
                          <a:solidFill>
                            <a:srgbClr val="FFFFFF"/>
                          </a:solidFill>
                          <a:latin typeface="DejaVu Sans"/>
                          <a:ea typeface="DejaVu Sans"/>
                          <a:cs typeface="DejaVu Sans"/>
                        </a:rPr>
                        <a:t>Hepatitis B</a:t>
                      </a:r>
                    </a:p>
                  </a:txBody>
                  <a:tcPr anchor="ctr">
                    <a:solidFill>
                      <a:srgbClr val="007FAE"/>
                    </a:solidFill>
                  </a:tcPr>
                </a:tc>
                <a:extLst>
                  <a:ext uri="{0D108BD9-81ED-4DB2-BD59-A6C34878D82A}">
                    <a16:rowId xmlns:a16="http://schemas.microsoft.com/office/drawing/2014/main" val="10000"/>
                  </a:ext>
                </a:extLst>
              </a:tr>
              <a:tr h="816769">
                <a:tc>
                  <a:txBody>
                    <a:bodyPr/>
                    <a:lstStyle/>
                    <a:p>
                      <a:r>
                        <a:rPr sz="1875" b="0">
                          <a:solidFill>
                            <a:srgbClr val="253642"/>
                          </a:solidFill>
                          <a:latin typeface="DejaVu Sans"/>
                          <a:ea typeface="DejaVu Sans"/>
                          <a:cs typeface="DejaVu Sans"/>
                        </a:rPr>
                        <a:t>Main route</a:t>
                      </a:r>
                    </a:p>
                  </a:txBody>
                  <a:tcPr anchor="ctr">
                    <a:solidFill>
                      <a:srgbClr val="FFFFFF"/>
                    </a:solidFill>
                  </a:tcPr>
                </a:tc>
                <a:tc>
                  <a:txBody>
                    <a:bodyPr/>
                    <a:lstStyle/>
                    <a:p>
                      <a:r>
                        <a:rPr sz="1875" b="0">
                          <a:solidFill>
                            <a:srgbClr val="253642"/>
                          </a:solidFill>
                          <a:latin typeface="DejaVu Sans"/>
                          <a:ea typeface="DejaVu Sans"/>
                          <a:cs typeface="DejaVu Sans"/>
                        </a:rPr>
                        <a:t>Fecal–oral</a:t>
                      </a:r>
                    </a:p>
                  </a:txBody>
                  <a:tcPr anchor="ctr">
                    <a:solidFill>
                      <a:srgbClr val="FFFFFF"/>
                    </a:solidFill>
                  </a:tcPr>
                </a:tc>
                <a:tc>
                  <a:txBody>
                    <a:bodyPr/>
                    <a:lstStyle/>
                    <a:p>
                      <a:r>
                        <a:rPr sz="1875" b="0">
                          <a:solidFill>
                            <a:srgbClr val="253642"/>
                          </a:solidFill>
                          <a:latin typeface="DejaVu Sans"/>
                          <a:ea typeface="DejaVu Sans"/>
                          <a:cs typeface="DejaVu Sans"/>
                        </a:rPr>
                        <a:t>Blood and certain body fluids</a:t>
                      </a:r>
                    </a:p>
                  </a:txBody>
                  <a:tcPr anchor="ctr">
                    <a:solidFill>
                      <a:srgbClr val="FFFFFF"/>
                    </a:solidFill>
                  </a:tcPr>
                </a:tc>
                <a:extLst>
                  <a:ext uri="{0D108BD9-81ED-4DB2-BD59-A6C34878D82A}">
                    <a16:rowId xmlns:a16="http://schemas.microsoft.com/office/drawing/2014/main" val="10001"/>
                  </a:ext>
                </a:extLst>
              </a:tr>
              <a:tr h="816769">
                <a:tc>
                  <a:txBody>
                    <a:bodyPr/>
                    <a:lstStyle/>
                    <a:p>
                      <a:r>
                        <a:rPr sz="1875" b="0">
                          <a:solidFill>
                            <a:srgbClr val="253642"/>
                          </a:solidFill>
                          <a:latin typeface="DejaVu Sans"/>
                          <a:ea typeface="DejaVu Sans"/>
                          <a:cs typeface="DejaVu Sans"/>
                        </a:rPr>
                        <a:t>Chronic infection</a:t>
                      </a:r>
                    </a:p>
                  </a:txBody>
                  <a:tcPr anchor="ctr">
                    <a:solidFill>
                      <a:srgbClr val="FFFFFF"/>
                    </a:solidFill>
                  </a:tcPr>
                </a:tc>
                <a:tc>
                  <a:txBody>
                    <a:bodyPr/>
                    <a:lstStyle/>
                    <a:p>
                      <a:r>
                        <a:rPr sz="1875" b="0">
                          <a:solidFill>
                            <a:srgbClr val="253642"/>
                          </a:solidFill>
                          <a:latin typeface="DejaVu Sans"/>
                          <a:ea typeface="DejaVu Sans"/>
                          <a:cs typeface="DejaVu Sans"/>
                        </a:rPr>
                        <a:t>No</a:t>
                      </a:r>
                    </a:p>
                  </a:txBody>
                  <a:tcPr anchor="ctr">
                    <a:solidFill>
                      <a:srgbClr val="FFFFFF"/>
                    </a:solidFill>
                  </a:tcPr>
                </a:tc>
                <a:tc>
                  <a:txBody>
                    <a:bodyPr/>
                    <a:lstStyle/>
                    <a:p>
                      <a:r>
                        <a:rPr sz="1875" b="0">
                          <a:solidFill>
                            <a:srgbClr val="253642"/>
                          </a:solidFill>
                          <a:latin typeface="DejaVu Sans"/>
                          <a:ea typeface="DejaVu Sans"/>
                          <a:cs typeface="DejaVu Sans"/>
                        </a:rPr>
                        <a:t>Possible; highest risk in infancy</a:t>
                      </a:r>
                    </a:p>
                  </a:txBody>
                  <a:tcPr anchor="ctr">
                    <a:solidFill>
                      <a:srgbClr val="FFFFFF"/>
                    </a:solidFill>
                  </a:tcPr>
                </a:tc>
                <a:extLst>
                  <a:ext uri="{0D108BD9-81ED-4DB2-BD59-A6C34878D82A}">
                    <a16:rowId xmlns:a16="http://schemas.microsoft.com/office/drawing/2014/main" val="10002"/>
                  </a:ext>
                </a:extLst>
              </a:tr>
              <a:tr h="816769">
                <a:tc>
                  <a:txBody>
                    <a:bodyPr/>
                    <a:lstStyle/>
                    <a:p>
                      <a:r>
                        <a:rPr sz="1875" b="0">
                          <a:solidFill>
                            <a:srgbClr val="253642"/>
                          </a:solidFill>
                          <a:latin typeface="DejaVu Sans"/>
                          <a:ea typeface="DejaVu Sans"/>
                          <a:cs typeface="DejaVu Sans"/>
                        </a:rPr>
                        <a:t>Vaccine type</a:t>
                      </a:r>
                    </a:p>
                  </a:txBody>
                  <a:tcPr anchor="ctr">
                    <a:solidFill>
                      <a:srgbClr val="FFFFFF"/>
                    </a:solidFill>
                  </a:tcPr>
                </a:tc>
                <a:tc>
                  <a:txBody>
                    <a:bodyPr/>
                    <a:lstStyle/>
                    <a:p>
                      <a:r>
                        <a:rPr sz="1875" b="0">
                          <a:solidFill>
                            <a:srgbClr val="253642"/>
                          </a:solidFill>
                          <a:latin typeface="DejaVu Sans"/>
                          <a:ea typeface="DejaVu Sans"/>
                          <a:cs typeface="DejaVu Sans"/>
                        </a:rPr>
                        <a:t>Inactivated</a:t>
                      </a:r>
                    </a:p>
                  </a:txBody>
                  <a:tcPr anchor="ctr">
                    <a:solidFill>
                      <a:srgbClr val="FFFFFF"/>
                    </a:solidFill>
                  </a:tcPr>
                </a:tc>
                <a:tc>
                  <a:txBody>
                    <a:bodyPr/>
                    <a:lstStyle/>
                    <a:p>
                      <a:r>
                        <a:rPr sz="1875" b="0">
                          <a:solidFill>
                            <a:srgbClr val="253642"/>
                          </a:solidFill>
                          <a:latin typeface="DejaVu Sans"/>
                          <a:ea typeface="DejaVu Sans"/>
                          <a:cs typeface="DejaVu Sans"/>
                        </a:rPr>
                        <a:t>Recombinant protein subunit</a:t>
                      </a:r>
                    </a:p>
                  </a:txBody>
                  <a:tcPr anchor="ctr">
                    <a:solidFill>
                      <a:srgbClr val="FFFFFF"/>
                    </a:solidFill>
                  </a:tcPr>
                </a:tc>
                <a:extLst>
                  <a:ext uri="{0D108BD9-81ED-4DB2-BD59-A6C34878D82A}">
                    <a16:rowId xmlns:a16="http://schemas.microsoft.com/office/drawing/2014/main" val="10003"/>
                  </a:ext>
                </a:extLst>
              </a:tr>
              <a:tr h="816769">
                <a:tc>
                  <a:txBody>
                    <a:bodyPr/>
                    <a:lstStyle/>
                    <a:p>
                      <a:r>
                        <a:rPr sz="1875" b="0">
                          <a:solidFill>
                            <a:srgbClr val="253642"/>
                          </a:solidFill>
                          <a:latin typeface="DejaVu Sans"/>
                          <a:ea typeface="DejaVu Sans"/>
                          <a:cs typeface="DejaVu Sans"/>
                        </a:rPr>
                        <a:t>EMS focus</a:t>
                      </a:r>
                    </a:p>
                  </a:txBody>
                  <a:tcPr anchor="ctr">
                    <a:solidFill>
                      <a:srgbClr val="FFFFFF"/>
                    </a:solidFill>
                  </a:tcPr>
                </a:tc>
                <a:tc>
                  <a:txBody>
                    <a:bodyPr/>
                    <a:lstStyle/>
                    <a:p>
                      <a:r>
                        <a:rPr sz="1875" b="0">
                          <a:solidFill>
                            <a:srgbClr val="253642"/>
                          </a:solidFill>
                          <a:latin typeface="DejaVu Sans"/>
                          <a:ea typeface="DejaVu Sans"/>
                          <a:cs typeface="DejaVu Sans"/>
                        </a:rPr>
                        <a:t>Hand hygiene; manage contamination</a:t>
                      </a:r>
                    </a:p>
                  </a:txBody>
                  <a:tcPr anchor="ctr">
                    <a:solidFill>
                      <a:srgbClr val="FFFFFF"/>
                    </a:solidFill>
                  </a:tcPr>
                </a:tc>
                <a:tc>
                  <a:txBody>
                    <a:bodyPr/>
                    <a:lstStyle/>
                    <a:p>
                      <a:r>
                        <a:rPr sz="1875" b="0">
                          <a:solidFill>
                            <a:srgbClr val="253642"/>
                          </a:solidFill>
                          <a:latin typeface="DejaVu Sans"/>
                          <a:ea typeface="DejaVu Sans"/>
                          <a:cs typeface="DejaVu Sans"/>
                        </a:rPr>
                        <a:t>Sharps safety; vaccination; exposure reporting</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text-4">
            <a:extLst>
              <a:ext uri="{FF2B5EF4-FFF2-40B4-BE49-F238E27FC236}">
                <a16:creationId xmlns:a16="http://schemas.microsoft.com/office/drawing/2014/main" id="{A048BAF9-0EA0-4560-B621-0E017E660EDD}"/>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After an exposure, seek prompt assessment for vaccine and/or immune globulin.</a:t>
            </a:r>
          </a:p>
        </p:txBody>
      </p:sp>
    </p:spTree>
    <p:extLst>
      <p:ext uri="{BB962C8B-B14F-4D97-AF65-F5344CB8AC3E}">
        <p14:creationId xmlns:p14="http://schemas.microsoft.com/office/powerpoint/2010/main" val="1978205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257D31-4BFD-4918-BEA4-119F4551E231}"/>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F2A7472D-DAE8-4E9C-9B66-CB867C62C201}"/>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7E75AD6A-5154-4723-B9ED-BF4DC80AEB52}"/>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Influenza: recognize and reduce risk</a:t>
            </a:r>
          </a:p>
        </p:txBody>
      </p:sp>
      <p:sp>
        <p:nvSpPr>
          <p:cNvPr id="4" name="text-2">
            <a:extLst>
              <a:ext uri="{FF2B5EF4-FFF2-40B4-BE49-F238E27FC236}">
                <a16:creationId xmlns:a16="http://schemas.microsoft.com/office/drawing/2014/main" id="{3AB9054A-96CC-4F3F-94D5-C294F4D9A85D}"/>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8B4A782E-E3A3-4340-B38D-7873C7031D23}"/>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22</a:t>
            </a:r>
          </a:p>
        </p:txBody>
      </p:sp>
      <p:sp>
        <p:nvSpPr>
          <p:cNvPr id="6" name="text-4">
            <a:extLst>
              <a:ext uri="{FF2B5EF4-FFF2-40B4-BE49-F238E27FC236}">
                <a16:creationId xmlns:a16="http://schemas.microsoft.com/office/drawing/2014/main" id="{29772589-0F50-4C24-8504-D30C0A6240A0}"/>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Typical illness starts abruptly with cough, fever, headache, fatigue, and muscle aches.</a:t>
            </a:r>
          </a:p>
          <a:p>
            <a:pPr marL="381000" indent="-254000" algn="l">
              <a:spcAft>
                <a:spcPts val="1700"/>
              </a:spcAft>
              <a:buChar char="•"/>
              <a:defRPr sz="2175" b="0">
                <a:solidFill>
                  <a:srgbClr val="253642"/>
                </a:solidFill>
                <a:latin typeface="DejaVu Sans"/>
                <a:ea typeface="DejaVu Sans"/>
                <a:cs typeface="DejaVu Sans"/>
              </a:defRPr>
            </a:pPr>
            <a:r>
              <a:t>Older or immunocompromised patients may have little or no fever.</a:t>
            </a:r>
          </a:p>
          <a:p>
            <a:pPr marL="381000" indent="-254000" algn="l">
              <a:spcAft>
                <a:spcPts val="1700"/>
              </a:spcAft>
              <a:buChar char="•"/>
              <a:defRPr sz="2175" b="0">
                <a:solidFill>
                  <a:srgbClr val="253642"/>
                </a:solidFill>
                <a:latin typeface="DejaVu Sans"/>
                <a:ea typeface="DejaVu Sans"/>
                <a:cs typeface="DejaVu Sans"/>
              </a:defRPr>
            </a:pPr>
            <a:r>
              <a:t>Complications include pneumonia and worsening of chronic disease.</a:t>
            </a:r>
          </a:p>
          <a:p>
            <a:pPr marL="381000" indent="-254000" algn="l">
              <a:spcAft>
                <a:spcPts val="1700"/>
              </a:spcAft>
              <a:buChar char="•"/>
              <a:defRPr sz="2175" b="0">
                <a:solidFill>
                  <a:srgbClr val="253642"/>
                </a:solidFill>
                <a:latin typeface="DejaVu Sans"/>
                <a:ea typeface="DejaVu Sans"/>
                <a:cs typeface="DejaVu Sans"/>
              </a:defRPr>
            </a:pPr>
            <a:r>
              <a:t>Annual vaccination reduces risk; early antivirals are important for selected high-risk or severely ill patients.</a:t>
            </a:r>
          </a:p>
        </p:txBody>
      </p:sp>
      <p:sp>
        <p:nvSpPr>
          <p:cNvPr id="7" name="text-5">
            <a:extLst>
              <a:ext uri="{FF2B5EF4-FFF2-40B4-BE49-F238E27FC236}">
                <a16:creationId xmlns:a16="http://schemas.microsoft.com/office/drawing/2014/main" id="{89EFCE1C-ECA2-4394-9BC8-3272B33A1A85}"/>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Use Droplet Precautions and assess respiratory distress promptly.</a:t>
            </a:r>
          </a:p>
        </p:txBody>
      </p:sp>
    </p:spTree>
    <p:extLst>
      <p:ext uri="{BB962C8B-B14F-4D97-AF65-F5344CB8AC3E}">
        <p14:creationId xmlns:p14="http://schemas.microsoft.com/office/powerpoint/2010/main" val="350578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F59B0D9-1ACA-4168-9CA4-283402DBA9BD}"/>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1DD6ECED-6979-461D-ADE5-7CC154A1E5EE}"/>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C436FA6E-31D1-4859-83C0-16A2630F7505}"/>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Measles: fever followed by rash</a:t>
            </a:r>
          </a:p>
        </p:txBody>
      </p:sp>
      <p:sp>
        <p:nvSpPr>
          <p:cNvPr id="4" name="text-2">
            <a:extLst>
              <a:ext uri="{FF2B5EF4-FFF2-40B4-BE49-F238E27FC236}">
                <a16:creationId xmlns:a16="http://schemas.microsoft.com/office/drawing/2014/main" id="{94E8F633-95FB-4ADD-A75C-C0F654F6471E}"/>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BE9A9C1C-7852-401D-ACFF-68883E51D849}"/>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23</a:t>
            </a:r>
          </a:p>
        </p:txBody>
      </p:sp>
      <p:sp>
        <p:nvSpPr>
          <p:cNvPr id="6" name="text-4">
            <a:extLst>
              <a:ext uri="{FF2B5EF4-FFF2-40B4-BE49-F238E27FC236}">
                <a16:creationId xmlns:a16="http://schemas.microsoft.com/office/drawing/2014/main" id="{B133F7E7-4C64-4865-B5B4-11E4CC965BEB}"/>
              </a:ext>
            </a:extLst>
          </p:cNvPr>
          <p:cNvSpPr>
            <a:spLocks noGrp="1"/>
          </p:cNvSpPr>
          <p:nvPr/>
        </p:nvSpPr>
        <p:spPr>
          <a:xfrm>
            <a:off x="571500" y="1685925"/>
            <a:ext cx="6191250" cy="3800475"/>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marL="381000" indent="-254000" algn="l">
              <a:spcAft>
                <a:spcPts val="1300"/>
              </a:spcAft>
              <a:buChar char="•"/>
              <a:defRPr sz="2100" b="0">
                <a:solidFill>
                  <a:srgbClr val="253642"/>
                </a:solidFill>
                <a:latin typeface="DejaVu Sans"/>
                <a:ea typeface="DejaVu Sans"/>
                <a:cs typeface="DejaVu Sans"/>
              </a:defRPr>
            </a:pPr>
            <a:r>
              <a:t>Early features include high fever, cough, runny nose, and red eyes.</a:t>
            </a:r>
          </a:p>
          <a:p>
            <a:pPr marL="381000" indent="-254000" algn="l">
              <a:spcAft>
                <a:spcPts val="1300"/>
              </a:spcAft>
              <a:buChar char="•"/>
              <a:defRPr sz="2100" b="0">
                <a:solidFill>
                  <a:srgbClr val="253642"/>
                </a:solidFill>
                <a:latin typeface="DejaVu Sans"/>
                <a:ea typeface="DejaVu Sans"/>
                <a:cs typeface="DejaVu Sans"/>
              </a:defRPr>
            </a:pPr>
            <a:r>
              <a:t>Koplik spots may appear inside the mouth.</a:t>
            </a:r>
          </a:p>
          <a:p>
            <a:pPr marL="381000" indent="-254000" algn="l">
              <a:spcAft>
                <a:spcPts val="1300"/>
              </a:spcAft>
              <a:buChar char="•"/>
              <a:defRPr sz="2100" b="0">
                <a:solidFill>
                  <a:srgbClr val="253642"/>
                </a:solidFill>
                <a:latin typeface="DejaVu Sans"/>
                <a:ea typeface="DejaVu Sans"/>
                <a:cs typeface="DejaVu Sans"/>
              </a:defRPr>
            </a:pPr>
            <a:r>
              <a:t>The rash usually starts on the face and spreads downward.</a:t>
            </a:r>
          </a:p>
          <a:p>
            <a:pPr marL="381000" indent="-254000" algn="l">
              <a:spcAft>
                <a:spcPts val="1300"/>
              </a:spcAft>
              <a:buChar char="•"/>
              <a:defRPr sz="2100" b="0">
                <a:solidFill>
                  <a:srgbClr val="253642"/>
                </a:solidFill>
                <a:latin typeface="DejaVu Sans"/>
                <a:ea typeface="DejaVu Sans"/>
                <a:cs typeface="DejaVu Sans"/>
              </a:defRPr>
            </a:pPr>
            <a:r>
              <a:t>Complications include pneumonia and encephalitis.</a:t>
            </a:r>
          </a:p>
        </p:txBody>
      </p:sp>
      <p:pic>
        <p:nvPicPr>
          <p:cNvPr id="7" name="Picture 6">
            <a:extLst>
              <a:ext uri="{FF2B5EF4-FFF2-40B4-BE49-F238E27FC236}">
                <a16:creationId xmlns:a16="http://schemas.microsoft.com/office/drawing/2014/main" id="{20A20CFE-DD1E-4891-9F71-75F7E0DCB177}"/>
              </a:ext>
            </a:extLst>
          </p:cNvPr>
          <p:cNvPicPr>
            <a:picLocks noChangeAspect="1"/>
          </p:cNvPicPr>
          <p:nvPr/>
        </p:nvPicPr>
        <p:blipFill>
          <a:blip r:embed="rId4"/>
          <a:stretch/>
        </p:blipFill>
        <p:spPr>
          <a:xfrm>
            <a:off x="7143750" y="1906694"/>
            <a:ext cx="4476750" cy="2996987"/>
          </a:xfrm>
          <a:prstGeom prst="rect">
            <a:avLst/>
          </a:prstGeom>
        </p:spPr>
      </p:pic>
      <p:sp>
        <p:nvSpPr>
          <p:cNvPr id="8" name="text-5">
            <a:extLst>
              <a:ext uri="{FF2B5EF4-FFF2-40B4-BE49-F238E27FC236}">
                <a16:creationId xmlns:a16="http://schemas.microsoft.com/office/drawing/2014/main" id="{79A12A5C-082D-4F08-9624-06EBA7918127}"/>
              </a:ext>
            </a:extLst>
          </p:cNvPr>
          <p:cNvSpPr>
            <a:spLocks noGrp="1"/>
          </p:cNvSpPr>
          <p:nvPr/>
        </p:nvSpPr>
        <p:spPr>
          <a:xfrm>
            <a:off x="7143750" y="5305425"/>
            <a:ext cx="4476750" cy="552450"/>
          </a:xfrm>
          <a:prstGeom prst="rect">
            <a:avLst/>
          </a:prstGeom>
          <a:noFill/>
          <a:ln w="0">
            <a:noFill/>
          </a:ln>
        </p:spPr>
        <p:txBody>
          <a:bodyPr wrap="square" lIns="0" tIns="0" rIns="0" bIns="0" anchor="t">
            <a:noAutofit/>
          </a:bodyPr>
          <a:lstStyle>
            <a:defPPr algn="l">
              <a:defRPr sz="1500" b="0">
                <a:solidFill>
                  <a:srgbClr val="566B78"/>
                </a:solidFill>
                <a:latin typeface="DejaVu Sans"/>
                <a:ea typeface="DejaVu Sans"/>
                <a:cs typeface="DejaVu Sans"/>
              </a:defRPr>
            </a:defPPr>
          </a:lstStyle>
          <a:p>
            <a:pPr algn="l">
              <a:defRPr sz="1500" b="0">
                <a:solidFill>
                  <a:srgbClr val="566B78"/>
                </a:solidFill>
                <a:latin typeface="DejaVu Sans"/>
                <a:ea typeface="DejaVu Sans"/>
                <a:cs typeface="DejaVu Sans"/>
              </a:defRPr>
            </a:pPr>
            <a:r>
              <a:rPr sz="1500" b="0">
                <a:solidFill>
                  <a:srgbClr val="566B78"/>
                </a:solidFill>
                <a:latin typeface="DejaVu Sans"/>
                <a:ea typeface="DejaVu Sans"/>
                <a:cs typeface="DejaVu Sans"/>
              </a:rPr>
              <a:t>A measles rash: assess the complete clinical and exposure history.</a:t>
            </a:r>
          </a:p>
        </p:txBody>
      </p:sp>
      <p:sp>
        <p:nvSpPr>
          <p:cNvPr id="9" name="text-6">
            <a:extLst>
              <a:ext uri="{FF2B5EF4-FFF2-40B4-BE49-F238E27FC236}">
                <a16:creationId xmlns:a16="http://schemas.microsoft.com/office/drawing/2014/main" id="{45A5779E-A86B-4A90-86DD-035345F7D20A}"/>
              </a:ext>
            </a:extLst>
          </p:cNvPr>
          <p:cNvSpPr>
            <a:spLocks noGrp="1"/>
          </p:cNvSpPr>
          <p:nvPr/>
        </p:nvSpPr>
        <p:spPr>
          <a:xfrm>
            <a:off x="7143750" y="6000750"/>
            <a:ext cx="4476750" cy="209550"/>
          </a:xfrm>
          <a:prstGeom prst="rect">
            <a:avLst/>
          </a:prstGeom>
          <a:noFill/>
          <a:ln w="0">
            <a:noFill/>
          </a:ln>
        </p:spPr>
        <p:txBody>
          <a:bodyPr wrap="square" lIns="0" tIns="0" rIns="0" bIns="0" anchor="t">
            <a:noAutofit/>
          </a:bodyPr>
          <a:lstStyle>
            <a:defPPr algn="l">
              <a:defRPr sz="975" b="0">
                <a:solidFill>
                  <a:srgbClr val="566B78"/>
                </a:solidFill>
                <a:latin typeface="DejaVu Sans"/>
                <a:ea typeface="DejaVu Sans"/>
                <a:cs typeface="DejaVu Sans"/>
              </a:defRPr>
            </a:defPPr>
          </a:lstStyle>
          <a:p>
            <a:pPr algn="l">
              <a:defRPr sz="975" b="0">
                <a:solidFill>
                  <a:srgbClr val="566B78"/>
                </a:solidFill>
                <a:latin typeface="DejaVu Sans"/>
                <a:ea typeface="DejaVu Sans"/>
                <a:cs typeface="DejaVu Sans"/>
              </a:defRPr>
            </a:pPr>
            <a:r>
              <a:rPr sz="975" b="0">
                <a:solidFill>
                  <a:srgbClr val="566B78"/>
                </a:solidFill>
                <a:latin typeface="DejaVu Sans"/>
                <a:ea typeface="DejaVu Sans"/>
                <a:cs typeface="DejaVu Sans"/>
              </a:rPr>
              <a:t>Photo: CDC</a:t>
            </a:r>
          </a:p>
        </p:txBody>
      </p:sp>
      <p:sp>
        <p:nvSpPr>
          <p:cNvPr id="10" name="text-7">
            <a:extLst>
              <a:ext uri="{FF2B5EF4-FFF2-40B4-BE49-F238E27FC236}">
                <a16:creationId xmlns:a16="http://schemas.microsoft.com/office/drawing/2014/main" id="{013DA77F-F885-4C65-990C-E8783A6A93C9}"/>
              </a:ext>
            </a:extLst>
          </p:cNvPr>
          <p:cNvSpPr>
            <a:spLocks noGrp="1"/>
          </p:cNvSpPr>
          <p:nvPr/>
        </p:nvSpPr>
        <p:spPr>
          <a:xfrm>
            <a:off x="571500" y="5600700"/>
            <a:ext cx="6191250" cy="72390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Suspect measles early in an unvaccinated patient with fever and rash.</a:t>
            </a:r>
          </a:p>
        </p:txBody>
      </p:sp>
    </p:spTree>
    <p:extLst>
      <p:ext uri="{BB962C8B-B14F-4D97-AF65-F5344CB8AC3E}">
        <p14:creationId xmlns:p14="http://schemas.microsoft.com/office/powerpoint/2010/main" val="1263933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28AA949-BB29-4142-B231-79D8F83B4179}"/>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321636C9-8112-4185-8CFF-A8105C9EA3BB}"/>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516648DE-8599-4D45-9675-22A827BFECD5}"/>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Measles: an airborne infection</a:t>
            </a:r>
          </a:p>
        </p:txBody>
      </p:sp>
      <p:sp>
        <p:nvSpPr>
          <p:cNvPr id="4" name="text-2">
            <a:extLst>
              <a:ext uri="{FF2B5EF4-FFF2-40B4-BE49-F238E27FC236}">
                <a16:creationId xmlns:a16="http://schemas.microsoft.com/office/drawing/2014/main" id="{4EC0E087-7115-430E-8C5D-0CD1304404EA}"/>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D8B0F6C5-0B9D-4A00-B1F0-25768DC9E110}"/>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24</a:t>
            </a:r>
          </a:p>
        </p:txBody>
      </p:sp>
      <p:sp>
        <p:nvSpPr>
          <p:cNvPr id="6" name="text-4">
            <a:extLst>
              <a:ext uri="{FF2B5EF4-FFF2-40B4-BE49-F238E27FC236}">
                <a16:creationId xmlns:a16="http://schemas.microsoft.com/office/drawing/2014/main" id="{09D3C82E-CC7E-4337-8CA4-805D38AA6F34}"/>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Virus can remain infectious in the air for up to 2 hours after a patient leaves.</a:t>
            </a:r>
          </a:p>
          <a:p>
            <a:pPr marL="381000" indent="-254000" algn="l">
              <a:spcAft>
                <a:spcPts val="1700"/>
              </a:spcAft>
              <a:buChar char="•"/>
              <a:defRPr sz="2175" b="0">
                <a:solidFill>
                  <a:srgbClr val="253642"/>
                </a:solidFill>
                <a:latin typeface="DejaVu Sans"/>
                <a:ea typeface="DejaVu Sans"/>
                <a:cs typeface="DejaVu Sans"/>
              </a:defRPr>
            </a:pPr>
            <a:r>
              <a:t>Use Airborne Precautions, including a fit-tested N95 or equivalent respirator.</a:t>
            </a:r>
          </a:p>
          <a:p>
            <a:pPr marL="381000" indent="-254000" algn="l">
              <a:spcAft>
                <a:spcPts val="1700"/>
              </a:spcAft>
              <a:buChar char="•"/>
              <a:defRPr sz="2175" b="0">
                <a:solidFill>
                  <a:srgbClr val="253642"/>
                </a:solidFill>
                <a:latin typeface="DejaVu Sans"/>
                <a:ea typeface="DejaVu Sans"/>
                <a:cs typeface="DejaVu Sans"/>
              </a:defRPr>
            </a:pPr>
            <a:r>
              <a:t>Mask the patient if tolerated and pre-alert the hospital.</a:t>
            </a:r>
          </a:p>
          <a:p>
            <a:pPr marL="381000" indent="-254000" algn="l">
              <a:spcAft>
                <a:spcPts val="1700"/>
              </a:spcAft>
              <a:buChar char="•"/>
              <a:defRPr sz="2175" b="0">
                <a:solidFill>
                  <a:srgbClr val="253642"/>
                </a:solidFill>
                <a:latin typeface="DejaVu Sans"/>
                <a:ea typeface="DejaVu Sans"/>
                <a:cs typeface="DejaVu Sans"/>
              </a:defRPr>
            </a:pPr>
            <a:r>
              <a:t>MMR is a live attenuated vaccine against measles, mumps, and rubella.</a:t>
            </a:r>
          </a:p>
        </p:txBody>
      </p:sp>
      <p:sp>
        <p:nvSpPr>
          <p:cNvPr id="7" name="text-5">
            <a:extLst>
              <a:ext uri="{FF2B5EF4-FFF2-40B4-BE49-F238E27FC236}">
                <a16:creationId xmlns:a16="http://schemas.microsoft.com/office/drawing/2014/main" id="{A22B2C09-B816-4C1B-BF3C-05650954D561}"/>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A surgical mask on the provider is not sufficient airborne protection.</a:t>
            </a:r>
          </a:p>
        </p:txBody>
      </p:sp>
    </p:spTree>
    <p:extLst>
      <p:ext uri="{BB962C8B-B14F-4D97-AF65-F5344CB8AC3E}">
        <p14:creationId xmlns:p14="http://schemas.microsoft.com/office/powerpoint/2010/main" val="1159195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AB2ACC-D1DB-4398-9442-82F15A9C0875}"/>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4F631355-5220-461F-A890-253C3609AA39}"/>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1462D724-91AD-4237-8019-F70D14F4486A}"/>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Meningococcal disease: rapid deterioration</a:t>
            </a:r>
          </a:p>
        </p:txBody>
      </p:sp>
      <p:sp>
        <p:nvSpPr>
          <p:cNvPr id="4" name="text-2">
            <a:extLst>
              <a:ext uri="{FF2B5EF4-FFF2-40B4-BE49-F238E27FC236}">
                <a16:creationId xmlns:a16="http://schemas.microsoft.com/office/drawing/2014/main" id="{D54CB3B2-2AF2-4357-9CE1-5E8D812F41F2}"/>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2D0581BD-FB5F-4B28-8674-3E11091D2891}"/>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25</a:t>
            </a:r>
          </a:p>
        </p:txBody>
      </p:sp>
      <p:sp>
        <p:nvSpPr>
          <p:cNvPr id="6" name="text-4">
            <a:extLst>
              <a:ext uri="{FF2B5EF4-FFF2-40B4-BE49-F238E27FC236}">
                <a16:creationId xmlns:a16="http://schemas.microsoft.com/office/drawing/2014/main" id="{EC3AF261-E237-4EC2-8D80-8F4136C2C09F}"/>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Neisseria meningitidis can cause meningitis or bloodstream infection.</a:t>
            </a:r>
          </a:p>
          <a:p>
            <a:pPr marL="381000" indent="-254000" algn="l">
              <a:spcAft>
                <a:spcPts val="1700"/>
              </a:spcAft>
              <a:buChar char="•"/>
              <a:defRPr sz="2175" b="0">
                <a:solidFill>
                  <a:srgbClr val="253642"/>
                </a:solidFill>
                <a:latin typeface="DejaVu Sans"/>
                <a:ea typeface="DejaVu Sans"/>
                <a:cs typeface="DejaVu Sans"/>
              </a:defRPr>
            </a:pPr>
            <a:r>
              <a:t>Fever, headache, neck stiffness, or altered mental status may occur.</a:t>
            </a:r>
          </a:p>
          <a:p>
            <a:pPr marL="381000" indent="-254000" algn="l">
              <a:spcAft>
                <a:spcPts val="1700"/>
              </a:spcAft>
              <a:buChar char="•"/>
              <a:defRPr sz="2175" b="0">
                <a:solidFill>
                  <a:srgbClr val="253642"/>
                </a:solidFill>
                <a:latin typeface="DejaVu Sans"/>
                <a:ea typeface="DejaVu Sans"/>
                <a:cs typeface="DejaVu Sans"/>
              </a:defRPr>
            </a:pPr>
            <a:r>
              <a:t>A non-blanching petechial or purpuric rash may develop.</a:t>
            </a:r>
          </a:p>
          <a:p>
            <a:pPr marL="381000" indent="-254000" algn="l">
              <a:spcAft>
                <a:spcPts val="1700"/>
              </a:spcAft>
              <a:buChar char="•"/>
              <a:defRPr sz="2175" b="0">
                <a:solidFill>
                  <a:srgbClr val="253642"/>
                </a:solidFill>
                <a:latin typeface="DejaVu Sans"/>
                <a:ea typeface="DejaVu Sans"/>
                <a:cs typeface="DejaVu Sans"/>
              </a:defRPr>
            </a:pPr>
            <a:r>
              <a:t>Sepsis and shock can progress rapidly, sometimes before a rash appears.</a:t>
            </a:r>
          </a:p>
        </p:txBody>
      </p:sp>
      <p:sp>
        <p:nvSpPr>
          <p:cNvPr id="7" name="text-5">
            <a:extLst>
              <a:ext uri="{FF2B5EF4-FFF2-40B4-BE49-F238E27FC236}">
                <a16:creationId xmlns:a16="http://schemas.microsoft.com/office/drawing/2014/main" id="{45CD753C-92B4-4BBC-993F-D1E07CF9CC7F}"/>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Do not wait for a rash before recognizing and treating possible sepsis.</a:t>
            </a:r>
          </a:p>
        </p:txBody>
      </p:sp>
    </p:spTree>
    <p:extLst>
      <p:ext uri="{BB962C8B-B14F-4D97-AF65-F5344CB8AC3E}">
        <p14:creationId xmlns:p14="http://schemas.microsoft.com/office/powerpoint/2010/main" val="1334542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5C90F24-EF1C-4C6F-B4E6-AC20EC0D70C8}"/>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A584CC63-FE04-49BF-A456-B4FDFD43C4C3}"/>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3286202F-3719-49C7-A9D0-9BD2A74887BA}"/>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Meningococcal disease: prevention</a:t>
            </a:r>
          </a:p>
        </p:txBody>
      </p:sp>
      <p:sp>
        <p:nvSpPr>
          <p:cNvPr id="4" name="text-2">
            <a:extLst>
              <a:ext uri="{FF2B5EF4-FFF2-40B4-BE49-F238E27FC236}">
                <a16:creationId xmlns:a16="http://schemas.microsoft.com/office/drawing/2014/main" id="{D8FB4A8D-1BCC-49A4-A7A8-8BE3EF24AD60}"/>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EE5DB683-0E34-4914-B306-4A51914EDF5E}"/>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26</a:t>
            </a:r>
          </a:p>
        </p:txBody>
      </p:sp>
      <p:sp>
        <p:nvSpPr>
          <p:cNvPr id="6" name="text-4">
            <a:extLst>
              <a:ext uri="{FF2B5EF4-FFF2-40B4-BE49-F238E27FC236}">
                <a16:creationId xmlns:a16="http://schemas.microsoft.com/office/drawing/2014/main" id="{593CFC5A-C68E-4BE8-BBC9-716EC076F914}"/>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Spread requires close contact with respiratory or throat secretions.</a:t>
            </a:r>
          </a:p>
          <a:p>
            <a:pPr marL="381000" indent="-254000" algn="l">
              <a:spcAft>
                <a:spcPts val="1700"/>
              </a:spcAft>
              <a:buChar char="•"/>
              <a:defRPr sz="2175" b="0">
                <a:solidFill>
                  <a:srgbClr val="253642"/>
                </a:solidFill>
                <a:latin typeface="DejaVu Sans"/>
                <a:ea typeface="DejaVu Sans"/>
                <a:cs typeface="DejaVu Sans"/>
              </a:defRPr>
            </a:pPr>
            <a:r>
              <a:t>Use Droplet Precautions; definitive treatment requires urgent antibiotics.</a:t>
            </a:r>
          </a:p>
          <a:p>
            <a:pPr marL="381000" indent="-254000" algn="l">
              <a:spcAft>
                <a:spcPts val="1700"/>
              </a:spcAft>
              <a:buChar char="•"/>
              <a:defRPr sz="2175" b="0">
                <a:solidFill>
                  <a:srgbClr val="253642"/>
                </a:solidFill>
                <a:latin typeface="DejaVu Sans"/>
                <a:ea typeface="DejaVu Sans"/>
                <a:cs typeface="DejaVu Sans"/>
              </a:defRPr>
            </a:pPr>
            <a:r>
              <a:t>MenACWY and MenB vaccines cover different serogroups.</a:t>
            </a:r>
          </a:p>
          <a:p>
            <a:pPr marL="381000" indent="-254000" algn="l">
              <a:spcAft>
                <a:spcPts val="1700"/>
              </a:spcAft>
              <a:buChar char="•"/>
              <a:defRPr sz="2175" b="0">
                <a:solidFill>
                  <a:srgbClr val="253642"/>
                </a:solidFill>
                <a:latin typeface="DejaVu Sans"/>
                <a:ea typeface="DejaVu Sans"/>
                <a:cs typeface="DejaVu Sans"/>
              </a:defRPr>
            </a:pPr>
            <a:r>
              <a:t>Unprotected secretion exposure may require antibiotic prophylaxis after assessment.</a:t>
            </a:r>
          </a:p>
        </p:txBody>
      </p:sp>
      <p:sp>
        <p:nvSpPr>
          <p:cNvPr id="7" name="text-5">
            <a:extLst>
              <a:ext uri="{FF2B5EF4-FFF2-40B4-BE49-F238E27FC236}">
                <a16:creationId xmlns:a16="http://schemas.microsoft.com/office/drawing/2014/main" id="{210E9115-24AE-4EBF-B878-91A4E85BA6E8}"/>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Vaccination does not replace assessment after a qualifying exposure.</a:t>
            </a:r>
          </a:p>
        </p:txBody>
      </p:sp>
    </p:spTree>
    <p:extLst>
      <p:ext uri="{BB962C8B-B14F-4D97-AF65-F5344CB8AC3E}">
        <p14:creationId xmlns:p14="http://schemas.microsoft.com/office/powerpoint/2010/main" val="463553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B1C1E88-43B1-4400-AABE-DEAA2979A595}"/>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3B7AB73D-ABC5-4387-B16B-16692B9412CC}"/>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5E58E9CD-3C03-4F3E-87D0-D16D38F348DB}"/>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Mumps: painful parotid swelling</a:t>
            </a:r>
          </a:p>
        </p:txBody>
      </p:sp>
      <p:sp>
        <p:nvSpPr>
          <p:cNvPr id="4" name="text-2">
            <a:extLst>
              <a:ext uri="{FF2B5EF4-FFF2-40B4-BE49-F238E27FC236}">
                <a16:creationId xmlns:a16="http://schemas.microsoft.com/office/drawing/2014/main" id="{5E5535EF-FAAF-4E51-8501-C086E3E53CEB}"/>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8186C622-0074-466A-B968-D665D9D0E5A8}"/>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27</a:t>
            </a:r>
          </a:p>
        </p:txBody>
      </p:sp>
      <p:sp>
        <p:nvSpPr>
          <p:cNvPr id="6" name="text-4">
            <a:extLst>
              <a:ext uri="{FF2B5EF4-FFF2-40B4-BE49-F238E27FC236}">
                <a16:creationId xmlns:a16="http://schemas.microsoft.com/office/drawing/2014/main" id="{4044EC25-B4EF-4527-8753-946D9FEC6867}"/>
              </a:ext>
            </a:extLst>
          </p:cNvPr>
          <p:cNvSpPr>
            <a:spLocks noGrp="1"/>
          </p:cNvSpPr>
          <p:nvPr/>
        </p:nvSpPr>
        <p:spPr>
          <a:xfrm>
            <a:off x="571500" y="1685925"/>
            <a:ext cx="6191250" cy="3800475"/>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marL="381000" indent="-254000" algn="l">
              <a:spcAft>
                <a:spcPts val="1300"/>
              </a:spcAft>
              <a:buChar char="•"/>
              <a:defRPr sz="2100" b="0">
                <a:solidFill>
                  <a:srgbClr val="253642"/>
                </a:solidFill>
                <a:latin typeface="DejaVu Sans"/>
                <a:ea typeface="DejaVu Sans"/>
                <a:cs typeface="DejaVu Sans"/>
              </a:defRPr>
            </a:pPr>
            <a:r>
              <a:t>Mumps commonly causes swelling near the jaw and ear.</a:t>
            </a:r>
          </a:p>
          <a:p>
            <a:pPr marL="381000" indent="-254000" algn="l">
              <a:spcAft>
                <a:spcPts val="1300"/>
              </a:spcAft>
              <a:buChar char="•"/>
              <a:defRPr sz="2100" b="0">
                <a:solidFill>
                  <a:srgbClr val="253642"/>
                </a:solidFill>
                <a:latin typeface="DejaVu Sans"/>
                <a:ea typeface="DejaVu Sans"/>
                <a:cs typeface="DejaVu Sans"/>
              </a:defRPr>
            </a:pPr>
            <a:r>
              <a:t>Fever, headache, and malaise may accompany parotitis.</a:t>
            </a:r>
          </a:p>
          <a:p>
            <a:pPr marL="381000" indent="-254000" algn="l">
              <a:spcAft>
                <a:spcPts val="1300"/>
              </a:spcAft>
              <a:buChar char="•"/>
              <a:defRPr sz="2100" b="0">
                <a:solidFill>
                  <a:srgbClr val="253642"/>
                </a:solidFill>
                <a:latin typeface="DejaVu Sans"/>
                <a:ea typeface="DejaVu Sans"/>
                <a:cs typeface="DejaVu Sans"/>
              </a:defRPr>
            </a:pPr>
            <a:r>
              <a:t>Complications include orchitis, meningitis, and hearing loss.</a:t>
            </a:r>
          </a:p>
          <a:p>
            <a:pPr marL="381000" indent="-254000" algn="l">
              <a:spcAft>
                <a:spcPts val="1300"/>
              </a:spcAft>
              <a:buChar char="•"/>
              <a:defRPr sz="2100" b="0">
                <a:solidFill>
                  <a:srgbClr val="253642"/>
                </a:solidFill>
                <a:latin typeface="DejaVu Sans"/>
                <a:ea typeface="DejaVu Sans"/>
                <a:cs typeface="DejaVu Sans"/>
              </a:defRPr>
            </a:pPr>
            <a:r>
              <a:t>Care is mainly supportive; MMR provides prevention.</a:t>
            </a:r>
          </a:p>
        </p:txBody>
      </p:sp>
      <p:pic>
        <p:nvPicPr>
          <p:cNvPr id="7" name="Picture 6">
            <a:extLst>
              <a:ext uri="{FF2B5EF4-FFF2-40B4-BE49-F238E27FC236}">
                <a16:creationId xmlns:a16="http://schemas.microsoft.com/office/drawing/2014/main" id="{53CCDDE8-B849-4894-B9AF-6FA17BBD34FD}"/>
              </a:ext>
            </a:extLst>
          </p:cNvPr>
          <p:cNvPicPr>
            <a:picLocks noChangeAspect="1"/>
          </p:cNvPicPr>
          <p:nvPr/>
        </p:nvPicPr>
        <p:blipFill>
          <a:blip r:embed="rId4"/>
          <a:stretch/>
        </p:blipFill>
        <p:spPr>
          <a:xfrm>
            <a:off x="7651178" y="1666875"/>
            <a:ext cx="3461894" cy="3476625"/>
          </a:xfrm>
          <a:prstGeom prst="rect">
            <a:avLst/>
          </a:prstGeom>
        </p:spPr>
      </p:pic>
      <p:sp>
        <p:nvSpPr>
          <p:cNvPr id="8" name="text-5">
            <a:extLst>
              <a:ext uri="{FF2B5EF4-FFF2-40B4-BE49-F238E27FC236}">
                <a16:creationId xmlns:a16="http://schemas.microsoft.com/office/drawing/2014/main" id="{2D6858F4-37F0-4CA2-A172-0B07EE8B77D8}"/>
              </a:ext>
            </a:extLst>
          </p:cNvPr>
          <p:cNvSpPr>
            <a:spLocks noGrp="1"/>
          </p:cNvSpPr>
          <p:nvPr/>
        </p:nvSpPr>
        <p:spPr>
          <a:xfrm>
            <a:off x="7143750" y="5305425"/>
            <a:ext cx="4476750" cy="552450"/>
          </a:xfrm>
          <a:prstGeom prst="rect">
            <a:avLst/>
          </a:prstGeom>
          <a:noFill/>
          <a:ln w="0">
            <a:noFill/>
          </a:ln>
        </p:spPr>
        <p:txBody>
          <a:bodyPr wrap="square" lIns="0" tIns="0" rIns="0" bIns="0" anchor="t">
            <a:noAutofit/>
          </a:bodyPr>
          <a:lstStyle>
            <a:defPPr algn="l">
              <a:defRPr sz="1500" b="0">
                <a:solidFill>
                  <a:srgbClr val="566B78"/>
                </a:solidFill>
                <a:latin typeface="DejaVu Sans"/>
                <a:ea typeface="DejaVu Sans"/>
                <a:cs typeface="DejaVu Sans"/>
              </a:defRPr>
            </a:defPPr>
          </a:lstStyle>
          <a:p>
            <a:pPr algn="l">
              <a:defRPr sz="1500" b="0">
                <a:solidFill>
                  <a:srgbClr val="566B78"/>
                </a:solidFill>
                <a:latin typeface="DejaVu Sans"/>
                <a:ea typeface="DejaVu Sans"/>
                <a:cs typeface="DejaVu Sans"/>
              </a:defRPr>
            </a:pPr>
            <a:r>
              <a:rPr sz="1500" b="0">
                <a:solidFill>
                  <a:srgbClr val="566B78"/>
                </a:solidFill>
                <a:latin typeface="DejaVu Sans"/>
                <a:ea typeface="DejaVu Sans"/>
                <a:cs typeface="DejaVu Sans"/>
              </a:rPr>
              <a:t>Parotid gland swelling can change the outline of the jaw.</a:t>
            </a:r>
          </a:p>
        </p:txBody>
      </p:sp>
      <p:sp>
        <p:nvSpPr>
          <p:cNvPr id="9" name="text-6">
            <a:extLst>
              <a:ext uri="{FF2B5EF4-FFF2-40B4-BE49-F238E27FC236}">
                <a16:creationId xmlns:a16="http://schemas.microsoft.com/office/drawing/2014/main" id="{00AC19CD-A027-4B71-96EB-DBCA503D5C8B}"/>
              </a:ext>
            </a:extLst>
          </p:cNvPr>
          <p:cNvSpPr>
            <a:spLocks noGrp="1"/>
          </p:cNvSpPr>
          <p:nvPr/>
        </p:nvSpPr>
        <p:spPr>
          <a:xfrm>
            <a:off x="7143750" y="6000750"/>
            <a:ext cx="4476750" cy="209550"/>
          </a:xfrm>
          <a:prstGeom prst="rect">
            <a:avLst/>
          </a:prstGeom>
          <a:noFill/>
          <a:ln w="0">
            <a:noFill/>
          </a:ln>
        </p:spPr>
        <p:txBody>
          <a:bodyPr wrap="square" lIns="0" tIns="0" rIns="0" bIns="0" anchor="t">
            <a:noAutofit/>
          </a:bodyPr>
          <a:lstStyle>
            <a:defPPr algn="l">
              <a:defRPr sz="975" b="0">
                <a:solidFill>
                  <a:srgbClr val="566B78"/>
                </a:solidFill>
                <a:latin typeface="DejaVu Sans"/>
                <a:ea typeface="DejaVu Sans"/>
                <a:cs typeface="DejaVu Sans"/>
              </a:defRPr>
            </a:defPPr>
          </a:lstStyle>
          <a:p>
            <a:pPr algn="l">
              <a:defRPr sz="975" b="0">
                <a:solidFill>
                  <a:srgbClr val="566B78"/>
                </a:solidFill>
                <a:latin typeface="DejaVu Sans"/>
                <a:ea typeface="DejaVu Sans"/>
                <a:cs typeface="DejaVu Sans"/>
              </a:defRPr>
            </a:pPr>
            <a:r>
              <a:rPr sz="975" b="0">
                <a:solidFill>
                  <a:srgbClr val="566B78"/>
                </a:solidFill>
                <a:latin typeface="DejaVu Sans"/>
                <a:ea typeface="DejaVu Sans"/>
                <a:cs typeface="DejaVu Sans"/>
              </a:rPr>
              <a:t>Photo: CDC / NIP / Barbara Rice</a:t>
            </a:r>
          </a:p>
        </p:txBody>
      </p:sp>
      <p:sp>
        <p:nvSpPr>
          <p:cNvPr id="10" name="text-7">
            <a:extLst>
              <a:ext uri="{FF2B5EF4-FFF2-40B4-BE49-F238E27FC236}">
                <a16:creationId xmlns:a16="http://schemas.microsoft.com/office/drawing/2014/main" id="{2EBDB5DF-C8C0-4F16-92C1-0A8B1BBFE3EE}"/>
              </a:ext>
            </a:extLst>
          </p:cNvPr>
          <p:cNvSpPr>
            <a:spLocks noGrp="1"/>
          </p:cNvSpPr>
          <p:nvPr/>
        </p:nvSpPr>
        <p:spPr>
          <a:xfrm>
            <a:off x="571500" y="5600700"/>
            <a:ext cx="6191250" cy="72390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dirty="0">
                <a:solidFill>
                  <a:srgbClr val="007FAE"/>
                </a:solidFill>
                <a:latin typeface="DejaVu Sans"/>
                <a:ea typeface="DejaVu Sans"/>
                <a:cs typeface="DejaVu Sans"/>
              </a:rPr>
              <a:t>Spread: saliva and respiratory droplets. Use Droplet Precautions.</a:t>
            </a:r>
          </a:p>
        </p:txBody>
      </p:sp>
    </p:spTree>
    <p:extLst>
      <p:ext uri="{BB962C8B-B14F-4D97-AF65-F5344CB8AC3E}">
        <p14:creationId xmlns:p14="http://schemas.microsoft.com/office/powerpoint/2010/main" val="1815182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D57822-9EEA-4C9E-BC00-31241BE8C9BC}"/>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C7755673-E11D-45F8-AAA0-350253380374}"/>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A31D062F-C49E-4BCF-8C72-13003BBE1E28}"/>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Pertussis: more than a prolonged cough</a:t>
            </a:r>
          </a:p>
        </p:txBody>
      </p:sp>
      <p:sp>
        <p:nvSpPr>
          <p:cNvPr id="4" name="text-2">
            <a:extLst>
              <a:ext uri="{FF2B5EF4-FFF2-40B4-BE49-F238E27FC236}">
                <a16:creationId xmlns:a16="http://schemas.microsoft.com/office/drawing/2014/main" id="{83B42576-7046-4913-BADE-684F9C894924}"/>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2CE64512-5E5B-440E-AD9C-85F6C66A89A9}"/>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28</a:t>
            </a:r>
          </a:p>
        </p:txBody>
      </p:sp>
      <p:sp>
        <p:nvSpPr>
          <p:cNvPr id="6" name="text-4">
            <a:extLst>
              <a:ext uri="{FF2B5EF4-FFF2-40B4-BE49-F238E27FC236}">
                <a16:creationId xmlns:a16="http://schemas.microsoft.com/office/drawing/2014/main" id="{98F75829-4B56-4CF9-BF1C-7268BC7700BB}"/>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Bordetella pertussis first causes cold-like symptoms.</a:t>
            </a:r>
          </a:p>
          <a:p>
            <a:pPr marL="381000" indent="-254000" algn="l">
              <a:spcAft>
                <a:spcPts val="1700"/>
              </a:spcAft>
              <a:buChar char="•"/>
              <a:defRPr sz="2175" b="0">
                <a:solidFill>
                  <a:srgbClr val="253642"/>
                </a:solidFill>
                <a:latin typeface="DejaVu Sans"/>
                <a:ea typeface="DejaVu Sans"/>
                <a:cs typeface="DejaVu Sans"/>
              </a:defRPr>
            </a:pPr>
            <a:r>
              <a:t>Later, repeated coughing fits may cause vomiting or an inspiratory “whoop”.</a:t>
            </a:r>
          </a:p>
          <a:p>
            <a:pPr marL="381000" indent="-254000" algn="l">
              <a:spcAft>
                <a:spcPts val="1700"/>
              </a:spcAft>
              <a:buChar char="•"/>
              <a:defRPr sz="2175" b="0">
                <a:solidFill>
                  <a:srgbClr val="253642"/>
                </a:solidFill>
                <a:latin typeface="DejaVu Sans"/>
                <a:ea typeface="DejaVu Sans"/>
                <a:cs typeface="DejaVu Sans"/>
              </a:defRPr>
            </a:pPr>
            <a:r>
              <a:t>Infants may present with apnea and little obvious cough.</a:t>
            </a:r>
          </a:p>
          <a:p>
            <a:pPr marL="381000" indent="-254000" algn="l">
              <a:spcAft>
                <a:spcPts val="1700"/>
              </a:spcAft>
              <a:buChar char="•"/>
              <a:defRPr sz="2175" b="0">
                <a:solidFill>
                  <a:srgbClr val="253642"/>
                </a:solidFill>
                <a:latin typeface="DejaVu Sans"/>
                <a:ea typeface="DejaVu Sans"/>
                <a:cs typeface="DejaVu Sans"/>
              </a:defRPr>
            </a:pPr>
            <a:r>
              <a:t>Pneumonia, hypoxia, and feeding difficulty can make infant disease severe.</a:t>
            </a:r>
          </a:p>
        </p:txBody>
      </p:sp>
      <p:sp>
        <p:nvSpPr>
          <p:cNvPr id="7" name="text-5">
            <a:extLst>
              <a:ext uri="{FF2B5EF4-FFF2-40B4-BE49-F238E27FC236}">
                <a16:creationId xmlns:a16="http://schemas.microsoft.com/office/drawing/2014/main" id="{C287E1AF-07E7-4477-A93C-FAD42BF12D44}"/>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An infant with apnea needs urgent assessment even without a classic whoop.</a:t>
            </a:r>
          </a:p>
        </p:txBody>
      </p:sp>
    </p:spTree>
    <p:extLst>
      <p:ext uri="{BB962C8B-B14F-4D97-AF65-F5344CB8AC3E}">
        <p14:creationId xmlns:p14="http://schemas.microsoft.com/office/powerpoint/2010/main" val="765768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C27BDDE-23A4-48F2-B896-4DC5319577CC}"/>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EE590AF0-682E-4D10-8464-8A011B97BA4A}"/>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D85CB777-8A0D-4623-8BA0-A6516802E6AE}"/>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Pertussis: prevention and early treatment</a:t>
            </a:r>
          </a:p>
        </p:txBody>
      </p:sp>
      <p:sp>
        <p:nvSpPr>
          <p:cNvPr id="4" name="text-2">
            <a:extLst>
              <a:ext uri="{FF2B5EF4-FFF2-40B4-BE49-F238E27FC236}">
                <a16:creationId xmlns:a16="http://schemas.microsoft.com/office/drawing/2014/main" id="{2A2E79DA-0B6C-4B2B-B196-ECCBE933A173}"/>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A5E09E2B-8212-495A-82BA-038592D242FA}"/>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29</a:t>
            </a:r>
          </a:p>
        </p:txBody>
      </p:sp>
      <p:sp>
        <p:nvSpPr>
          <p:cNvPr id="6" name="text-4">
            <a:extLst>
              <a:ext uri="{FF2B5EF4-FFF2-40B4-BE49-F238E27FC236}">
                <a16:creationId xmlns:a16="http://schemas.microsoft.com/office/drawing/2014/main" id="{E6F0B76E-2410-45B1-A782-D986BAA16C47}"/>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Use Droplet Precautions for suspected disease.</a:t>
            </a:r>
          </a:p>
          <a:p>
            <a:pPr marL="381000" indent="-254000" algn="l">
              <a:spcAft>
                <a:spcPts val="1700"/>
              </a:spcAft>
              <a:buChar char="•"/>
              <a:defRPr sz="2175" b="0">
                <a:solidFill>
                  <a:srgbClr val="253642"/>
                </a:solidFill>
                <a:latin typeface="DejaVu Sans"/>
                <a:ea typeface="DejaVu Sans"/>
                <a:cs typeface="DejaVu Sans"/>
              </a:defRPr>
            </a:pPr>
            <a:r>
              <a:t>Antibiotics started early can reduce symptom severity and transmission.</a:t>
            </a:r>
          </a:p>
          <a:p>
            <a:pPr marL="381000" indent="-254000" algn="l">
              <a:spcAft>
                <a:spcPts val="1700"/>
              </a:spcAft>
              <a:buChar char="•"/>
              <a:defRPr sz="2175" b="0">
                <a:solidFill>
                  <a:srgbClr val="253642"/>
                </a:solidFill>
                <a:latin typeface="DejaVu Sans"/>
                <a:ea typeface="DejaVu Sans"/>
                <a:cs typeface="DejaVu Sans"/>
              </a:defRPr>
            </a:pPr>
            <a:r>
              <a:t>Later treatment may not shorten an established cough illness.</a:t>
            </a:r>
          </a:p>
          <a:p>
            <a:pPr marL="381000" indent="-254000" algn="l">
              <a:spcAft>
                <a:spcPts val="1700"/>
              </a:spcAft>
              <a:buChar char="•"/>
              <a:defRPr sz="2175" b="0">
                <a:solidFill>
                  <a:srgbClr val="253642"/>
                </a:solidFill>
                <a:latin typeface="DejaVu Sans"/>
                <a:ea typeface="DejaVu Sans"/>
                <a:cs typeface="DejaVu Sans"/>
              </a:defRPr>
            </a:pPr>
            <a:r>
              <a:t>DTaP and Tdap contain acellular pertussis antigens; protection can wane.</a:t>
            </a:r>
          </a:p>
        </p:txBody>
      </p:sp>
      <p:sp>
        <p:nvSpPr>
          <p:cNvPr id="7" name="text-5">
            <a:extLst>
              <a:ext uri="{FF2B5EF4-FFF2-40B4-BE49-F238E27FC236}">
                <a16:creationId xmlns:a16="http://schemas.microsoft.com/office/drawing/2014/main" id="{6BA09D7A-1CC4-4B21-BFCB-47BC4CBD34E7}"/>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Post-exposure prophylaxis is considered for defined high-risk contacts.</a:t>
            </a:r>
          </a:p>
        </p:txBody>
      </p:sp>
    </p:spTree>
    <p:extLst>
      <p:ext uri="{BB962C8B-B14F-4D97-AF65-F5344CB8AC3E}">
        <p14:creationId xmlns:p14="http://schemas.microsoft.com/office/powerpoint/2010/main" val="1268374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721681A-EAF6-48ED-B308-DF5C6FB818F0}"/>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6EAD15CB-A59B-4D3E-AF10-4C5E2EECC68C}"/>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F85B823E-B8E6-4BEB-B4DB-D2E41135BF38}"/>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Polio: prevent paralysis</a:t>
            </a:r>
          </a:p>
        </p:txBody>
      </p:sp>
      <p:sp>
        <p:nvSpPr>
          <p:cNvPr id="4" name="text-2">
            <a:extLst>
              <a:ext uri="{FF2B5EF4-FFF2-40B4-BE49-F238E27FC236}">
                <a16:creationId xmlns:a16="http://schemas.microsoft.com/office/drawing/2014/main" id="{D8E1F119-F44A-4597-9837-4F951160861F}"/>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55AADA22-F62C-45EF-9D5A-5043DCE80E7D}"/>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30</a:t>
            </a:r>
          </a:p>
        </p:txBody>
      </p:sp>
      <p:sp>
        <p:nvSpPr>
          <p:cNvPr id="6" name="text-4">
            <a:extLst>
              <a:ext uri="{FF2B5EF4-FFF2-40B4-BE49-F238E27FC236}">
                <a16:creationId xmlns:a16="http://schemas.microsoft.com/office/drawing/2014/main" id="{BE51FBA4-BCC9-42ED-BFB4-50F3224FFEEE}"/>
              </a:ext>
            </a:extLst>
          </p:cNvPr>
          <p:cNvSpPr>
            <a:spLocks noGrp="1"/>
          </p:cNvSpPr>
          <p:nvPr/>
        </p:nvSpPr>
        <p:spPr>
          <a:xfrm>
            <a:off x="571500" y="1685925"/>
            <a:ext cx="6191250" cy="3800475"/>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marL="381000" indent="-254000" algn="l">
              <a:spcAft>
                <a:spcPts val="1300"/>
              </a:spcAft>
              <a:buChar char="•"/>
              <a:defRPr sz="2100" b="0">
                <a:solidFill>
                  <a:srgbClr val="253642"/>
                </a:solidFill>
                <a:latin typeface="DejaVu Sans"/>
                <a:ea typeface="DejaVu Sans"/>
                <a:cs typeface="DejaVu Sans"/>
              </a:defRPr>
            </a:pPr>
            <a:r>
              <a:t>Poliovirus spreads mainly through the fecal–oral route.</a:t>
            </a:r>
          </a:p>
          <a:p>
            <a:pPr marL="381000" indent="-254000" algn="l">
              <a:spcAft>
                <a:spcPts val="1300"/>
              </a:spcAft>
              <a:buChar char="•"/>
              <a:defRPr sz="2100" b="0">
                <a:solidFill>
                  <a:srgbClr val="253642"/>
                </a:solidFill>
                <a:latin typeface="DejaVu Sans"/>
                <a:ea typeface="DejaVu Sans"/>
                <a:cs typeface="DejaVu Sans"/>
              </a:defRPr>
            </a:pPr>
            <a:r>
              <a:t>Most infections do not cause obvious symptoms.</a:t>
            </a:r>
          </a:p>
          <a:p>
            <a:pPr marL="381000" indent="-254000" algn="l">
              <a:spcAft>
                <a:spcPts val="1300"/>
              </a:spcAft>
              <a:buChar char="•"/>
              <a:defRPr sz="2100" b="0">
                <a:solidFill>
                  <a:srgbClr val="253642"/>
                </a:solidFill>
                <a:latin typeface="DejaVu Sans"/>
                <a:ea typeface="DejaVu Sans"/>
                <a:cs typeface="DejaVu Sans"/>
              </a:defRPr>
            </a:pPr>
            <a:r>
              <a:t>A small proportion cause acute flaccid weakness or paralysis.</a:t>
            </a:r>
          </a:p>
          <a:p>
            <a:pPr marL="381000" indent="-254000" algn="l">
              <a:spcAft>
                <a:spcPts val="1300"/>
              </a:spcAft>
              <a:buChar char="•"/>
              <a:defRPr sz="2100" b="0">
                <a:solidFill>
                  <a:srgbClr val="253642"/>
                </a:solidFill>
                <a:latin typeface="DejaVu Sans"/>
                <a:ea typeface="DejaVu Sans"/>
                <a:cs typeface="DejaVu Sans"/>
              </a:defRPr>
            </a:pPr>
            <a:r>
              <a:t>Respiratory muscle involvement can be life-threatening.</a:t>
            </a:r>
          </a:p>
        </p:txBody>
      </p:sp>
      <p:pic>
        <p:nvPicPr>
          <p:cNvPr id="7" name="Picture 6">
            <a:extLst>
              <a:ext uri="{FF2B5EF4-FFF2-40B4-BE49-F238E27FC236}">
                <a16:creationId xmlns:a16="http://schemas.microsoft.com/office/drawing/2014/main" id="{D5453010-E58B-4E58-928B-FE73686EF7CF}"/>
              </a:ext>
            </a:extLst>
          </p:cNvPr>
          <p:cNvPicPr>
            <a:picLocks noChangeAspect="1"/>
          </p:cNvPicPr>
          <p:nvPr/>
        </p:nvPicPr>
        <p:blipFill>
          <a:blip r:embed="rId4"/>
          <a:stretch/>
        </p:blipFill>
        <p:spPr>
          <a:xfrm>
            <a:off x="7143750" y="1912938"/>
            <a:ext cx="4476750" cy="2984500"/>
          </a:xfrm>
          <a:prstGeom prst="rect">
            <a:avLst/>
          </a:prstGeom>
        </p:spPr>
      </p:pic>
      <p:sp>
        <p:nvSpPr>
          <p:cNvPr id="8" name="text-5">
            <a:extLst>
              <a:ext uri="{FF2B5EF4-FFF2-40B4-BE49-F238E27FC236}">
                <a16:creationId xmlns:a16="http://schemas.microsoft.com/office/drawing/2014/main" id="{E8BA568E-6883-4341-B792-0857536D6EC0}"/>
              </a:ext>
            </a:extLst>
          </p:cNvPr>
          <p:cNvSpPr>
            <a:spLocks noGrp="1"/>
          </p:cNvSpPr>
          <p:nvPr/>
        </p:nvSpPr>
        <p:spPr>
          <a:xfrm>
            <a:off x="7143750" y="5305425"/>
            <a:ext cx="4476750" cy="552450"/>
          </a:xfrm>
          <a:prstGeom prst="rect">
            <a:avLst/>
          </a:prstGeom>
          <a:noFill/>
          <a:ln w="0">
            <a:noFill/>
          </a:ln>
        </p:spPr>
        <p:txBody>
          <a:bodyPr wrap="square" lIns="0" tIns="0" rIns="0" bIns="0" anchor="t">
            <a:noAutofit/>
          </a:bodyPr>
          <a:lstStyle>
            <a:defPPr algn="l">
              <a:defRPr sz="1500" b="0">
                <a:solidFill>
                  <a:srgbClr val="566B78"/>
                </a:solidFill>
                <a:latin typeface="DejaVu Sans"/>
                <a:ea typeface="DejaVu Sans"/>
                <a:cs typeface="DejaVu Sans"/>
              </a:defRPr>
            </a:defPPr>
          </a:lstStyle>
          <a:p>
            <a:pPr algn="l">
              <a:defRPr sz="1500" b="0">
                <a:solidFill>
                  <a:srgbClr val="566B78"/>
                </a:solidFill>
                <a:latin typeface="DejaVu Sans"/>
                <a:ea typeface="DejaVu Sans"/>
                <a:cs typeface="DejaVu Sans"/>
              </a:defRPr>
            </a:pPr>
            <a:r>
              <a:rPr sz="1500" b="0">
                <a:solidFill>
                  <a:srgbClr val="566B78"/>
                </a:solidFill>
                <a:latin typeface="DejaVu Sans"/>
                <a:ea typeface="DejaVu Sans"/>
                <a:cs typeface="DejaVu Sans"/>
              </a:rPr>
              <a:t>Oral vaccine administration illustrates one polio prevention strategy.</a:t>
            </a:r>
          </a:p>
        </p:txBody>
      </p:sp>
      <p:sp>
        <p:nvSpPr>
          <p:cNvPr id="9" name="text-6">
            <a:extLst>
              <a:ext uri="{FF2B5EF4-FFF2-40B4-BE49-F238E27FC236}">
                <a16:creationId xmlns:a16="http://schemas.microsoft.com/office/drawing/2014/main" id="{32644D23-231A-4F82-B2F3-C426C12C4B86}"/>
              </a:ext>
            </a:extLst>
          </p:cNvPr>
          <p:cNvSpPr>
            <a:spLocks noGrp="1"/>
          </p:cNvSpPr>
          <p:nvPr/>
        </p:nvSpPr>
        <p:spPr>
          <a:xfrm>
            <a:off x="7143750" y="6000750"/>
            <a:ext cx="4476750" cy="209550"/>
          </a:xfrm>
          <a:prstGeom prst="rect">
            <a:avLst/>
          </a:prstGeom>
          <a:noFill/>
          <a:ln w="0">
            <a:noFill/>
          </a:ln>
        </p:spPr>
        <p:txBody>
          <a:bodyPr wrap="square" lIns="0" tIns="0" rIns="0" bIns="0" anchor="t">
            <a:noAutofit/>
          </a:bodyPr>
          <a:lstStyle>
            <a:defPPr algn="l">
              <a:defRPr sz="975" b="0">
                <a:solidFill>
                  <a:srgbClr val="566B78"/>
                </a:solidFill>
                <a:latin typeface="DejaVu Sans"/>
                <a:ea typeface="DejaVu Sans"/>
                <a:cs typeface="DejaVu Sans"/>
              </a:defRPr>
            </a:defPPr>
          </a:lstStyle>
          <a:p>
            <a:pPr algn="l">
              <a:defRPr sz="975" b="0">
                <a:solidFill>
                  <a:srgbClr val="566B78"/>
                </a:solidFill>
                <a:latin typeface="DejaVu Sans"/>
                <a:ea typeface="DejaVu Sans"/>
                <a:cs typeface="DejaVu Sans"/>
              </a:defRPr>
            </a:pPr>
            <a:r>
              <a:rPr sz="975" b="0">
                <a:solidFill>
                  <a:srgbClr val="566B78"/>
                </a:solidFill>
                <a:latin typeface="DejaVu Sans"/>
                <a:ea typeface="DejaVu Sans"/>
                <a:cs typeface="DejaVu Sans"/>
              </a:rPr>
              <a:t>Photo: CDC / Public Health Image Library</a:t>
            </a:r>
          </a:p>
        </p:txBody>
      </p:sp>
      <p:sp>
        <p:nvSpPr>
          <p:cNvPr id="10" name="text-7">
            <a:extLst>
              <a:ext uri="{FF2B5EF4-FFF2-40B4-BE49-F238E27FC236}">
                <a16:creationId xmlns:a16="http://schemas.microsoft.com/office/drawing/2014/main" id="{840E4E85-C09B-45AC-8514-F83C2FED268C}"/>
              </a:ext>
            </a:extLst>
          </p:cNvPr>
          <p:cNvSpPr>
            <a:spLocks noGrp="1"/>
          </p:cNvSpPr>
          <p:nvPr/>
        </p:nvSpPr>
        <p:spPr>
          <a:xfrm>
            <a:off x="571500" y="5600700"/>
            <a:ext cx="6191250" cy="72390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New acute flaccid weakness requires urgent assessment and notification.</a:t>
            </a:r>
          </a:p>
        </p:txBody>
      </p:sp>
    </p:spTree>
    <p:extLst>
      <p:ext uri="{BB962C8B-B14F-4D97-AF65-F5344CB8AC3E}">
        <p14:creationId xmlns:p14="http://schemas.microsoft.com/office/powerpoint/2010/main" val="1952198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2F6E96C-997C-4A67-BF41-E1D937DF2BA0}"/>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522AAF7C-1274-4FA8-A7C7-DF57D385B606}"/>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3A664B8C-592B-491F-97AD-2D6D5CBEDC43}"/>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Polio vaccines: IPV and OPV</a:t>
            </a:r>
          </a:p>
        </p:txBody>
      </p:sp>
      <p:sp>
        <p:nvSpPr>
          <p:cNvPr id="4" name="text-2">
            <a:extLst>
              <a:ext uri="{FF2B5EF4-FFF2-40B4-BE49-F238E27FC236}">
                <a16:creationId xmlns:a16="http://schemas.microsoft.com/office/drawing/2014/main" id="{3335F846-9672-4569-8503-496A8D2351E4}"/>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300D03D5-95B3-4373-B354-200155220ACA}"/>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31</a:t>
            </a:r>
          </a:p>
        </p:txBody>
      </p:sp>
      <p:graphicFrame>
        <p:nvGraphicFramePr>
          <p:cNvPr id="6" name="Table 5">
            <a:extLst>
              <a:ext uri="{FF2B5EF4-FFF2-40B4-BE49-F238E27FC236}">
                <a16:creationId xmlns:a16="http://schemas.microsoft.com/office/drawing/2014/main" id="{AC5BCE59-EE1D-42D6-B94C-D099B3808503}"/>
              </a:ext>
            </a:extLst>
          </p:cNvPr>
          <p:cNvGraphicFramePr/>
          <p:nvPr/>
        </p:nvGraphicFramePr>
        <p:xfrm>
          <a:off x="571500" y="1609725"/>
          <a:ext cx="11049000" cy="3762376"/>
        </p:xfrm>
        <a:graphic>
          <a:graphicData uri="http://schemas.openxmlformats.org/drawingml/2006/table">
            <a:tbl>
              <a:tblPr/>
              <a:tblGrid>
                <a:gridCol w="23336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524375">
                  <a:extLst>
                    <a:ext uri="{9D8B030D-6E8A-4147-A177-3AD203B41FA5}">
                      <a16:colId xmlns:a16="http://schemas.microsoft.com/office/drawing/2014/main" val="20002"/>
                    </a:ext>
                  </a:extLst>
                </a:gridCol>
              </a:tblGrid>
              <a:tr h="495300">
                <a:tc>
                  <a:txBody>
                    <a:bodyPr/>
                    <a:lstStyle/>
                    <a:p>
                      <a:r>
                        <a:rPr sz="1800" b="1">
                          <a:solidFill>
                            <a:srgbClr val="FFFFFF"/>
                          </a:solidFill>
                          <a:latin typeface="DejaVu Sans"/>
                          <a:ea typeface="DejaVu Sans"/>
                          <a:cs typeface="DejaVu Sans"/>
                        </a:rPr>
                        <a:t>Feature</a:t>
                      </a:r>
                    </a:p>
                  </a:txBody>
                  <a:tcPr anchor="ctr">
                    <a:solidFill>
                      <a:srgbClr val="007FAE"/>
                    </a:solidFill>
                  </a:tcPr>
                </a:tc>
                <a:tc>
                  <a:txBody>
                    <a:bodyPr/>
                    <a:lstStyle/>
                    <a:p>
                      <a:r>
                        <a:rPr sz="1800" b="1">
                          <a:solidFill>
                            <a:srgbClr val="FFFFFF"/>
                          </a:solidFill>
                          <a:latin typeface="DejaVu Sans"/>
                          <a:ea typeface="DejaVu Sans"/>
                          <a:cs typeface="DejaVu Sans"/>
                        </a:rPr>
                        <a:t>IPV</a:t>
                      </a:r>
                    </a:p>
                  </a:txBody>
                  <a:tcPr anchor="ctr">
                    <a:solidFill>
                      <a:srgbClr val="007FAE"/>
                    </a:solidFill>
                  </a:tcPr>
                </a:tc>
                <a:tc>
                  <a:txBody>
                    <a:bodyPr/>
                    <a:lstStyle/>
                    <a:p>
                      <a:r>
                        <a:rPr sz="1800" b="1" dirty="0">
                          <a:solidFill>
                            <a:srgbClr val="FFFFFF"/>
                          </a:solidFill>
                          <a:latin typeface="DejaVu Sans"/>
                          <a:ea typeface="DejaVu Sans"/>
                          <a:cs typeface="DejaVu Sans"/>
                        </a:rPr>
                        <a:t>OPV</a:t>
                      </a:r>
                    </a:p>
                  </a:txBody>
                  <a:tcPr anchor="ctr">
                    <a:solidFill>
                      <a:srgbClr val="007FAE"/>
                    </a:solidFill>
                  </a:tcPr>
                </a:tc>
                <a:extLst>
                  <a:ext uri="{0D108BD9-81ED-4DB2-BD59-A6C34878D82A}">
                    <a16:rowId xmlns:a16="http://schemas.microsoft.com/office/drawing/2014/main" val="10000"/>
                  </a:ext>
                </a:extLst>
              </a:tr>
              <a:tr h="816769">
                <a:tc>
                  <a:txBody>
                    <a:bodyPr/>
                    <a:lstStyle/>
                    <a:p>
                      <a:r>
                        <a:rPr sz="1800" b="0">
                          <a:solidFill>
                            <a:srgbClr val="253642"/>
                          </a:solidFill>
                          <a:latin typeface="DejaVu Sans"/>
                          <a:ea typeface="DejaVu Sans"/>
                          <a:cs typeface="DejaVu Sans"/>
                        </a:rPr>
                        <a:t>Type and route</a:t>
                      </a:r>
                    </a:p>
                  </a:txBody>
                  <a:tcPr anchor="ctr">
                    <a:solidFill>
                      <a:srgbClr val="FFFFFF"/>
                    </a:solidFill>
                  </a:tcPr>
                </a:tc>
                <a:tc>
                  <a:txBody>
                    <a:bodyPr/>
                    <a:lstStyle/>
                    <a:p>
                      <a:r>
                        <a:rPr sz="1800" b="0">
                          <a:solidFill>
                            <a:srgbClr val="253642"/>
                          </a:solidFill>
                          <a:latin typeface="DejaVu Sans"/>
                          <a:ea typeface="DejaVu Sans"/>
                          <a:cs typeface="DejaVu Sans"/>
                        </a:rPr>
                        <a:t>Inactivated; injection</a:t>
                      </a:r>
                    </a:p>
                  </a:txBody>
                  <a:tcPr anchor="ctr">
                    <a:solidFill>
                      <a:srgbClr val="FFFFFF"/>
                    </a:solidFill>
                  </a:tcPr>
                </a:tc>
                <a:tc>
                  <a:txBody>
                    <a:bodyPr/>
                    <a:lstStyle/>
                    <a:p>
                      <a:r>
                        <a:rPr sz="1800" b="0">
                          <a:solidFill>
                            <a:srgbClr val="253642"/>
                          </a:solidFill>
                          <a:latin typeface="DejaVu Sans"/>
                          <a:ea typeface="DejaVu Sans"/>
                          <a:cs typeface="DejaVu Sans"/>
                        </a:rPr>
                        <a:t>Live attenuated; oral drops</a:t>
                      </a:r>
                    </a:p>
                  </a:txBody>
                  <a:tcPr anchor="ctr">
                    <a:solidFill>
                      <a:srgbClr val="FFFFFF"/>
                    </a:solidFill>
                  </a:tcPr>
                </a:tc>
                <a:extLst>
                  <a:ext uri="{0D108BD9-81ED-4DB2-BD59-A6C34878D82A}">
                    <a16:rowId xmlns:a16="http://schemas.microsoft.com/office/drawing/2014/main" val="10001"/>
                  </a:ext>
                </a:extLst>
              </a:tr>
              <a:tr h="816769">
                <a:tc>
                  <a:txBody>
                    <a:bodyPr/>
                    <a:lstStyle/>
                    <a:p>
                      <a:r>
                        <a:rPr sz="1800" b="0" dirty="0">
                          <a:solidFill>
                            <a:srgbClr val="253642"/>
                          </a:solidFill>
                          <a:latin typeface="DejaVu Sans"/>
                          <a:ea typeface="DejaVu Sans"/>
                          <a:cs typeface="DejaVu Sans"/>
                        </a:rPr>
                        <a:t>Main strength</a:t>
                      </a:r>
                    </a:p>
                  </a:txBody>
                  <a:tcPr anchor="ctr">
                    <a:solidFill>
                      <a:srgbClr val="FFFFFF"/>
                    </a:solidFill>
                  </a:tcPr>
                </a:tc>
                <a:tc>
                  <a:txBody>
                    <a:bodyPr/>
                    <a:lstStyle/>
                    <a:p>
                      <a:r>
                        <a:rPr sz="1800" b="0">
                          <a:solidFill>
                            <a:srgbClr val="253642"/>
                          </a:solidFill>
                          <a:latin typeface="DejaVu Sans"/>
                          <a:ea typeface="DejaVu Sans"/>
                          <a:cs typeface="DejaVu Sans"/>
                        </a:rPr>
                        <a:t>Strong protection against paralysis</a:t>
                      </a:r>
                    </a:p>
                  </a:txBody>
                  <a:tcPr anchor="ctr">
                    <a:solidFill>
                      <a:srgbClr val="FFFFFF"/>
                    </a:solidFill>
                  </a:tcPr>
                </a:tc>
                <a:tc>
                  <a:txBody>
                    <a:bodyPr/>
                    <a:lstStyle/>
                    <a:p>
                      <a:r>
                        <a:rPr sz="1800" b="0">
                          <a:solidFill>
                            <a:srgbClr val="253642"/>
                          </a:solidFill>
                          <a:latin typeface="DejaVu Sans"/>
                          <a:ea typeface="DejaVu Sans"/>
                          <a:cs typeface="DejaVu Sans"/>
                        </a:rPr>
                        <a:t>Strong intestinal immunity</a:t>
                      </a:r>
                    </a:p>
                  </a:txBody>
                  <a:tcPr anchor="ctr">
                    <a:solidFill>
                      <a:srgbClr val="FFFFFF"/>
                    </a:solidFill>
                  </a:tcPr>
                </a:tc>
                <a:extLst>
                  <a:ext uri="{0D108BD9-81ED-4DB2-BD59-A6C34878D82A}">
                    <a16:rowId xmlns:a16="http://schemas.microsoft.com/office/drawing/2014/main" val="10002"/>
                  </a:ext>
                </a:extLst>
              </a:tr>
              <a:tr h="816769">
                <a:tc>
                  <a:txBody>
                    <a:bodyPr/>
                    <a:lstStyle/>
                    <a:p>
                      <a:r>
                        <a:rPr sz="1800" b="0">
                          <a:solidFill>
                            <a:srgbClr val="253642"/>
                          </a:solidFill>
                          <a:latin typeface="DejaVu Sans"/>
                          <a:ea typeface="DejaVu Sans"/>
                          <a:cs typeface="DejaVu Sans"/>
                        </a:rPr>
                        <a:t>Vaccine-virus risk</a:t>
                      </a:r>
                    </a:p>
                  </a:txBody>
                  <a:tcPr anchor="ctr">
                    <a:solidFill>
                      <a:srgbClr val="FFFFFF"/>
                    </a:solidFill>
                  </a:tcPr>
                </a:tc>
                <a:tc>
                  <a:txBody>
                    <a:bodyPr/>
                    <a:lstStyle/>
                    <a:p>
                      <a:r>
                        <a:rPr sz="1800" b="0">
                          <a:solidFill>
                            <a:srgbClr val="253642"/>
                          </a:solidFill>
                          <a:latin typeface="DejaVu Sans"/>
                          <a:ea typeface="DejaVu Sans"/>
                          <a:cs typeface="DejaVu Sans"/>
                        </a:rPr>
                        <a:t>No replication or vaccine-derived virus</a:t>
                      </a:r>
                    </a:p>
                  </a:txBody>
                  <a:tcPr anchor="ctr">
                    <a:solidFill>
                      <a:srgbClr val="FFFFFF"/>
                    </a:solidFill>
                  </a:tcPr>
                </a:tc>
                <a:tc>
                  <a:txBody>
                    <a:bodyPr/>
                    <a:lstStyle/>
                    <a:p>
                      <a:r>
                        <a:rPr sz="1800" b="0">
                          <a:solidFill>
                            <a:srgbClr val="253642"/>
                          </a:solidFill>
                          <a:latin typeface="DejaVu Sans"/>
                          <a:ea typeface="DejaVu Sans"/>
                          <a:cs typeface="DejaVu Sans"/>
                        </a:rPr>
                        <a:t>Rare vaccine-associated or derived poliovirus risks</a:t>
                      </a:r>
                    </a:p>
                  </a:txBody>
                  <a:tcPr anchor="ctr">
                    <a:solidFill>
                      <a:srgbClr val="FFFFFF"/>
                    </a:solidFill>
                  </a:tcPr>
                </a:tc>
                <a:extLst>
                  <a:ext uri="{0D108BD9-81ED-4DB2-BD59-A6C34878D82A}">
                    <a16:rowId xmlns:a16="http://schemas.microsoft.com/office/drawing/2014/main" val="10003"/>
                  </a:ext>
                </a:extLst>
              </a:tr>
              <a:tr h="816769">
                <a:tc>
                  <a:txBody>
                    <a:bodyPr/>
                    <a:lstStyle/>
                    <a:p>
                      <a:r>
                        <a:rPr sz="1800" b="0">
                          <a:solidFill>
                            <a:srgbClr val="253642"/>
                          </a:solidFill>
                          <a:latin typeface="DejaVu Sans"/>
                          <a:ea typeface="DejaVu Sans"/>
                          <a:cs typeface="DejaVu Sans"/>
                        </a:rPr>
                        <a:t>Use</a:t>
                      </a:r>
                    </a:p>
                  </a:txBody>
                  <a:tcPr anchor="ctr">
                    <a:solidFill>
                      <a:srgbClr val="FFFFFF"/>
                    </a:solidFill>
                  </a:tcPr>
                </a:tc>
                <a:tc>
                  <a:txBody>
                    <a:bodyPr/>
                    <a:lstStyle/>
                    <a:p>
                      <a:r>
                        <a:rPr sz="1800" b="0">
                          <a:solidFill>
                            <a:srgbClr val="253642"/>
                          </a:solidFill>
                          <a:latin typeface="DejaVu Sans"/>
                          <a:ea typeface="DejaVu Sans"/>
                          <a:cs typeface="DejaVu Sans"/>
                        </a:rPr>
                        <a:t>Follow national schedules and travel guidance</a:t>
                      </a:r>
                    </a:p>
                  </a:txBody>
                  <a:tcPr anchor="ctr">
                    <a:solidFill>
                      <a:srgbClr val="FFFFFF"/>
                    </a:solidFill>
                  </a:tcPr>
                </a:tc>
                <a:tc>
                  <a:txBody>
                    <a:bodyPr/>
                    <a:lstStyle/>
                    <a:p>
                      <a:r>
                        <a:rPr sz="1800" b="0" dirty="0">
                          <a:solidFill>
                            <a:srgbClr val="253642"/>
                          </a:solidFill>
                          <a:latin typeface="DejaVu Sans"/>
                          <a:ea typeface="DejaVu Sans"/>
                          <a:cs typeface="DejaVu Sans"/>
                        </a:rPr>
                        <a:t>Use depends on national and outbreak </a:t>
                      </a:r>
                      <a:r>
                        <a:rPr sz="1800" b="0" dirty="0" err="1">
                          <a:solidFill>
                            <a:srgbClr val="253642"/>
                          </a:solidFill>
                          <a:latin typeface="DejaVu Sans"/>
                          <a:ea typeface="DejaVu Sans"/>
                          <a:cs typeface="DejaVu Sans"/>
                        </a:rPr>
                        <a:t>programmes</a:t>
                      </a:r>
                      <a:endParaRPr sz="1800" b="0" dirty="0">
                        <a:solidFill>
                          <a:srgbClr val="253642"/>
                        </a:solidFill>
                        <a:latin typeface="DejaVu Sans"/>
                        <a:ea typeface="DejaVu Sans"/>
                        <a:cs typeface="DejaVu Sans"/>
                      </a:endParaRP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text-4">
            <a:extLst>
              <a:ext uri="{FF2B5EF4-FFF2-40B4-BE49-F238E27FC236}">
                <a16:creationId xmlns:a16="http://schemas.microsoft.com/office/drawing/2014/main" id="{8457BA5D-EFD9-4DCF-B195-E737890D9456}"/>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Product choice follows current national policy—not a general preference.</a:t>
            </a:r>
          </a:p>
        </p:txBody>
      </p:sp>
    </p:spTree>
    <p:extLst>
      <p:ext uri="{BB962C8B-B14F-4D97-AF65-F5344CB8AC3E}">
        <p14:creationId xmlns:p14="http://schemas.microsoft.com/office/powerpoint/2010/main" val="3014810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FEF67F4-EA9F-488F-ABA3-BB754DD32270}"/>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1754DEF5-E2DE-4163-A961-A44B8431D4D2}"/>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5EE28CAB-9A0E-4DEE-BA76-4F03FAAA24AC}"/>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dirty="0">
                <a:solidFill>
                  <a:srgbClr val="183344"/>
                </a:solidFill>
                <a:latin typeface="DejaVu Sans"/>
                <a:ea typeface="DejaVu Sans"/>
                <a:cs typeface="DejaVu Sans"/>
              </a:rPr>
              <a:t>Rubella: recognition and prevention</a:t>
            </a:r>
          </a:p>
        </p:txBody>
      </p:sp>
      <p:sp>
        <p:nvSpPr>
          <p:cNvPr id="4" name="text-2">
            <a:extLst>
              <a:ext uri="{FF2B5EF4-FFF2-40B4-BE49-F238E27FC236}">
                <a16:creationId xmlns:a16="http://schemas.microsoft.com/office/drawing/2014/main" id="{9F6DAC34-9376-4B48-89E9-6360C8642746}"/>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B1A494F6-E2D4-4350-AA27-0333AE6F1740}"/>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32</a:t>
            </a:r>
          </a:p>
        </p:txBody>
      </p:sp>
      <p:sp>
        <p:nvSpPr>
          <p:cNvPr id="6" name="text-4">
            <a:extLst>
              <a:ext uri="{FF2B5EF4-FFF2-40B4-BE49-F238E27FC236}">
                <a16:creationId xmlns:a16="http://schemas.microsoft.com/office/drawing/2014/main" id="{7ECAE27A-A269-44D9-BABE-5276862EC2D3}"/>
              </a:ext>
            </a:extLst>
          </p:cNvPr>
          <p:cNvSpPr>
            <a:spLocks noGrp="1"/>
          </p:cNvSpPr>
          <p:nvPr/>
        </p:nvSpPr>
        <p:spPr>
          <a:xfrm>
            <a:off x="571500" y="1685925"/>
            <a:ext cx="6191250" cy="3800475"/>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marL="381000" indent="-254000" algn="l">
              <a:spcAft>
                <a:spcPts val="1300"/>
              </a:spcAft>
              <a:buChar char="•"/>
              <a:defRPr sz="2100" b="0">
                <a:solidFill>
                  <a:srgbClr val="253642"/>
                </a:solidFill>
                <a:latin typeface="DejaVu Sans"/>
                <a:ea typeface="DejaVu Sans"/>
                <a:cs typeface="DejaVu Sans"/>
              </a:defRPr>
            </a:pPr>
            <a:r>
              <a:t>Rubella may cause a mild rash, low fever, and enlarged lymph nodes.</a:t>
            </a:r>
          </a:p>
          <a:p>
            <a:pPr marL="381000" indent="-254000" algn="l">
              <a:spcAft>
                <a:spcPts val="1300"/>
              </a:spcAft>
              <a:buChar char="•"/>
              <a:defRPr sz="2100" b="0">
                <a:solidFill>
                  <a:srgbClr val="253642"/>
                </a:solidFill>
                <a:latin typeface="DejaVu Sans"/>
                <a:ea typeface="DejaVu Sans"/>
                <a:cs typeface="DejaVu Sans"/>
              </a:defRPr>
            </a:pPr>
            <a:r>
              <a:t>Some infections have few or no symptoms.</a:t>
            </a:r>
          </a:p>
          <a:p>
            <a:pPr marL="381000" indent="-254000" algn="l">
              <a:spcAft>
                <a:spcPts val="1300"/>
              </a:spcAft>
              <a:buChar char="•"/>
              <a:defRPr sz="2100" b="0">
                <a:solidFill>
                  <a:srgbClr val="253642"/>
                </a:solidFill>
                <a:latin typeface="DejaVu Sans"/>
                <a:ea typeface="DejaVu Sans"/>
                <a:cs typeface="DejaVu Sans"/>
              </a:defRPr>
            </a:pPr>
            <a:r>
              <a:t>Respiratory droplets spread the virus.</a:t>
            </a:r>
          </a:p>
          <a:p>
            <a:pPr marL="381000" indent="-254000" algn="l">
              <a:spcAft>
                <a:spcPts val="1300"/>
              </a:spcAft>
              <a:buChar char="•"/>
              <a:defRPr sz="2100" b="0">
                <a:solidFill>
                  <a:srgbClr val="253642"/>
                </a:solidFill>
                <a:latin typeface="DejaVu Sans"/>
                <a:ea typeface="DejaVu Sans"/>
                <a:cs typeface="DejaVu Sans"/>
              </a:defRPr>
            </a:pPr>
            <a:r>
              <a:t>MMR vaccination prevents rubella.</a:t>
            </a:r>
          </a:p>
        </p:txBody>
      </p:sp>
      <p:pic>
        <p:nvPicPr>
          <p:cNvPr id="7" name="Picture 6">
            <a:extLst>
              <a:ext uri="{FF2B5EF4-FFF2-40B4-BE49-F238E27FC236}">
                <a16:creationId xmlns:a16="http://schemas.microsoft.com/office/drawing/2014/main" id="{658ADB85-EDC7-45AD-9651-2160205D49F3}"/>
              </a:ext>
            </a:extLst>
          </p:cNvPr>
          <p:cNvPicPr>
            <a:picLocks noChangeAspect="1"/>
          </p:cNvPicPr>
          <p:nvPr/>
        </p:nvPicPr>
        <p:blipFill>
          <a:blip r:embed="rId4"/>
          <a:stretch/>
        </p:blipFill>
        <p:spPr>
          <a:xfrm>
            <a:off x="7143750" y="1918642"/>
            <a:ext cx="4476750" cy="2973090"/>
          </a:xfrm>
          <a:prstGeom prst="rect">
            <a:avLst/>
          </a:prstGeom>
        </p:spPr>
      </p:pic>
      <p:sp>
        <p:nvSpPr>
          <p:cNvPr id="8" name="text-5">
            <a:extLst>
              <a:ext uri="{FF2B5EF4-FFF2-40B4-BE49-F238E27FC236}">
                <a16:creationId xmlns:a16="http://schemas.microsoft.com/office/drawing/2014/main" id="{6AFB5357-8CB6-4079-A8F5-7D03FC41E01A}"/>
              </a:ext>
            </a:extLst>
          </p:cNvPr>
          <p:cNvSpPr>
            <a:spLocks noGrp="1"/>
          </p:cNvSpPr>
          <p:nvPr/>
        </p:nvSpPr>
        <p:spPr>
          <a:xfrm>
            <a:off x="7143750" y="5305425"/>
            <a:ext cx="4476750" cy="552450"/>
          </a:xfrm>
          <a:prstGeom prst="rect">
            <a:avLst/>
          </a:prstGeom>
          <a:noFill/>
          <a:ln w="0">
            <a:noFill/>
          </a:ln>
        </p:spPr>
        <p:txBody>
          <a:bodyPr wrap="square" lIns="0" tIns="0" rIns="0" bIns="0" anchor="t">
            <a:noAutofit/>
          </a:bodyPr>
          <a:lstStyle>
            <a:defPPr algn="l">
              <a:defRPr sz="1500" b="0">
                <a:solidFill>
                  <a:srgbClr val="566B78"/>
                </a:solidFill>
                <a:latin typeface="DejaVu Sans"/>
                <a:ea typeface="DejaVu Sans"/>
                <a:cs typeface="DejaVu Sans"/>
              </a:defRPr>
            </a:defPPr>
          </a:lstStyle>
          <a:p>
            <a:pPr algn="l">
              <a:defRPr sz="1500" b="0">
                <a:solidFill>
                  <a:srgbClr val="566B78"/>
                </a:solidFill>
                <a:latin typeface="DejaVu Sans"/>
                <a:ea typeface="DejaVu Sans"/>
                <a:cs typeface="DejaVu Sans"/>
              </a:defRPr>
            </a:pPr>
            <a:r>
              <a:rPr sz="1500" b="0">
                <a:solidFill>
                  <a:srgbClr val="566B78"/>
                </a:solidFill>
                <a:latin typeface="DejaVu Sans"/>
                <a:ea typeface="DejaVu Sans"/>
                <a:cs typeface="DejaVu Sans"/>
              </a:rPr>
              <a:t>A rubella rash may be subtle and is not diagnostic by appearance alone.</a:t>
            </a:r>
          </a:p>
        </p:txBody>
      </p:sp>
      <p:sp>
        <p:nvSpPr>
          <p:cNvPr id="9" name="text-6">
            <a:extLst>
              <a:ext uri="{FF2B5EF4-FFF2-40B4-BE49-F238E27FC236}">
                <a16:creationId xmlns:a16="http://schemas.microsoft.com/office/drawing/2014/main" id="{8461A5C7-29D8-4CD8-AB5A-0154942987A7}"/>
              </a:ext>
            </a:extLst>
          </p:cNvPr>
          <p:cNvSpPr>
            <a:spLocks noGrp="1"/>
          </p:cNvSpPr>
          <p:nvPr/>
        </p:nvSpPr>
        <p:spPr>
          <a:xfrm>
            <a:off x="7143750" y="6000750"/>
            <a:ext cx="4476750" cy="209550"/>
          </a:xfrm>
          <a:prstGeom prst="rect">
            <a:avLst/>
          </a:prstGeom>
          <a:noFill/>
          <a:ln w="0">
            <a:noFill/>
          </a:ln>
        </p:spPr>
        <p:txBody>
          <a:bodyPr wrap="square" lIns="0" tIns="0" rIns="0" bIns="0" anchor="t">
            <a:noAutofit/>
          </a:bodyPr>
          <a:lstStyle>
            <a:defPPr algn="l">
              <a:defRPr sz="975" b="0">
                <a:solidFill>
                  <a:srgbClr val="566B78"/>
                </a:solidFill>
                <a:latin typeface="DejaVu Sans"/>
                <a:ea typeface="DejaVu Sans"/>
                <a:cs typeface="DejaVu Sans"/>
              </a:defRPr>
            </a:defPPr>
          </a:lstStyle>
          <a:p>
            <a:pPr algn="l">
              <a:defRPr sz="975" b="0">
                <a:solidFill>
                  <a:srgbClr val="566B78"/>
                </a:solidFill>
                <a:latin typeface="DejaVu Sans"/>
                <a:ea typeface="DejaVu Sans"/>
                <a:cs typeface="DejaVu Sans"/>
              </a:defRPr>
            </a:pPr>
            <a:r>
              <a:rPr sz="975" b="0">
                <a:solidFill>
                  <a:srgbClr val="566B78"/>
                </a:solidFill>
                <a:latin typeface="DejaVu Sans"/>
                <a:ea typeface="DejaVu Sans"/>
                <a:cs typeface="DejaVu Sans"/>
              </a:rPr>
              <a:t>Photo: CDC / Public Health Image Library</a:t>
            </a:r>
          </a:p>
        </p:txBody>
      </p:sp>
      <p:sp>
        <p:nvSpPr>
          <p:cNvPr id="10" name="text-7">
            <a:extLst>
              <a:ext uri="{FF2B5EF4-FFF2-40B4-BE49-F238E27FC236}">
                <a16:creationId xmlns:a16="http://schemas.microsoft.com/office/drawing/2014/main" id="{A15ECC0E-DDFE-4EDB-BA93-DC14736F38A7}"/>
              </a:ext>
            </a:extLst>
          </p:cNvPr>
          <p:cNvSpPr>
            <a:spLocks noGrp="1"/>
          </p:cNvSpPr>
          <p:nvPr/>
        </p:nvSpPr>
        <p:spPr>
          <a:xfrm>
            <a:off x="571500" y="5600700"/>
            <a:ext cx="6191250" cy="72390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The greatest concern is infection during pregnancy.</a:t>
            </a:r>
          </a:p>
        </p:txBody>
      </p:sp>
    </p:spTree>
    <p:extLst>
      <p:ext uri="{BB962C8B-B14F-4D97-AF65-F5344CB8AC3E}">
        <p14:creationId xmlns:p14="http://schemas.microsoft.com/office/powerpoint/2010/main" val="540428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BC89E2-260D-4919-945C-C1394E53440A}"/>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5AF95762-7115-4A6F-8068-EDA3AECB43B5}"/>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AAFDBECF-5FB8-4D85-AB42-65B23B857243}"/>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Rubella and pregnancy</a:t>
            </a:r>
          </a:p>
        </p:txBody>
      </p:sp>
      <p:sp>
        <p:nvSpPr>
          <p:cNvPr id="4" name="text-2">
            <a:extLst>
              <a:ext uri="{FF2B5EF4-FFF2-40B4-BE49-F238E27FC236}">
                <a16:creationId xmlns:a16="http://schemas.microsoft.com/office/drawing/2014/main" id="{6B13996A-7859-4671-84E9-5BE20D464556}"/>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50F193D4-3551-4412-A0A2-90BDBABFC549}"/>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33</a:t>
            </a:r>
          </a:p>
        </p:txBody>
      </p:sp>
      <p:sp>
        <p:nvSpPr>
          <p:cNvPr id="6" name="text-4">
            <a:extLst>
              <a:ext uri="{FF2B5EF4-FFF2-40B4-BE49-F238E27FC236}">
                <a16:creationId xmlns:a16="http://schemas.microsoft.com/office/drawing/2014/main" id="{7F97A90B-1F0A-4DBA-985A-4405CB21AFAE}"/>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rPr dirty="0"/>
              <a:t>Infection during pregnancy can cause miscarriage, fetal death, or congenital rubella syndrome.</a:t>
            </a:r>
          </a:p>
          <a:p>
            <a:pPr marL="381000" indent="-254000" algn="l">
              <a:spcAft>
                <a:spcPts val="1700"/>
              </a:spcAft>
              <a:buChar char="•"/>
              <a:defRPr sz="2175" b="0">
                <a:solidFill>
                  <a:srgbClr val="253642"/>
                </a:solidFill>
                <a:latin typeface="DejaVu Sans"/>
                <a:ea typeface="DejaVu Sans"/>
                <a:cs typeface="DejaVu Sans"/>
              </a:defRPr>
            </a:pPr>
            <a:r>
              <a:rPr dirty="0"/>
              <a:t>Congenital effects include hearing loss, eye defects, and congenital heart disease.</a:t>
            </a:r>
          </a:p>
          <a:p>
            <a:pPr marL="381000" indent="-254000" algn="l">
              <a:spcAft>
                <a:spcPts val="1700"/>
              </a:spcAft>
              <a:buChar char="•"/>
              <a:defRPr sz="2175" b="0">
                <a:solidFill>
                  <a:srgbClr val="253642"/>
                </a:solidFill>
                <a:latin typeface="DejaVu Sans"/>
                <a:ea typeface="DejaVu Sans"/>
                <a:cs typeface="DejaVu Sans"/>
              </a:defRPr>
            </a:pPr>
            <a:r>
              <a:rPr dirty="0"/>
              <a:t>Rubella immunity should be reviewed before pregnancy when possible.</a:t>
            </a:r>
          </a:p>
          <a:p>
            <a:pPr marL="381000" indent="-254000" algn="l">
              <a:spcAft>
                <a:spcPts val="1700"/>
              </a:spcAft>
              <a:buChar char="•"/>
              <a:defRPr sz="2175" b="0">
                <a:solidFill>
                  <a:srgbClr val="253642"/>
                </a:solidFill>
                <a:latin typeface="DejaVu Sans"/>
                <a:ea typeface="DejaVu Sans"/>
                <a:cs typeface="DejaVu Sans"/>
              </a:defRPr>
            </a:pPr>
            <a:r>
              <a:rPr dirty="0"/>
              <a:t>MMR is a live vaccine and is not given during pregnancy; susceptible patients can be vaccinated postpartum.</a:t>
            </a:r>
          </a:p>
        </p:txBody>
      </p:sp>
      <p:sp>
        <p:nvSpPr>
          <p:cNvPr id="7" name="text-5">
            <a:extLst>
              <a:ext uri="{FF2B5EF4-FFF2-40B4-BE49-F238E27FC236}">
                <a16:creationId xmlns:a16="http://schemas.microsoft.com/office/drawing/2014/main" id="{A61CCCA7-06C7-41F3-AF8C-CD8E64A87A36}"/>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endParaRPr sz="1650" b="1" dirty="0">
              <a:solidFill>
                <a:srgbClr val="007FAE"/>
              </a:solidFill>
              <a:latin typeface="DejaVu Sans"/>
              <a:ea typeface="DejaVu Sans"/>
              <a:cs typeface="DejaVu Sans"/>
            </a:endParaRPr>
          </a:p>
        </p:txBody>
      </p:sp>
    </p:spTree>
    <p:extLst>
      <p:ext uri="{BB962C8B-B14F-4D97-AF65-F5344CB8AC3E}">
        <p14:creationId xmlns:p14="http://schemas.microsoft.com/office/powerpoint/2010/main" val="1921545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25D9E97-F96C-4E9D-877B-AB0CCB475664}"/>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15B80BDF-0B83-4E40-B9A5-8941A7325CE1}"/>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004C456A-D4AB-45DA-8A56-9783F48A53D6}"/>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dirty="0">
                <a:solidFill>
                  <a:srgbClr val="183344"/>
                </a:solidFill>
                <a:latin typeface="DejaVu Sans"/>
                <a:ea typeface="DejaVu Sans"/>
                <a:cs typeface="DejaVu Sans"/>
              </a:rPr>
              <a:t>Shingles: reactivation of VZV</a:t>
            </a:r>
          </a:p>
        </p:txBody>
      </p:sp>
      <p:sp>
        <p:nvSpPr>
          <p:cNvPr id="4" name="text-2">
            <a:extLst>
              <a:ext uri="{FF2B5EF4-FFF2-40B4-BE49-F238E27FC236}">
                <a16:creationId xmlns:a16="http://schemas.microsoft.com/office/drawing/2014/main" id="{EB5D069C-E010-42F2-BE9E-6BC22BD358B8}"/>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07A1924B-3F2F-4CCE-9A39-54236C6FF705}"/>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34</a:t>
            </a:r>
          </a:p>
        </p:txBody>
      </p:sp>
      <p:sp>
        <p:nvSpPr>
          <p:cNvPr id="6" name="text-4">
            <a:extLst>
              <a:ext uri="{FF2B5EF4-FFF2-40B4-BE49-F238E27FC236}">
                <a16:creationId xmlns:a16="http://schemas.microsoft.com/office/drawing/2014/main" id="{F1C78D9A-7213-4A7E-ABA0-9C485BDD71C6}"/>
              </a:ext>
            </a:extLst>
          </p:cNvPr>
          <p:cNvSpPr>
            <a:spLocks noGrp="1"/>
          </p:cNvSpPr>
          <p:nvPr/>
        </p:nvSpPr>
        <p:spPr>
          <a:xfrm>
            <a:off x="571500" y="1685925"/>
            <a:ext cx="6191250" cy="3800475"/>
          </a:xfrm>
          <a:prstGeom prst="rect">
            <a:avLst/>
          </a:prstGeom>
          <a:noFill/>
          <a:ln w="0">
            <a:noFill/>
          </a:ln>
        </p:spPr>
        <p:txBody>
          <a:bodyPr wrap="square" lIns="0" tIns="0" rIns="0" bIns="0" anchor="t">
            <a:noAutofit/>
          </a:bodyPr>
          <a:lstStyle>
            <a:defPPr algn="l">
              <a:defRPr sz="2100" b="0">
                <a:solidFill>
                  <a:srgbClr val="253642"/>
                </a:solidFill>
                <a:latin typeface="DejaVu Sans"/>
                <a:ea typeface="DejaVu Sans"/>
                <a:cs typeface="DejaVu Sans"/>
              </a:defRPr>
            </a:defPPr>
          </a:lstStyle>
          <a:p>
            <a:pPr marL="381000" indent="-254000" algn="l">
              <a:spcAft>
                <a:spcPts val="1300"/>
              </a:spcAft>
              <a:buChar char="•"/>
              <a:defRPr sz="2100" b="0">
                <a:solidFill>
                  <a:srgbClr val="253642"/>
                </a:solidFill>
                <a:latin typeface="DejaVu Sans"/>
                <a:ea typeface="DejaVu Sans"/>
                <a:cs typeface="DejaVu Sans"/>
              </a:defRPr>
            </a:pPr>
            <a:r>
              <a:rPr dirty="0"/>
              <a:t>VZV remains latent after chickenpox and may reactivate later.</a:t>
            </a:r>
          </a:p>
          <a:p>
            <a:pPr marL="381000" indent="-254000" algn="l">
              <a:spcAft>
                <a:spcPts val="1300"/>
              </a:spcAft>
              <a:buChar char="•"/>
              <a:defRPr sz="2100" b="0">
                <a:solidFill>
                  <a:srgbClr val="253642"/>
                </a:solidFill>
                <a:latin typeface="DejaVu Sans"/>
                <a:ea typeface="DejaVu Sans"/>
                <a:cs typeface="DejaVu Sans"/>
              </a:defRPr>
            </a:pPr>
            <a:r>
              <a:rPr dirty="0"/>
              <a:t>Pain, burning, or tingling may precede a one-sided blistering rash.</a:t>
            </a:r>
          </a:p>
          <a:p>
            <a:pPr marL="381000" indent="-254000" algn="l">
              <a:spcAft>
                <a:spcPts val="1300"/>
              </a:spcAft>
              <a:buChar char="•"/>
              <a:defRPr sz="2100" b="0">
                <a:solidFill>
                  <a:srgbClr val="253642"/>
                </a:solidFill>
                <a:latin typeface="DejaVu Sans"/>
                <a:ea typeface="DejaVu Sans"/>
                <a:cs typeface="DejaVu Sans"/>
              </a:defRPr>
            </a:pPr>
            <a:r>
              <a:rPr dirty="0"/>
              <a:t>The rash usually follows a dermatome: an area supplied by one sensory nerve.</a:t>
            </a:r>
          </a:p>
          <a:p>
            <a:pPr marL="381000" indent="-254000" algn="l">
              <a:spcAft>
                <a:spcPts val="1300"/>
              </a:spcAft>
              <a:buChar char="•"/>
              <a:defRPr sz="2100" b="0">
                <a:solidFill>
                  <a:srgbClr val="253642"/>
                </a:solidFill>
                <a:latin typeface="DejaVu Sans"/>
                <a:ea typeface="DejaVu Sans"/>
                <a:cs typeface="DejaVu Sans"/>
              </a:defRPr>
            </a:pPr>
            <a:r>
              <a:rPr dirty="0"/>
              <a:t>Persistent nerve pain is called postherpetic neuralgia.</a:t>
            </a:r>
          </a:p>
        </p:txBody>
      </p:sp>
      <p:pic>
        <p:nvPicPr>
          <p:cNvPr id="7" name="Picture 6">
            <a:extLst>
              <a:ext uri="{FF2B5EF4-FFF2-40B4-BE49-F238E27FC236}">
                <a16:creationId xmlns:a16="http://schemas.microsoft.com/office/drawing/2014/main" id="{4EC22EAF-8676-4FF3-8667-0561C8E9DF86}"/>
              </a:ext>
            </a:extLst>
          </p:cNvPr>
          <p:cNvPicPr>
            <a:picLocks noChangeAspect="1"/>
          </p:cNvPicPr>
          <p:nvPr/>
        </p:nvPicPr>
        <p:blipFill>
          <a:blip r:embed="rId4"/>
          <a:stretch/>
        </p:blipFill>
        <p:spPr>
          <a:xfrm>
            <a:off x="7143750" y="1726406"/>
            <a:ext cx="4476750" cy="3357563"/>
          </a:xfrm>
          <a:prstGeom prst="rect">
            <a:avLst/>
          </a:prstGeom>
        </p:spPr>
      </p:pic>
      <p:sp>
        <p:nvSpPr>
          <p:cNvPr id="8" name="text-5">
            <a:extLst>
              <a:ext uri="{FF2B5EF4-FFF2-40B4-BE49-F238E27FC236}">
                <a16:creationId xmlns:a16="http://schemas.microsoft.com/office/drawing/2014/main" id="{9C08C9D7-FDF7-4026-9AB1-B7467CAD4192}"/>
              </a:ext>
            </a:extLst>
          </p:cNvPr>
          <p:cNvSpPr>
            <a:spLocks noGrp="1"/>
          </p:cNvSpPr>
          <p:nvPr/>
        </p:nvSpPr>
        <p:spPr>
          <a:xfrm>
            <a:off x="7143750" y="5305425"/>
            <a:ext cx="4476750" cy="552450"/>
          </a:xfrm>
          <a:prstGeom prst="rect">
            <a:avLst/>
          </a:prstGeom>
          <a:noFill/>
          <a:ln w="0">
            <a:noFill/>
          </a:ln>
        </p:spPr>
        <p:txBody>
          <a:bodyPr wrap="square" lIns="0" tIns="0" rIns="0" bIns="0" anchor="t">
            <a:noAutofit/>
          </a:bodyPr>
          <a:lstStyle>
            <a:defPPr algn="l">
              <a:defRPr sz="1500" b="0">
                <a:solidFill>
                  <a:srgbClr val="566B78"/>
                </a:solidFill>
                <a:latin typeface="DejaVu Sans"/>
                <a:ea typeface="DejaVu Sans"/>
                <a:cs typeface="DejaVu Sans"/>
              </a:defRPr>
            </a:defPPr>
          </a:lstStyle>
          <a:p>
            <a:pPr algn="l">
              <a:defRPr sz="1500" b="0">
                <a:solidFill>
                  <a:srgbClr val="566B78"/>
                </a:solidFill>
                <a:latin typeface="DejaVu Sans"/>
                <a:ea typeface="DejaVu Sans"/>
                <a:cs typeface="DejaVu Sans"/>
              </a:defRPr>
            </a:pPr>
            <a:r>
              <a:rPr sz="1500" b="0">
                <a:solidFill>
                  <a:srgbClr val="566B78"/>
                </a:solidFill>
                <a:latin typeface="DejaVu Sans"/>
                <a:ea typeface="DejaVu Sans"/>
                <a:cs typeface="DejaVu Sans"/>
              </a:rPr>
              <a:t>Notice the grouped blisters on one side of the chest.</a:t>
            </a:r>
          </a:p>
        </p:txBody>
      </p:sp>
      <p:sp>
        <p:nvSpPr>
          <p:cNvPr id="9" name="text-6">
            <a:extLst>
              <a:ext uri="{FF2B5EF4-FFF2-40B4-BE49-F238E27FC236}">
                <a16:creationId xmlns:a16="http://schemas.microsoft.com/office/drawing/2014/main" id="{E1ABE385-C195-446D-B43F-5BB6E02F01F4}"/>
              </a:ext>
            </a:extLst>
          </p:cNvPr>
          <p:cNvSpPr>
            <a:spLocks noGrp="1"/>
          </p:cNvSpPr>
          <p:nvPr/>
        </p:nvSpPr>
        <p:spPr>
          <a:xfrm>
            <a:off x="7143750" y="6000750"/>
            <a:ext cx="4476750" cy="209550"/>
          </a:xfrm>
          <a:prstGeom prst="rect">
            <a:avLst/>
          </a:prstGeom>
          <a:noFill/>
          <a:ln w="0">
            <a:noFill/>
          </a:ln>
        </p:spPr>
        <p:txBody>
          <a:bodyPr wrap="square" lIns="0" tIns="0" rIns="0" bIns="0" anchor="t">
            <a:noAutofit/>
          </a:bodyPr>
          <a:lstStyle>
            <a:defPPr algn="l">
              <a:defRPr sz="975" b="0">
                <a:solidFill>
                  <a:srgbClr val="566B78"/>
                </a:solidFill>
                <a:latin typeface="DejaVu Sans"/>
                <a:ea typeface="DejaVu Sans"/>
                <a:cs typeface="DejaVu Sans"/>
              </a:defRPr>
            </a:defPPr>
          </a:lstStyle>
          <a:p>
            <a:pPr algn="l">
              <a:defRPr sz="975" b="0">
                <a:solidFill>
                  <a:srgbClr val="566B78"/>
                </a:solidFill>
                <a:latin typeface="DejaVu Sans"/>
                <a:ea typeface="DejaVu Sans"/>
                <a:cs typeface="DejaVu Sans"/>
              </a:defRPr>
            </a:pPr>
            <a:r>
              <a:rPr sz="975" b="0">
                <a:solidFill>
                  <a:srgbClr val="566B78"/>
                </a:solidFill>
                <a:latin typeface="DejaVu Sans"/>
                <a:ea typeface="DejaVu Sans"/>
                <a:cs typeface="DejaVu Sans"/>
              </a:rPr>
              <a:t>Photo: Preston Hunt / Wikimedia / CC BY 3.0</a:t>
            </a:r>
          </a:p>
        </p:txBody>
      </p:sp>
      <p:sp>
        <p:nvSpPr>
          <p:cNvPr id="10" name="text-7">
            <a:extLst>
              <a:ext uri="{FF2B5EF4-FFF2-40B4-BE49-F238E27FC236}">
                <a16:creationId xmlns:a16="http://schemas.microsoft.com/office/drawing/2014/main" id="{47BC1B9C-7667-46AC-930F-01BDC65CC65B}"/>
              </a:ext>
            </a:extLst>
          </p:cNvPr>
          <p:cNvSpPr>
            <a:spLocks noGrp="1"/>
          </p:cNvSpPr>
          <p:nvPr/>
        </p:nvSpPr>
        <p:spPr>
          <a:xfrm>
            <a:off x="571500" y="5600700"/>
            <a:ext cx="6191250" cy="72390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Eye involvement or widespread disease needs urgent evaluation.</a:t>
            </a:r>
          </a:p>
        </p:txBody>
      </p:sp>
    </p:spTree>
    <p:extLst>
      <p:ext uri="{BB962C8B-B14F-4D97-AF65-F5344CB8AC3E}">
        <p14:creationId xmlns:p14="http://schemas.microsoft.com/office/powerpoint/2010/main" val="1075853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42FA29-B560-4134-A4C2-58CAF68D5623}"/>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732357A2-4A6D-4B03-8D77-4EE6195D3E3B}"/>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C1E883CB-66F7-44D3-9EF6-920065F6CC2B}"/>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Shingles: vaccine and transmission</a:t>
            </a:r>
          </a:p>
        </p:txBody>
      </p:sp>
      <p:sp>
        <p:nvSpPr>
          <p:cNvPr id="4" name="text-2">
            <a:extLst>
              <a:ext uri="{FF2B5EF4-FFF2-40B4-BE49-F238E27FC236}">
                <a16:creationId xmlns:a16="http://schemas.microsoft.com/office/drawing/2014/main" id="{7C02BC13-7A76-40B4-8611-1F3DB2740D7E}"/>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F284B603-5C6E-47DA-B1B3-D10E0E68D7CD}"/>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35</a:t>
            </a:r>
          </a:p>
        </p:txBody>
      </p:sp>
      <p:sp>
        <p:nvSpPr>
          <p:cNvPr id="6" name="text-4">
            <a:extLst>
              <a:ext uri="{FF2B5EF4-FFF2-40B4-BE49-F238E27FC236}">
                <a16:creationId xmlns:a16="http://schemas.microsoft.com/office/drawing/2014/main" id="{7B34BBB0-E103-4EF9-A837-31C6E8CF75C9}"/>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rPr dirty="0"/>
              <a:t>The recombinant zoster vaccine (RZV) is non-live and given as a two-dose series.</a:t>
            </a:r>
          </a:p>
          <a:p>
            <a:pPr marL="381000" indent="-254000" algn="l">
              <a:spcAft>
                <a:spcPts val="1700"/>
              </a:spcAft>
              <a:buChar char="•"/>
              <a:defRPr sz="2175" b="0">
                <a:solidFill>
                  <a:srgbClr val="253642"/>
                </a:solidFill>
                <a:latin typeface="DejaVu Sans"/>
                <a:ea typeface="DejaVu Sans"/>
                <a:cs typeface="DejaVu Sans"/>
              </a:defRPr>
            </a:pPr>
            <a:r>
              <a:rPr dirty="0"/>
              <a:t>Saudi MOH guidance includes adults aged 50+ and immunocompromised adults aged 18+.</a:t>
            </a:r>
          </a:p>
          <a:p>
            <a:pPr marL="381000" indent="-254000" algn="l">
              <a:spcAft>
                <a:spcPts val="1700"/>
              </a:spcAft>
              <a:buChar char="•"/>
              <a:defRPr sz="2175" b="0">
                <a:solidFill>
                  <a:srgbClr val="253642"/>
                </a:solidFill>
                <a:latin typeface="DejaVu Sans"/>
                <a:ea typeface="DejaVu Sans"/>
                <a:cs typeface="DejaVu Sans"/>
              </a:defRPr>
            </a:pPr>
            <a:r>
              <a:rPr dirty="0"/>
              <a:t>VZV from shingles can cause chickenpox in a susceptible contact.</a:t>
            </a:r>
          </a:p>
          <a:p>
            <a:pPr marL="381000" indent="-254000" algn="l">
              <a:spcAft>
                <a:spcPts val="1700"/>
              </a:spcAft>
              <a:buChar char="•"/>
              <a:defRPr sz="2175" b="0">
                <a:solidFill>
                  <a:srgbClr val="253642"/>
                </a:solidFill>
                <a:latin typeface="DejaVu Sans"/>
                <a:ea typeface="DejaVu Sans"/>
                <a:cs typeface="DejaVu Sans"/>
              </a:defRPr>
            </a:pPr>
            <a:r>
              <a:rPr dirty="0"/>
              <a:t>Cover lesions; precautions depend on extent of disease and immune status.</a:t>
            </a:r>
          </a:p>
        </p:txBody>
      </p:sp>
      <p:sp>
        <p:nvSpPr>
          <p:cNvPr id="7" name="text-5">
            <a:extLst>
              <a:ext uri="{FF2B5EF4-FFF2-40B4-BE49-F238E27FC236}">
                <a16:creationId xmlns:a16="http://schemas.microsoft.com/office/drawing/2014/main" id="{2D3E448F-7B75-4D69-9549-0F97BE8375DA}"/>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RZV prevents shingles; it is not a substitute for the varicella vaccine.</a:t>
            </a:r>
          </a:p>
        </p:txBody>
      </p:sp>
    </p:spTree>
    <p:extLst>
      <p:ext uri="{BB962C8B-B14F-4D97-AF65-F5344CB8AC3E}">
        <p14:creationId xmlns:p14="http://schemas.microsoft.com/office/powerpoint/2010/main" val="1543141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47646F-9E1D-4D67-B618-B9A8767C1EC2}"/>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69E0A470-B66C-49DB-A87D-823D909111CD}"/>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366C602C-68F5-4755-A7DD-910D2139058C}"/>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Tetanus: a toxin-mediated emergency</a:t>
            </a:r>
          </a:p>
        </p:txBody>
      </p:sp>
      <p:sp>
        <p:nvSpPr>
          <p:cNvPr id="4" name="text-2">
            <a:extLst>
              <a:ext uri="{FF2B5EF4-FFF2-40B4-BE49-F238E27FC236}">
                <a16:creationId xmlns:a16="http://schemas.microsoft.com/office/drawing/2014/main" id="{1B69344E-1D83-4EE1-9B46-0DD3268BD105}"/>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EF6A7453-9E59-4BE0-92D0-19DEFE15920C}"/>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36</a:t>
            </a:r>
          </a:p>
        </p:txBody>
      </p:sp>
      <p:sp>
        <p:nvSpPr>
          <p:cNvPr id="6" name="text-4">
            <a:extLst>
              <a:ext uri="{FF2B5EF4-FFF2-40B4-BE49-F238E27FC236}">
                <a16:creationId xmlns:a16="http://schemas.microsoft.com/office/drawing/2014/main" id="{EAEABBD1-11E6-44F6-869A-94BFBAACA066}"/>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Clostridium tetani spores enter through wounds or breaks in the skin.</a:t>
            </a:r>
          </a:p>
          <a:p>
            <a:pPr marL="381000" indent="-254000" algn="l">
              <a:spcAft>
                <a:spcPts val="1700"/>
              </a:spcAft>
              <a:buChar char="•"/>
              <a:defRPr sz="2175" b="0">
                <a:solidFill>
                  <a:srgbClr val="253642"/>
                </a:solidFill>
                <a:latin typeface="DejaVu Sans"/>
                <a:ea typeface="DejaVu Sans"/>
                <a:cs typeface="DejaVu Sans"/>
              </a:defRPr>
            </a:pPr>
            <a:r>
              <a:t>Toxin blocks inhibitory nerve signals, causing rigidity and painful spasms.</a:t>
            </a:r>
          </a:p>
          <a:p>
            <a:pPr marL="381000" indent="-254000" algn="l">
              <a:spcAft>
                <a:spcPts val="1700"/>
              </a:spcAft>
              <a:buChar char="•"/>
              <a:defRPr sz="2175" b="0">
                <a:solidFill>
                  <a:srgbClr val="253642"/>
                </a:solidFill>
                <a:latin typeface="DejaVu Sans"/>
                <a:ea typeface="DejaVu Sans"/>
                <a:cs typeface="DejaVu Sans"/>
              </a:defRPr>
            </a:pPr>
            <a:r>
              <a:t>Lockjaw, swallowing difficulty, and respiratory compromise may occur.</a:t>
            </a:r>
          </a:p>
          <a:p>
            <a:pPr marL="381000" indent="-254000" algn="l">
              <a:spcAft>
                <a:spcPts val="1700"/>
              </a:spcAft>
              <a:buChar char="•"/>
              <a:defRPr sz="2175" b="0">
                <a:solidFill>
                  <a:srgbClr val="253642"/>
                </a:solidFill>
                <a:latin typeface="DejaVu Sans"/>
                <a:ea typeface="DejaVu Sans"/>
                <a:cs typeface="DejaVu Sans"/>
              </a:defRPr>
            </a:pPr>
            <a:r>
              <a:t>Tetanus does not spread from person to person.</a:t>
            </a:r>
          </a:p>
        </p:txBody>
      </p:sp>
      <p:sp>
        <p:nvSpPr>
          <p:cNvPr id="7" name="text-5">
            <a:extLst>
              <a:ext uri="{FF2B5EF4-FFF2-40B4-BE49-F238E27FC236}">
                <a16:creationId xmlns:a16="http://schemas.microsoft.com/office/drawing/2014/main" id="{6E9201EB-1814-4ECD-A4B7-5DC43A73597C}"/>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Suspected tetanus requires urgent hospital care and close airway monitoring.</a:t>
            </a:r>
          </a:p>
        </p:txBody>
      </p:sp>
    </p:spTree>
    <p:extLst>
      <p:ext uri="{BB962C8B-B14F-4D97-AF65-F5344CB8AC3E}">
        <p14:creationId xmlns:p14="http://schemas.microsoft.com/office/powerpoint/2010/main" val="667312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AD93AD8-8399-4E12-921A-4D8748094B76}"/>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0EB8015C-7AEE-4936-8537-68257E0DEEDB}"/>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02 / VACCINE-PREVENTABLE DISEASES</a:t>
            </a:r>
          </a:p>
        </p:txBody>
      </p:sp>
      <p:sp>
        <p:nvSpPr>
          <p:cNvPr id="3" name="text-1">
            <a:extLst>
              <a:ext uri="{FF2B5EF4-FFF2-40B4-BE49-F238E27FC236}">
                <a16:creationId xmlns:a16="http://schemas.microsoft.com/office/drawing/2014/main" id="{F30BDBD2-D3CC-48A2-8199-803522D014DC}"/>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Tetanus prevention after a wound</a:t>
            </a:r>
          </a:p>
        </p:txBody>
      </p:sp>
      <p:sp>
        <p:nvSpPr>
          <p:cNvPr id="4" name="text-2">
            <a:extLst>
              <a:ext uri="{FF2B5EF4-FFF2-40B4-BE49-F238E27FC236}">
                <a16:creationId xmlns:a16="http://schemas.microsoft.com/office/drawing/2014/main" id="{AA067D8A-D50C-4593-85E5-8EBAA22F332B}"/>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C524289F-F343-4A88-850D-A8B945D08C34}"/>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37</a:t>
            </a:r>
          </a:p>
        </p:txBody>
      </p:sp>
      <p:sp>
        <p:nvSpPr>
          <p:cNvPr id="6" name="text-4">
            <a:extLst>
              <a:ext uri="{FF2B5EF4-FFF2-40B4-BE49-F238E27FC236}">
                <a16:creationId xmlns:a16="http://schemas.microsoft.com/office/drawing/2014/main" id="{0FCD2593-095B-4D91-A9B9-9C22CD368874}"/>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Clean the wound and remove foreign material as clinically appropriate.</a:t>
            </a:r>
          </a:p>
          <a:p>
            <a:pPr marL="381000" indent="-254000" algn="l">
              <a:spcAft>
                <a:spcPts val="1700"/>
              </a:spcAft>
              <a:buChar char="•"/>
              <a:defRPr sz="2175" b="0">
                <a:solidFill>
                  <a:srgbClr val="253642"/>
                </a:solidFill>
                <a:latin typeface="DejaVu Sans"/>
                <a:ea typeface="DejaVu Sans"/>
                <a:cs typeface="DejaVu Sans"/>
              </a:defRPr>
            </a:pPr>
            <a:r>
              <a:t>Review the wound type and documented vaccination history.</a:t>
            </a:r>
          </a:p>
          <a:p>
            <a:pPr marL="381000" indent="-254000" algn="l">
              <a:spcAft>
                <a:spcPts val="1700"/>
              </a:spcAft>
              <a:buChar char="•"/>
              <a:defRPr sz="2175" b="0">
                <a:solidFill>
                  <a:srgbClr val="253642"/>
                </a:solidFill>
                <a:latin typeface="DejaVu Sans"/>
                <a:ea typeface="DejaVu Sans"/>
                <a:cs typeface="DejaVu Sans"/>
              </a:defRPr>
            </a:pPr>
            <a:r>
              <a:t>Give a tetanus-containing vaccine when indicated by the current protocol.</a:t>
            </a:r>
          </a:p>
          <a:p>
            <a:pPr marL="381000" indent="-254000" algn="l">
              <a:spcAft>
                <a:spcPts val="1700"/>
              </a:spcAft>
              <a:buChar char="•"/>
              <a:defRPr sz="2175" b="0">
                <a:solidFill>
                  <a:srgbClr val="253642"/>
                </a:solidFill>
                <a:latin typeface="DejaVu Sans"/>
                <a:ea typeface="DejaVu Sans"/>
                <a:cs typeface="DejaVu Sans"/>
              </a:defRPr>
            </a:pPr>
            <a:r>
              <a:t>TIG may also be required for selected dirty or major wounds and susceptible patients.</a:t>
            </a:r>
          </a:p>
        </p:txBody>
      </p:sp>
      <p:sp>
        <p:nvSpPr>
          <p:cNvPr id="7" name="text-5">
            <a:extLst>
              <a:ext uri="{FF2B5EF4-FFF2-40B4-BE49-F238E27FC236}">
                <a16:creationId xmlns:a16="http://schemas.microsoft.com/office/drawing/2014/main" id="{A5C93B9E-D325-401B-A7AF-D8495E616C8B}"/>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TIG provides passive antibodies; the vaccine builds active immunity.</a:t>
            </a:r>
          </a:p>
        </p:txBody>
      </p:sp>
    </p:spTree>
    <p:extLst>
      <p:ext uri="{BB962C8B-B14F-4D97-AF65-F5344CB8AC3E}">
        <p14:creationId xmlns:p14="http://schemas.microsoft.com/office/powerpoint/2010/main" val="9814188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D64861F-AE1D-4208-863A-630BD124BCA3}"/>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96841E8B-987A-4D75-B083-2578AEDA1D48}"/>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03 / APPLICATION AND REVIEW</a:t>
            </a:r>
          </a:p>
        </p:txBody>
      </p:sp>
      <p:sp>
        <p:nvSpPr>
          <p:cNvPr id="3" name="text-1">
            <a:extLst>
              <a:ext uri="{FF2B5EF4-FFF2-40B4-BE49-F238E27FC236}">
                <a16:creationId xmlns:a16="http://schemas.microsoft.com/office/drawing/2014/main" id="{80FAD668-344A-457C-B09B-391C46A24A96}"/>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Respiratory precautions: key comparisons</a:t>
            </a:r>
          </a:p>
        </p:txBody>
      </p:sp>
      <p:sp>
        <p:nvSpPr>
          <p:cNvPr id="4" name="text-2">
            <a:extLst>
              <a:ext uri="{FF2B5EF4-FFF2-40B4-BE49-F238E27FC236}">
                <a16:creationId xmlns:a16="http://schemas.microsoft.com/office/drawing/2014/main" id="{1D4B63E2-41EA-4099-8245-B6E4BDAD3442}"/>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0465FBCC-EB52-4FF3-9B61-92BFA72C337D}"/>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38</a:t>
            </a:r>
          </a:p>
        </p:txBody>
      </p:sp>
      <p:graphicFrame>
        <p:nvGraphicFramePr>
          <p:cNvPr id="6" name="Table 5">
            <a:extLst>
              <a:ext uri="{FF2B5EF4-FFF2-40B4-BE49-F238E27FC236}">
                <a16:creationId xmlns:a16="http://schemas.microsoft.com/office/drawing/2014/main" id="{CFCF20DD-61F4-4348-84F0-65EF5EC46325}"/>
              </a:ext>
            </a:extLst>
          </p:cNvPr>
          <p:cNvGraphicFramePr/>
          <p:nvPr/>
        </p:nvGraphicFramePr>
        <p:xfrm>
          <a:off x="571500" y="1609725"/>
          <a:ext cx="11049000" cy="3884296"/>
        </p:xfrm>
        <a:graphic>
          <a:graphicData uri="http://schemas.openxmlformats.org/drawingml/2006/table">
            <a:tbl>
              <a:tblPr/>
              <a:tblGrid>
                <a:gridCol w="428625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3952875">
                  <a:extLst>
                    <a:ext uri="{9D8B030D-6E8A-4147-A177-3AD203B41FA5}">
                      <a16:colId xmlns:a16="http://schemas.microsoft.com/office/drawing/2014/main" val="20002"/>
                    </a:ext>
                  </a:extLst>
                </a:gridCol>
              </a:tblGrid>
              <a:tr h="495300">
                <a:tc>
                  <a:txBody>
                    <a:bodyPr/>
                    <a:lstStyle/>
                    <a:p>
                      <a:r>
                        <a:rPr sz="1725" b="1">
                          <a:solidFill>
                            <a:srgbClr val="FFFFFF"/>
                          </a:solidFill>
                          <a:latin typeface="DejaVu Sans"/>
                          <a:ea typeface="DejaVu Sans"/>
                          <a:cs typeface="DejaVu Sans"/>
                        </a:rPr>
                        <a:t>Suspected disease</a:t>
                      </a:r>
                    </a:p>
                  </a:txBody>
                  <a:tcPr anchor="ctr">
                    <a:solidFill>
                      <a:srgbClr val="007FAE"/>
                    </a:solidFill>
                  </a:tcPr>
                </a:tc>
                <a:tc>
                  <a:txBody>
                    <a:bodyPr/>
                    <a:lstStyle/>
                    <a:p>
                      <a:r>
                        <a:rPr sz="1725" b="1">
                          <a:solidFill>
                            <a:srgbClr val="FFFFFF"/>
                          </a:solidFill>
                          <a:latin typeface="DejaVu Sans"/>
                          <a:ea typeface="DejaVu Sans"/>
                          <a:cs typeface="DejaVu Sans"/>
                        </a:rPr>
                        <a:t>Additional precautions</a:t>
                      </a:r>
                    </a:p>
                  </a:txBody>
                  <a:tcPr anchor="ctr">
                    <a:solidFill>
                      <a:srgbClr val="007FAE"/>
                    </a:solidFill>
                  </a:tcPr>
                </a:tc>
                <a:tc>
                  <a:txBody>
                    <a:bodyPr/>
                    <a:lstStyle/>
                    <a:p>
                      <a:r>
                        <a:rPr sz="1725" b="1">
                          <a:solidFill>
                            <a:srgbClr val="FFFFFF"/>
                          </a:solidFill>
                          <a:latin typeface="DejaVu Sans"/>
                          <a:ea typeface="DejaVu Sans"/>
                          <a:cs typeface="DejaVu Sans"/>
                        </a:rPr>
                        <a:t>Practical reminder</a:t>
                      </a:r>
                    </a:p>
                  </a:txBody>
                  <a:tcPr anchor="ctr">
                    <a:solidFill>
                      <a:srgbClr val="007FAE"/>
                    </a:solidFill>
                  </a:tcPr>
                </a:tc>
                <a:extLst>
                  <a:ext uri="{0D108BD9-81ED-4DB2-BD59-A6C34878D82A}">
                    <a16:rowId xmlns:a16="http://schemas.microsoft.com/office/drawing/2014/main" val="10000"/>
                  </a:ext>
                </a:extLst>
              </a:tr>
              <a:tr h="816769">
                <a:tc>
                  <a:txBody>
                    <a:bodyPr/>
                    <a:lstStyle/>
                    <a:p>
                      <a:r>
                        <a:rPr sz="1725" b="0">
                          <a:solidFill>
                            <a:srgbClr val="253642"/>
                          </a:solidFill>
                          <a:latin typeface="DejaVu Sans"/>
                          <a:ea typeface="DejaVu Sans"/>
                          <a:cs typeface="DejaVu Sans"/>
                        </a:rPr>
                        <a:t>Measles</a:t>
                      </a:r>
                    </a:p>
                  </a:txBody>
                  <a:tcPr anchor="ctr">
                    <a:solidFill>
                      <a:srgbClr val="FFFFFF"/>
                    </a:solidFill>
                  </a:tcPr>
                </a:tc>
                <a:tc>
                  <a:txBody>
                    <a:bodyPr/>
                    <a:lstStyle/>
                    <a:p>
                      <a:r>
                        <a:rPr sz="1725" b="0">
                          <a:solidFill>
                            <a:srgbClr val="253642"/>
                          </a:solidFill>
                          <a:latin typeface="DejaVu Sans"/>
                          <a:ea typeface="DejaVu Sans"/>
                          <a:cs typeface="DejaVu Sans"/>
                        </a:rPr>
                        <a:t>Airborne</a:t>
                      </a:r>
                    </a:p>
                  </a:txBody>
                  <a:tcPr anchor="ctr">
                    <a:solidFill>
                      <a:srgbClr val="FFFFFF"/>
                    </a:solidFill>
                  </a:tcPr>
                </a:tc>
                <a:tc>
                  <a:txBody>
                    <a:bodyPr/>
                    <a:lstStyle/>
                    <a:p>
                      <a:r>
                        <a:rPr sz="1725" b="0">
                          <a:solidFill>
                            <a:srgbClr val="253642"/>
                          </a:solidFill>
                          <a:latin typeface="DejaVu Sans"/>
                          <a:ea typeface="DejaVu Sans"/>
                          <a:cs typeface="DejaVu Sans"/>
                        </a:rPr>
                        <a:t>Fit-tested N95 or equivalent</a:t>
                      </a:r>
                    </a:p>
                  </a:txBody>
                  <a:tcPr anchor="ctr">
                    <a:solidFill>
                      <a:srgbClr val="FFFFFF"/>
                    </a:solidFill>
                  </a:tcPr>
                </a:tc>
                <a:extLst>
                  <a:ext uri="{0D108BD9-81ED-4DB2-BD59-A6C34878D82A}">
                    <a16:rowId xmlns:a16="http://schemas.microsoft.com/office/drawing/2014/main" val="10001"/>
                  </a:ext>
                </a:extLst>
              </a:tr>
              <a:tr h="816769">
                <a:tc>
                  <a:txBody>
                    <a:bodyPr/>
                    <a:lstStyle/>
                    <a:p>
                      <a:r>
                        <a:rPr sz="1725" b="0">
                          <a:solidFill>
                            <a:srgbClr val="253642"/>
                          </a:solidFill>
                          <a:latin typeface="DejaVu Sans"/>
                          <a:ea typeface="DejaVu Sans"/>
                          <a:cs typeface="DejaVu Sans"/>
                        </a:rPr>
                        <a:t>Varicella</a:t>
                      </a:r>
                    </a:p>
                  </a:txBody>
                  <a:tcPr anchor="ctr">
                    <a:solidFill>
                      <a:srgbClr val="FFFFFF"/>
                    </a:solidFill>
                  </a:tcPr>
                </a:tc>
                <a:tc>
                  <a:txBody>
                    <a:bodyPr/>
                    <a:lstStyle/>
                    <a:p>
                      <a:r>
                        <a:rPr sz="1725" b="0">
                          <a:solidFill>
                            <a:srgbClr val="253642"/>
                          </a:solidFill>
                          <a:latin typeface="DejaVu Sans"/>
                          <a:ea typeface="DejaVu Sans"/>
                          <a:cs typeface="DejaVu Sans"/>
                        </a:rPr>
                        <a:t>Airborne + Contact</a:t>
                      </a:r>
                    </a:p>
                  </a:txBody>
                  <a:tcPr anchor="ctr">
                    <a:solidFill>
                      <a:srgbClr val="FFFFFF"/>
                    </a:solidFill>
                  </a:tcPr>
                </a:tc>
                <a:tc>
                  <a:txBody>
                    <a:bodyPr/>
                    <a:lstStyle/>
                    <a:p>
                      <a:r>
                        <a:rPr sz="1725" b="0">
                          <a:solidFill>
                            <a:srgbClr val="253642"/>
                          </a:solidFill>
                          <a:latin typeface="DejaVu Sans"/>
                          <a:ea typeface="DejaVu Sans"/>
                          <a:cs typeface="DejaVu Sans"/>
                        </a:rPr>
                        <a:t>Cover lesions; limit exposure</a:t>
                      </a:r>
                    </a:p>
                  </a:txBody>
                  <a:tcPr anchor="ctr">
                    <a:solidFill>
                      <a:srgbClr val="FFFFFF"/>
                    </a:solidFill>
                  </a:tcPr>
                </a:tc>
                <a:extLst>
                  <a:ext uri="{0D108BD9-81ED-4DB2-BD59-A6C34878D82A}">
                    <a16:rowId xmlns:a16="http://schemas.microsoft.com/office/drawing/2014/main" val="10002"/>
                  </a:ext>
                </a:extLst>
              </a:tr>
              <a:tr h="816769">
                <a:tc>
                  <a:txBody>
                    <a:bodyPr/>
                    <a:lstStyle/>
                    <a:p>
                      <a:r>
                        <a:rPr sz="1725" b="0">
                          <a:solidFill>
                            <a:srgbClr val="253642"/>
                          </a:solidFill>
                          <a:latin typeface="DejaVu Sans"/>
                          <a:ea typeface="DejaVu Sans"/>
                          <a:cs typeface="DejaVu Sans"/>
                        </a:rPr>
                        <a:t>Influenza; respiratory diphtheria</a:t>
                      </a:r>
                    </a:p>
                  </a:txBody>
                  <a:tcPr anchor="ctr">
                    <a:solidFill>
                      <a:srgbClr val="FFFFFF"/>
                    </a:solidFill>
                  </a:tcPr>
                </a:tc>
                <a:tc>
                  <a:txBody>
                    <a:bodyPr/>
                    <a:lstStyle/>
                    <a:p>
                      <a:r>
                        <a:rPr sz="1725" b="0">
                          <a:solidFill>
                            <a:srgbClr val="253642"/>
                          </a:solidFill>
                          <a:latin typeface="DejaVu Sans"/>
                          <a:ea typeface="DejaVu Sans"/>
                          <a:cs typeface="DejaVu Sans"/>
                        </a:rPr>
                        <a:t>Droplet</a:t>
                      </a:r>
                    </a:p>
                  </a:txBody>
                  <a:tcPr anchor="ctr">
                    <a:solidFill>
                      <a:srgbClr val="FFFFFF"/>
                    </a:solidFill>
                  </a:tcPr>
                </a:tc>
                <a:tc>
                  <a:txBody>
                    <a:bodyPr/>
                    <a:lstStyle/>
                    <a:p>
                      <a:r>
                        <a:rPr sz="1725" b="0">
                          <a:solidFill>
                            <a:srgbClr val="253642"/>
                          </a:solidFill>
                          <a:latin typeface="DejaVu Sans"/>
                          <a:ea typeface="DejaVu Sans"/>
                          <a:cs typeface="DejaVu Sans"/>
                        </a:rPr>
                        <a:t>Mask patient if tolerated</a:t>
                      </a:r>
                    </a:p>
                  </a:txBody>
                  <a:tcPr anchor="ctr">
                    <a:solidFill>
                      <a:srgbClr val="FFFFFF"/>
                    </a:solidFill>
                  </a:tcPr>
                </a:tc>
                <a:extLst>
                  <a:ext uri="{0D108BD9-81ED-4DB2-BD59-A6C34878D82A}">
                    <a16:rowId xmlns:a16="http://schemas.microsoft.com/office/drawing/2014/main" val="10003"/>
                  </a:ext>
                </a:extLst>
              </a:tr>
              <a:tr h="816769">
                <a:tc>
                  <a:txBody>
                    <a:bodyPr/>
                    <a:lstStyle/>
                    <a:p>
                      <a:r>
                        <a:rPr sz="1725" b="0">
                          <a:solidFill>
                            <a:srgbClr val="253642"/>
                          </a:solidFill>
                          <a:latin typeface="DejaVu Sans"/>
                          <a:ea typeface="DejaVu Sans"/>
                          <a:cs typeface="DejaVu Sans"/>
                        </a:rPr>
                        <a:t>Meningococcal disease; mumps;</a:t>
                      </a:r>
                    </a:p>
                    <a:p>
                      <a:r>
                        <a:rPr sz="1725" b="0">
                          <a:solidFill>
                            <a:srgbClr val="253642"/>
                          </a:solidFill>
                          <a:latin typeface="DejaVu Sans"/>
                          <a:ea typeface="DejaVu Sans"/>
                          <a:cs typeface="DejaVu Sans"/>
                        </a:rPr>
                        <a:t>pertussis; acquired rubella</a:t>
                      </a:r>
                    </a:p>
                  </a:txBody>
                  <a:tcPr anchor="ctr">
                    <a:solidFill>
                      <a:srgbClr val="FFFFFF"/>
                    </a:solidFill>
                  </a:tcPr>
                </a:tc>
                <a:tc>
                  <a:txBody>
                    <a:bodyPr/>
                    <a:lstStyle/>
                    <a:p>
                      <a:r>
                        <a:rPr sz="1725" b="0">
                          <a:solidFill>
                            <a:srgbClr val="253642"/>
                          </a:solidFill>
                          <a:latin typeface="DejaVu Sans"/>
                          <a:ea typeface="DejaVu Sans"/>
                          <a:cs typeface="DejaVu Sans"/>
                        </a:rPr>
                        <a:t>Droplet</a:t>
                      </a:r>
                    </a:p>
                  </a:txBody>
                  <a:tcPr anchor="ctr">
                    <a:solidFill>
                      <a:srgbClr val="FFFFFF"/>
                    </a:solidFill>
                  </a:tcPr>
                </a:tc>
                <a:tc>
                  <a:txBody>
                    <a:bodyPr/>
                    <a:lstStyle/>
                    <a:p>
                      <a:r>
                        <a:rPr sz="1725" b="0">
                          <a:solidFill>
                            <a:srgbClr val="253642"/>
                          </a:solidFill>
                          <a:latin typeface="DejaVu Sans"/>
                          <a:ea typeface="DejaVu Sans"/>
                          <a:cs typeface="DejaVu Sans"/>
                        </a:rPr>
                        <a:t>Pre-alert and assess relevant exposures</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text-4">
            <a:extLst>
              <a:ext uri="{FF2B5EF4-FFF2-40B4-BE49-F238E27FC236}">
                <a16:creationId xmlns:a16="http://schemas.microsoft.com/office/drawing/2014/main" id="{58E3D7B1-C1B5-419C-9437-20E3D5CF7D09}"/>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Standard Precautions always apply. Follow procedure-specific PPE guidance.</a:t>
            </a:r>
          </a:p>
        </p:txBody>
      </p:sp>
    </p:spTree>
    <p:extLst>
      <p:ext uri="{BB962C8B-B14F-4D97-AF65-F5344CB8AC3E}">
        <p14:creationId xmlns:p14="http://schemas.microsoft.com/office/powerpoint/2010/main" val="1107355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CB1A52-649E-4425-9F6E-310AA3001F0B}"/>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EEC6BD28-E1EA-453F-904C-F7D17832AC58}"/>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03 / APPLICATION AND REVIEW</a:t>
            </a:r>
          </a:p>
        </p:txBody>
      </p:sp>
      <p:sp>
        <p:nvSpPr>
          <p:cNvPr id="3" name="text-1">
            <a:extLst>
              <a:ext uri="{FF2B5EF4-FFF2-40B4-BE49-F238E27FC236}">
                <a16:creationId xmlns:a16="http://schemas.microsoft.com/office/drawing/2014/main" id="{91A2D8B9-EB25-46AE-AD9E-3377322BF7DA}"/>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Using vaccination guidance in Saudi Arabia</a:t>
            </a:r>
          </a:p>
        </p:txBody>
      </p:sp>
      <p:sp>
        <p:nvSpPr>
          <p:cNvPr id="4" name="text-2">
            <a:extLst>
              <a:ext uri="{FF2B5EF4-FFF2-40B4-BE49-F238E27FC236}">
                <a16:creationId xmlns:a16="http://schemas.microsoft.com/office/drawing/2014/main" id="{6E4D3DBF-CA71-42DB-83E5-F14A6AEA507F}"/>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9280B98D-10BA-4B70-88E7-4DABCD6116D9}"/>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40</a:t>
            </a:r>
          </a:p>
        </p:txBody>
      </p:sp>
      <p:sp>
        <p:nvSpPr>
          <p:cNvPr id="6" name="text-4">
            <a:extLst>
              <a:ext uri="{FF2B5EF4-FFF2-40B4-BE49-F238E27FC236}">
                <a16:creationId xmlns:a16="http://schemas.microsoft.com/office/drawing/2014/main" id="{E598DDB4-226B-4A75-9CE1-3E9C271DA06D}"/>
              </a:ext>
            </a:extLst>
          </p:cNvPr>
          <p:cNvSpPr>
            <a:spLocks noGrp="1"/>
          </p:cNvSpPr>
          <p:nvPr/>
        </p:nvSpPr>
        <p:spPr>
          <a:xfrm>
            <a:off x="571500" y="1743075"/>
            <a:ext cx="10858500" cy="3810000"/>
          </a:xfrm>
          <a:prstGeom prst="rect">
            <a:avLst/>
          </a:prstGeom>
          <a:noFill/>
          <a:ln w="0">
            <a:noFill/>
          </a:ln>
        </p:spPr>
        <p:txBody>
          <a:bodyPr wrap="square" lIns="0" tIns="0" rIns="0" bIns="0" anchor="t">
            <a:noAutofit/>
          </a:bodyPr>
          <a:lstStyle>
            <a:defPPr algn="l">
              <a:defRPr sz="2175" b="0">
                <a:solidFill>
                  <a:srgbClr val="253642"/>
                </a:solidFill>
                <a:latin typeface="DejaVu Sans"/>
                <a:ea typeface="DejaVu Sans"/>
                <a:cs typeface="DejaVu Sans"/>
              </a:defRPr>
            </a:defPPr>
          </a:lstStyle>
          <a:p>
            <a:pPr marL="381000" indent="-254000" algn="l">
              <a:spcAft>
                <a:spcPts val="1700"/>
              </a:spcAft>
              <a:buChar char="•"/>
              <a:defRPr sz="2175" b="0">
                <a:solidFill>
                  <a:srgbClr val="253642"/>
                </a:solidFill>
                <a:latin typeface="DejaVu Sans"/>
                <a:ea typeface="DejaVu Sans"/>
                <a:cs typeface="DejaVu Sans"/>
              </a:defRPr>
            </a:pPr>
            <a:r>
              <a:t>Use the current Saudi MOH schedule for routine childhood doses and catch-up needs.</a:t>
            </a:r>
          </a:p>
          <a:p>
            <a:pPr marL="381000" indent="-254000" algn="l">
              <a:spcAft>
                <a:spcPts val="1700"/>
              </a:spcAft>
              <a:buChar char="•"/>
              <a:defRPr sz="2175" b="0">
                <a:solidFill>
                  <a:srgbClr val="253642"/>
                </a:solidFill>
                <a:latin typeface="DejaVu Sans"/>
                <a:ea typeface="DejaVu Sans"/>
                <a:cs typeface="DejaVu Sans"/>
              </a:defRPr>
            </a:pPr>
            <a:r>
              <a:t>Review adult vaccination according to age, health conditions, pregnancy, and prior doses.</a:t>
            </a:r>
          </a:p>
          <a:p>
            <a:pPr marL="381000" indent="-254000" algn="l">
              <a:spcAft>
                <a:spcPts val="1700"/>
              </a:spcAft>
              <a:buChar char="•"/>
              <a:defRPr sz="2175" b="0">
                <a:solidFill>
                  <a:srgbClr val="253642"/>
                </a:solidFill>
                <a:latin typeface="DejaVu Sans"/>
                <a:ea typeface="DejaVu Sans"/>
                <a:cs typeface="DejaVu Sans"/>
              </a:defRPr>
            </a:pPr>
            <a:r>
              <a:t>Healthcare workers need documented vaccination and immunity according to occupational-health policy.</a:t>
            </a:r>
          </a:p>
          <a:p>
            <a:pPr marL="381000" indent="-254000" algn="l">
              <a:spcAft>
                <a:spcPts val="1700"/>
              </a:spcAft>
              <a:buChar char="•"/>
              <a:defRPr sz="2175" b="0">
                <a:solidFill>
                  <a:srgbClr val="253642"/>
                </a:solidFill>
                <a:latin typeface="DejaVu Sans"/>
                <a:ea typeface="DejaVu Sans"/>
                <a:cs typeface="DejaVu Sans"/>
              </a:defRPr>
            </a:pPr>
            <a:r>
              <a:t>Check current Hajj, Umrah, and travel requirements for the relevant season and destination.</a:t>
            </a:r>
          </a:p>
        </p:txBody>
      </p:sp>
      <p:sp>
        <p:nvSpPr>
          <p:cNvPr id="7" name="text-5">
            <a:extLst>
              <a:ext uri="{FF2B5EF4-FFF2-40B4-BE49-F238E27FC236}">
                <a16:creationId xmlns:a16="http://schemas.microsoft.com/office/drawing/2014/main" id="{16C491F0-E31E-4E6A-AD33-AE9533FD4E91}"/>
              </a:ext>
            </a:extLst>
          </p:cNvPr>
          <p:cNvSpPr>
            <a:spLocks noGrp="1"/>
          </p:cNvSpPr>
          <p:nvPr/>
        </p:nvSpPr>
        <p:spPr>
          <a:xfrm>
            <a:off x="571500" y="5772150"/>
            <a:ext cx="11049000" cy="552450"/>
          </a:xfrm>
          <a:prstGeom prst="rect">
            <a:avLst/>
          </a:prstGeom>
          <a:noFill/>
          <a:ln w="0">
            <a:noFill/>
          </a:ln>
        </p:spPr>
        <p:txBody>
          <a:bodyPr wrap="square" lIns="0" tIns="0" rIns="0" bIns="0" anchor="t">
            <a:noAutofit/>
          </a:bodyPr>
          <a:lstStyle>
            <a:defPPr algn="l">
              <a:defRPr sz="1650" b="1">
                <a:solidFill>
                  <a:srgbClr val="007FAE"/>
                </a:solidFill>
                <a:latin typeface="DejaVu Sans"/>
                <a:ea typeface="DejaVu Sans"/>
                <a:cs typeface="DejaVu Sans"/>
              </a:defRPr>
            </a:defPPr>
          </a:lstStyle>
          <a:p>
            <a:pPr algn="l">
              <a:defRPr sz="1650" b="1">
                <a:solidFill>
                  <a:srgbClr val="007FAE"/>
                </a:solidFill>
                <a:latin typeface="DejaVu Sans"/>
                <a:ea typeface="DejaVu Sans"/>
                <a:cs typeface="DejaVu Sans"/>
              </a:defRPr>
            </a:pPr>
            <a:r>
              <a:rPr sz="1650" b="1">
                <a:solidFill>
                  <a:srgbClr val="007FAE"/>
                </a:solidFill>
                <a:latin typeface="DejaVu Sans"/>
                <a:ea typeface="DejaVu Sans"/>
                <a:cs typeface="DejaVu Sans"/>
              </a:rPr>
              <a:t>Use the patient’s record plus current guidance; do not rely on an old schedule image.</a:t>
            </a:r>
          </a:p>
        </p:txBody>
      </p:sp>
    </p:spTree>
    <p:extLst>
      <p:ext uri="{BB962C8B-B14F-4D97-AF65-F5344CB8AC3E}">
        <p14:creationId xmlns:p14="http://schemas.microsoft.com/office/powerpoint/2010/main" val="3471112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67107DE-7D31-4ED1-9EE6-0B9EBAB82788}"/>
              </a:ext>
            </a:extLst>
          </p:cNvPr>
          <p:cNvPicPr>
            <a:picLocks noChangeAspect="1"/>
          </p:cNvPicPr>
          <p:nvPr/>
        </p:nvPicPr>
        <p:blipFill>
          <a:blip r:embed="rId3"/>
          <a:stretch/>
        </p:blipFill>
        <p:spPr>
          <a:xfrm>
            <a:off x="9239250" y="247718"/>
            <a:ext cx="2381250" cy="506594"/>
          </a:xfrm>
          <a:prstGeom prst="rect">
            <a:avLst/>
          </a:prstGeom>
        </p:spPr>
      </p:pic>
      <p:sp>
        <p:nvSpPr>
          <p:cNvPr id="2" name="text-0">
            <a:extLst>
              <a:ext uri="{FF2B5EF4-FFF2-40B4-BE49-F238E27FC236}">
                <a16:creationId xmlns:a16="http://schemas.microsoft.com/office/drawing/2014/main" id="{A9F1BC69-025B-4A66-9614-16806294E95D}"/>
              </a:ext>
            </a:extLst>
          </p:cNvPr>
          <p:cNvSpPr>
            <a:spLocks noGrp="1"/>
          </p:cNvSpPr>
          <p:nvPr/>
        </p:nvSpPr>
        <p:spPr>
          <a:xfrm>
            <a:off x="571500" y="371475"/>
            <a:ext cx="8096250" cy="247650"/>
          </a:xfrm>
          <a:prstGeom prst="rect">
            <a:avLst/>
          </a:prstGeom>
          <a:noFill/>
          <a:ln w="0">
            <a:noFill/>
          </a:ln>
        </p:spPr>
        <p:txBody>
          <a:bodyPr wrap="square" lIns="0" tIns="0" rIns="0" bIns="0" anchor="t">
            <a:noAutofit/>
          </a:bodyPr>
          <a:lstStyle>
            <a:defPPr algn="l">
              <a:defRPr sz="1200" b="1">
                <a:solidFill>
                  <a:srgbClr val="007FAE"/>
                </a:solidFill>
                <a:latin typeface="DejaVu Sans"/>
                <a:ea typeface="DejaVu Sans"/>
                <a:cs typeface="DejaVu Sans"/>
              </a:defRPr>
            </a:defPPr>
          </a:lstStyle>
          <a:p>
            <a:pPr algn="l">
              <a:defRPr sz="1200" b="1">
                <a:solidFill>
                  <a:srgbClr val="007FAE"/>
                </a:solidFill>
                <a:latin typeface="DejaVu Sans"/>
                <a:ea typeface="DejaVu Sans"/>
                <a:cs typeface="DejaVu Sans"/>
              </a:defRPr>
            </a:pPr>
            <a:r>
              <a:rPr sz="1200" b="1">
                <a:solidFill>
                  <a:srgbClr val="007FAE"/>
                </a:solidFill>
                <a:latin typeface="DejaVu Sans"/>
                <a:ea typeface="DejaVu Sans"/>
                <a:cs typeface="DejaVu Sans"/>
              </a:rPr>
              <a:t>03 / APPLICATION AND REVIEW</a:t>
            </a:r>
          </a:p>
        </p:txBody>
      </p:sp>
      <p:sp>
        <p:nvSpPr>
          <p:cNvPr id="3" name="text-1">
            <a:extLst>
              <a:ext uri="{FF2B5EF4-FFF2-40B4-BE49-F238E27FC236}">
                <a16:creationId xmlns:a16="http://schemas.microsoft.com/office/drawing/2014/main" id="{41F67E7C-C5B0-4FE7-A607-C30EDDB159CE}"/>
              </a:ext>
            </a:extLst>
          </p:cNvPr>
          <p:cNvSpPr>
            <a:spLocks noGrp="1"/>
          </p:cNvSpPr>
          <p:nvPr/>
        </p:nvSpPr>
        <p:spPr>
          <a:xfrm>
            <a:off x="571500" y="838200"/>
            <a:ext cx="11049000" cy="647700"/>
          </a:xfrm>
          <a:prstGeom prst="rect">
            <a:avLst/>
          </a:prstGeom>
          <a:noFill/>
          <a:ln w="0">
            <a:noFill/>
          </a:ln>
        </p:spPr>
        <p:txBody>
          <a:bodyPr wrap="square" lIns="0" tIns="0" rIns="0" bIns="0" anchor="t">
            <a:noAutofit/>
          </a:bodyPr>
          <a:lstStyle>
            <a:defPPr algn="l">
              <a:defRPr sz="3000" b="1">
                <a:solidFill>
                  <a:srgbClr val="183344"/>
                </a:solidFill>
                <a:latin typeface="DejaVu Sans"/>
                <a:ea typeface="DejaVu Sans"/>
                <a:cs typeface="DejaVu Sans"/>
              </a:defRPr>
            </a:defPPr>
          </a:lstStyle>
          <a:p>
            <a:pPr algn="l">
              <a:defRPr sz="3000" b="1">
                <a:solidFill>
                  <a:srgbClr val="183344"/>
                </a:solidFill>
                <a:latin typeface="DejaVu Sans"/>
                <a:ea typeface="DejaVu Sans"/>
                <a:cs typeface="DejaVu Sans"/>
              </a:defRPr>
            </a:pPr>
            <a:r>
              <a:rPr sz="3000" b="1">
                <a:solidFill>
                  <a:srgbClr val="183344"/>
                </a:solidFill>
                <a:latin typeface="DejaVu Sans"/>
                <a:ea typeface="DejaVu Sans"/>
                <a:cs typeface="DejaVu Sans"/>
              </a:rPr>
              <a:t>Selected references and image credits</a:t>
            </a:r>
          </a:p>
        </p:txBody>
      </p:sp>
      <p:sp>
        <p:nvSpPr>
          <p:cNvPr id="4" name="text-2">
            <a:extLst>
              <a:ext uri="{FF2B5EF4-FFF2-40B4-BE49-F238E27FC236}">
                <a16:creationId xmlns:a16="http://schemas.microsoft.com/office/drawing/2014/main" id="{3EB824C9-55F9-4155-8229-2056B4C6114E}"/>
              </a:ext>
            </a:extLst>
          </p:cNvPr>
          <p:cNvSpPr>
            <a:spLocks noGrp="1"/>
          </p:cNvSpPr>
          <p:nvPr/>
        </p:nvSpPr>
        <p:spPr>
          <a:xfrm>
            <a:off x="571500" y="6457950"/>
            <a:ext cx="10287000" cy="209550"/>
          </a:xfrm>
          <a:prstGeom prst="rect">
            <a:avLst/>
          </a:prstGeom>
          <a:noFill/>
          <a:ln w="0">
            <a:noFill/>
          </a:ln>
        </p:spPr>
        <p:txBody>
          <a:bodyPr wrap="square" lIns="0" tIns="0" rIns="0" bIns="0" anchor="t">
            <a:noAutofit/>
          </a:bodyPr>
          <a:lstStyle>
            <a:defPPr algn="l">
              <a:defRPr sz="1125" b="0">
                <a:solidFill>
                  <a:srgbClr val="566B78"/>
                </a:solidFill>
                <a:latin typeface="DejaVu Sans"/>
                <a:ea typeface="DejaVu Sans"/>
                <a:cs typeface="DejaVu Sans"/>
              </a:defRPr>
            </a:defPPr>
          </a:lstStyle>
          <a:p>
            <a:pPr algn="l">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EMS 313 / Chapter 6</a:t>
            </a:r>
          </a:p>
        </p:txBody>
      </p:sp>
      <p:sp>
        <p:nvSpPr>
          <p:cNvPr id="5" name="text-3">
            <a:extLst>
              <a:ext uri="{FF2B5EF4-FFF2-40B4-BE49-F238E27FC236}">
                <a16:creationId xmlns:a16="http://schemas.microsoft.com/office/drawing/2014/main" id="{C8DC7D7B-E3DD-4644-9966-D8CE7C883ED2}"/>
              </a:ext>
            </a:extLst>
          </p:cNvPr>
          <p:cNvSpPr>
            <a:spLocks noGrp="1"/>
          </p:cNvSpPr>
          <p:nvPr/>
        </p:nvSpPr>
        <p:spPr>
          <a:xfrm>
            <a:off x="11049000" y="6457950"/>
            <a:ext cx="571500" cy="209550"/>
          </a:xfrm>
          <a:prstGeom prst="rect">
            <a:avLst/>
          </a:prstGeom>
          <a:noFill/>
          <a:ln w="0">
            <a:noFill/>
          </a:ln>
        </p:spPr>
        <p:txBody>
          <a:bodyPr wrap="square" lIns="0" tIns="0" rIns="0" bIns="0" anchor="t">
            <a:noAutofit/>
          </a:bodyPr>
          <a:lstStyle>
            <a:defPPr algn="r">
              <a:defRPr sz="1125" b="0">
                <a:solidFill>
                  <a:srgbClr val="566B78"/>
                </a:solidFill>
                <a:latin typeface="DejaVu Sans"/>
                <a:ea typeface="DejaVu Sans"/>
                <a:cs typeface="DejaVu Sans"/>
              </a:defRPr>
            </a:defPPr>
          </a:lstStyle>
          <a:p>
            <a:pPr algn="r">
              <a:defRPr sz="1125" b="0">
                <a:solidFill>
                  <a:srgbClr val="566B78"/>
                </a:solidFill>
                <a:latin typeface="DejaVu Sans"/>
                <a:ea typeface="DejaVu Sans"/>
                <a:cs typeface="DejaVu Sans"/>
              </a:defRPr>
            </a:pPr>
            <a:r>
              <a:rPr sz="1125" b="0">
                <a:solidFill>
                  <a:srgbClr val="566B78"/>
                </a:solidFill>
                <a:latin typeface="DejaVu Sans"/>
                <a:ea typeface="DejaVu Sans"/>
                <a:cs typeface="DejaVu Sans"/>
              </a:rPr>
              <a:t>44</a:t>
            </a:r>
          </a:p>
        </p:txBody>
      </p:sp>
      <p:sp>
        <p:nvSpPr>
          <p:cNvPr id="6" name="text-4">
            <a:extLst>
              <a:ext uri="{FF2B5EF4-FFF2-40B4-BE49-F238E27FC236}">
                <a16:creationId xmlns:a16="http://schemas.microsoft.com/office/drawing/2014/main" id="{F5AD3E67-64E2-4C5E-BF89-B5CB29AA9497}"/>
              </a:ext>
            </a:extLst>
          </p:cNvPr>
          <p:cNvSpPr>
            <a:spLocks noGrp="1"/>
          </p:cNvSpPr>
          <p:nvPr/>
        </p:nvSpPr>
        <p:spPr>
          <a:xfrm>
            <a:off x="571500" y="1733550"/>
            <a:ext cx="10858500" cy="4429125"/>
          </a:xfrm>
          <a:prstGeom prst="rect">
            <a:avLst/>
          </a:prstGeom>
          <a:noFill/>
          <a:ln w="0">
            <a:noFill/>
          </a:ln>
        </p:spPr>
        <p:txBody>
          <a:bodyPr wrap="square" lIns="0" tIns="0" rIns="0" bIns="0" anchor="t">
            <a:noAutofit/>
          </a:bodyPr>
          <a:lstStyle>
            <a:defPPr algn="l">
              <a:defRPr sz="1875" b="0">
                <a:solidFill>
                  <a:srgbClr val="253642"/>
                </a:solidFill>
                <a:latin typeface="DejaVu Sans"/>
                <a:ea typeface="DejaVu Sans"/>
                <a:cs typeface="DejaVu Sans"/>
              </a:defRPr>
            </a:defPPr>
          </a:lstStyle>
          <a:p>
            <a:pPr marL="381000" indent="-254000" algn="l">
              <a:spcAft>
                <a:spcPts val="1800"/>
              </a:spcAft>
              <a:buChar char="•"/>
              <a:defRPr sz="1875" b="0">
                <a:solidFill>
                  <a:srgbClr val="253642"/>
                </a:solidFill>
                <a:latin typeface="DejaVu Sans"/>
                <a:ea typeface="DejaVu Sans"/>
                <a:cs typeface="DejaVu Sans"/>
              </a:defRPr>
            </a:pPr>
            <a:r>
              <a:t>CDC. Epidemiology and Prevention of Vaccine-Preventable Diseases (Pink Book): principles, best practice, and immunization strategies.</a:t>
            </a:r>
          </a:p>
          <a:p>
            <a:pPr marL="381000" indent="-254000" algn="l">
              <a:spcAft>
                <a:spcPts val="1800"/>
              </a:spcAft>
              <a:buChar char="•"/>
              <a:defRPr sz="1875" b="0">
                <a:solidFill>
                  <a:srgbClr val="253642"/>
                </a:solidFill>
                <a:latin typeface="DejaVu Sans"/>
                <a:ea typeface="DejaVu Sans"/>
                <a:cs typeface="DejaVu Sans"/>
              </a:defRPr>
            </a:pPr>
            <a:r>
              <a:t>CDC. Current disease-specific clinical guidance and Isolation Precautions, Appendix A.</a:t>
            </a:r>
          </a:p>
          <a:p>
            <a:pPr marL="381000" indent="-254000" algn="l">
              <a:spcAft>
                <a:spcPts val="1800"/>
              </a:spcAft>
              <a:buChar char="•"/>
              <a:defRPr sz="1875" b="0">
                <a:solidFill>
                  <a:srgbClr val="253642"/>
                </a:solidFill>
                <a:latin typeface="DejaVu Sans"/>
                <a:ea typeface="DejaVu Sans"/>
                <a:cs typeface="DejaVu Sans"/>
              </a:defRPr>
            </a:pPr>
            <a:r>
              <a:t>Saudi Ministry of Health. Vaccination guidance and shingles education.</a:t>
            </a:r>
          </a:p>
          <a:p>
            <a:pPr marL="381000" indent="-254000" algn="l">
              <a:spcAft>
                <a:spcPts val="1800"/>
              </a:spcAft>
              <a:buChar char="•"/>
              <a:defRPr sz="1875" b="0">
                <a:solidFill>
                  <a:srgbClr val="253642"/>
                </a:solidFill>
                <a:latin typeface="DejaVu Sans"/>
                <a:ea typeface="DejaVu Sans"/>
                <a:cs typeface="DejaVu Sans"/>
              </a:defRPr>
            </a:pPr>
            <a:r>
              <a:t>Clinical photographs: CDC / PHIL; Dileepunnikri (CC BY-SA 3.0); Preston Hunt (CC BY 3.0).</a:t>
            </a:r>
          </a:p>
          <a:p>
            <a:pPr marL="381000" indent="-254000" algn="l">
              <a:spcAft>
                <a:spcPts val="1800"/>
              </a:spcAft>
              <a:buChar char="•"/>
              <a:defRPr sz="1875" b="0">
                <a:solidFill>
                  <a:srgbClr val="253642"/>
                </a:solidFill>
                <a:latin typeface="DejaVu Sans"/>
                <a:ea typeface="DejaVu Sans"/>
                <a:cs typeface="DejaVu Sans"/>
              </a:defRPr>
            </a:pPr>
            <a:r>
              <a:t>Full source URLs and image licences are included in the relevant speaker notes.</a:t>
            </a:r>
          </a:p>
        </p:txBody>
      </p:sp>
    </p:spTree>
    <p:extLst>
      <p:ext uri="{BB962C8B-B14F-4D97-AF65-F5344CB8AC3E}">
        <p14:creationId xmlns:p14="http://schemas.microsoft.com/office/powerpoint/2010/main" val="12910718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8558</Words>
  <Application>Microsoft Macintosh PowerPoint</Application>
  <DocSecurity>0</DocSecurity>
  <PresentationFormat>Widescreen</PresentationFormat>
  <Paragraphs>717</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Mohammed Fahad</cp:lastModifiedBy>
  <cp:revision>1</cp:revision>
  <dcterms:created xsi:type="dcterms:W3CDTF">2026-10-12T11:09:38Z</dcterms:created>
  <dcterms:modified xsi:type="dcterms:W3CDTF">2026-10-13T07:07:15Z</dcterms:modified>
</cp:coreProperties>
</file>